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WhizUnik gives promoters and leadership teams a premium operating view of the business — sales, demand, stock and cash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leadership problem: departments each hold a piece of the truth. WhizUnik connects the signals so management can see the whole business and act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promoter view: one leadership screen for sales, demand, stock risk and cash priorities. Management meetings become decision meetings.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intelligence: a monthly forecast from weighted baseline, trend and seasonality, with days of cover, stockout risk and a recommended reorder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action: momentum and velocity show which products are gaining or losing pace. Price levers (hold / increase / reduce) are always checked against a minimum-margin guardrail, and excess stock is flagged for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execution: every account has an owner and a next move. Lead stages, opportunities, visits, tasks and KPIs give each salesperson clear accountability — and neglected accounts surface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capital: invoice ageing and overdue alerts, payment reminders with assigned follow-up, and customer concentration visible to leadership. The screen shown is an illustrative light-theme mockup — replace with a live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Purchase control: the supplier PI, PO, GRN and purchase invoice stay linked, incoming stock and due dates are visible, and inventory movement is tied to the actual business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Treasury: expected inflows and planned outflows in one view. Supplier payments are prioritised with visibility of expected collections, and cash pressure is flagged before the payment date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Connected activity: every operational event (sale, dispatch, receipt, invoice, payment) flows into the position, surfaces a priority, and points management to the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care: a designated relationship manager, priority support with structured escalation, regular executive reviews, and continuous optimisation of dashboards and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step: a guided WhizUnik discovery session. Discover, configure, pilot, scale. Contact via www.whizunik.com.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izunik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3035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50" kern="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WHIZUNIK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7784" y="10241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MANAGEMENT PLATFORM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017520" cy="365760"/>
          </a:xfrm>
          <a:prstGeom prst="roundRect">
            <a:avLst>
              <a:gd name="adj" fmla="val 50000"/>
            </a:avLst>
          </a:prstGeom>
          <a:ln w="13970">
            <a:solidFill>
              <a:srgbClr val="A88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8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BOOKLET · PRODUCT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moving part.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clear decision.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" y="4041648"/>
            <a:ext cx="1234440" cy="36576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2245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premium operating view for promoters and leadership teams.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81160" y="3977640"/>
            <a:ext cx="3017520" cy="3017520"/>
          </a:xfrm>
          <a:prstGeom prst="ellipse">
            <a:avLst/>
          </a:prstGeom>
          <a:ln w="13970">
            <a:solidFill>
              <a:srgbClr val="A886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63963" y="4460443"/>
            <a:ext cx="2051914" cy="2051914"/>
          </a:xfrm>
          <a:prstGeom prst="ellipse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50270" y="5546750"/>
            <a:ext cx="146304" cy="14630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820095" y="6400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LEADERSHIP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does not run in departments. Neither should management visibility.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2596896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2491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brings the commercial, operational and financial signals together — so management can understand the business and act early.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" y="399592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3931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Commercial, operational and financial signals in one place.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470916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4645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LANGUAGE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4919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stock and cash talked about together.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" y="5422392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" y="5358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RHYTHM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action instead of late surprises.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2879" y="1051560"/>
            <a:ext cx="6025896" cy="4088984"/>
          </a:xfrm>
          <a:prstGeom prst="roundRect">
            <a:avLst>
              <a:gd name="adj" fmla="val 1230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8482" y="1106424"/>
            <a:ext cx="38405" cy="3979256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18" name="Image 0" descr="C:\Users\ramsh\Desktop\current projects\adventra-platform\ppt-generator\assets\whizunik\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72607" y="1161288"/>
            <a:ext cx="5806440" cy="38695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2879" y="5268560"/>
            <a:ext cx="6025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OPERATING VIEW · ILLUSTRATIVE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01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· THE PROMOTER 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business, at a glance.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concise leadership screen that connects the signals which previously sat with separate teams and systems.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together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demand, stock risk and cash priorities on one screen.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Decide, don't update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the management meeting on decisions, not status.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before it escalates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alerts assign action while there is still time.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02859" y="1005840"/>
            <a:ext cx="6185916" cy="4654296"/>
          </a:xfrm>
          <a:prstGeom prst="roundRect">
            <a:avLst>
              <a:gd name="adj" fmla="val 1081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8462" y="1060704"/>
            <a:ext cx="38405" cy="45445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502859" y="1005840"/>
            <a:ext cx="6185916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85739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841187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96635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0099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0099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whizunik.com/app/overview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29" name="Image 0" descr="C:\Users\ramsh\Desktop\current projects\adventra-platform\ppt-generator\assets\whizunik\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12587" y="1572768"/>
            <a:ext cx="5966460" cy="3977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502859" y="5788152"/>
            <a:ext cx="61859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02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and reorder with confidence.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history turned into a practical view of future demand — and the stock decisions required now.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demand from weighted baseline, trend and seasonality.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of cover, stockout risk and reorder-by date.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order from demand, lead time and safety buffer.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34279" y="1005840"/>
            <a:ext cx="6254496" cy="4261484"/>
          </a:xfrm>
          <a:prstGeom prst="roundRect">
            <a:avLst>
              <a:gd name="adj" fmla="val 1180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9882" y="1060704"/>
            <a:ext cx="38405" cy="41517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4279" y="1005840"/>
            <a:ext cx="6254496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17159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2607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8055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1519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1519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whizunik.com/app/demand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29" name="Image 0" descr="C:\Users\ramsh\Desktop\current projects\adventra-platform\ppt-generator\assets\whizunik\imag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4007" y="1572768"/>
            <a:ext cx="6035040" cy="358482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34279" y="5395340"/>
            <a:ext cx="625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margin. Release excess stock.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position and sales behaviour translated into a pricing indication that supports commercial judgement.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 flags products gaining or losing pace.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Hold, increase or reduce price within a minimum margin.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Excess-stock insight shows where action pays.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30368" y="1481328"/>
            <a:ext cx="2084832" cy="3520440"/>
          </a:xfrm>
          <a:prstGeom prst="roundRect">
            <a:avLst>
              <a:gd name="adj" fmla="val 3509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6459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LEVERS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9824" y="2011680"/>
            <a:ext cx="109728" cy="109728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3" name="Text 21"/>
          <p:cNvSpPr/>
          <p:nvPr/>
        </p:nvSpPr>
        <p:spPr>
          <a:xfrm>
            <a:off x="5705856" y="195681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05856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momentum strong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9824" y="272491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5705856" y="26700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05856" y="292608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guardrail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9824" y="3438144"/>
            <a:ext cx="109728" cy="109728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338328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05856" y="3639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stock, slow pace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13248" y="4178808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move is checked against a minimum-margin guardrail.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11940" y="1005840"/>
            <a:ext cx="3876835" cy="4654296"/>
          </a:xfrm>
          <a:prstGeom prst="roundRect">
            <a:avLst>
              <a:gd name="adj" fmla="val 1297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37543" y="1060704"/>
            <a:ext cx="38405" cy="45445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7811940" y="1005840"/>
            <a:ext cx="3876835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35" name="Shape 33"/>
          <p:cNvSpPr/>
          <p:nvPr/>
        </p:nvSpPr>
        <p:spPr>
          <a:xfrm>
            <a:off x="7994820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50268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7" name="Shape 35"/>
          <p:cNvSpPr/>
          <p:nvPr/>
        </p:nvSpPr>
        <p:spPr>
          <a:xfrm>
            <a:off x="8305716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38" name="Shape 36"/>
          <p:cNvSpPr/>
          <p:nvPr/>
        </p:nvSpPr>
        <p:spPr>
          <a:xfrm>
            <a:off x="8589180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9180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whizunik.com/app/pricing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41" name="Image 0" descr="C:\Users\ramsh\Desktop\current projects\adventra-platform\ppt-generator\assets\whizunik\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21668" y="1572768"/>
            <a:ext cx="3657379" cy="39776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811940" y="5788152"/>
            <a:ext cx="38768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04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account has an owner and a next move.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sales motion across retailers, marketplaces, stores, institutions and gifting.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stages, opportunity value, visits, tasks and timelines.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salesperson has KPIs and clear ownership.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Neglected accounts and priorities visible from one place.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34279" y="1005840"/>
            <a:ext cx="6254496" cy="3018953"/>
          </a:xfrm>
          <a:prstGeom prst="roundRect">
            <a:avLst>
              <a:gd name="adj" fmla="val 1666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9882" y="1060704"/>
            <a:ext cx="38405" cy="290922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4279" y="1005840"/>
            <a:ext cx="6254496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17159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2607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8055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1519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1519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whizunik.com/app/sales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29" name="Image 0" descr="C:\Users\ramsh\Desktop\current projects\adventra-platform\ppt-generator\assets\whizunik\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4007" y="1572768"/>
            <a:ext cx="6035040" cy="234229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34279" y="4152809"/>
            <a:ext cx="625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434279" y="440884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98871" y="452771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598871" y="486604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WITH AN OWNER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573975" y="440884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738567" y="452771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738567" y="486604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SALESPERSON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713671" y="440884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878263" y="452771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TRAIL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878263" y="486604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VISITS · TASKS · TIMELINES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05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Collections become a management priority.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debtor view tells the team what is overdue, who needs a call and where cash is concentrated.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ageing and overdue alerts, live.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reminders with an assigned next action.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concentration visible to leadership.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30368" y="1005840"/>
            <a:ext cx="6400800" cy="4572000"/>
          </a:xfrm>
          <a:prstGeom prst="roundRect">
            <a:avLst>
              <a:gd name="adj" fmla="val 1100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5971" y="1060704"/>
            <a:ext cx="38405" cy="44622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230368" y="1005840"/>
            <a:ext cx="6400800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13248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568696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724144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007608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whizunik.com/app/collections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16768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49824" y="1609344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Capital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9824" y="1901952"/>
            <a:ext cx="5961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Debtor book · ageing · follow-up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9824" y="2212848"/>
            <a:ext cx="1889760" cy="749808"/>
          </a:xfrm>
          <a:prstGeom prst="roundRect">
            <a:avLst>
              <a:gd name="adj" fmla="val 7317"/>
            </a:avLst>
          </a:prstGeom>
          <a:solidFill>
            <a:srgbClr val="F4F0E5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295144"/>
            <a:ext cx="1670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BALANCE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559552" y="2468880"/>
            <a:ext cx="167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6E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₹38.2L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85888" y="2212848"/>
            <a:ext cx="1889760" cy="749808"/>
          </a:xfrm>
          <a:prstGeom prst="roundRect">
            <a:avLst>
              <a:gd name="adj" fmla="val 7317"/>
            </a:avLst>
          </a:prstGeom>
          <a:solidFill>
            <a:srgbClr val="F4F0E5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5616" y="2295144"/>
            <a:ext cx="1670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RATE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595616" y="2468880"/>
            <a:ext cx="167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91.4%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521952" y="2212848"/>
            <a:ext cx="1889760" cy="749808"/>
          </a:xfrm>
          <a:prstGeom prst="roundRect">
            <a:avLst>
              <a:gd name="adj" fmla="val 7317"/>
            </a:avLst>
          </a:prstGeom>
          <a:solidFill>
            <a:srgbClr val="F4F0E5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31680" y="2295144"/>
            <a:ext cx="1670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TO CALL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9631680" y="2468880"/>
            <a:ext cx="167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49824" y="3090672"/>
            <a:ext cx="5961888" cy="4572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9525">
            <a:solidFill>
              <a:srgbClr val="E8E0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Apex Retail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90104" y="3090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₹12.4L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50224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6E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45d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930384" y="3191256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4F0E5"/>
          </a:solidFill>
          <a:ln/>
        </p:spPr>
      </p:sp>
      <p:sp>
        <p:nvSpPr>
          <p:cNvPr id="45" name="Text 43"/>
          <p:cNvSpPr/>
          <p:nvPr/>
        </p:nvSpPr>
        <p:spPr>
          <a:xfrm>
            <a:off x="9930384" y="31912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SENT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449824" y="3602736"/>
            <a:ext cx="5961888" cy="4572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9525">
            <a:solidFill>
              <a:srgbClr val="E8E0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3602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 Stores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90104" y="3602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₹9.8L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50224" y="36027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21d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930384" y="37033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4F0E5"/>
          </a:solidFill>
          <a:ln/>
        </p:spPr>
      </p:sp>
      <p:sp>
        <p:nvSpPr>
          <p:cNvPr id="51" name="Text 49"/>
          <p:cNvSpPr/>
          <p:nvPr/>
        </p:nvSpPr>
        <p:spPr>
          <a:xfrm>
            <a:off x="9930384" y="3703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449824" y="4114800"/>
            <a:ext cx="5961888" cy="4572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9525">
            <a:solidFill>
              <a:srgbClr val="E8E0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96128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 Mart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90104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₹6.1L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50224" y="4114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in 5d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930384" y="4215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4F0E5"/>
          </a:solidFill>
          <a:ln/>
        </p:spPr>
      </p:sp>
      <p:sp>
        <p:nvSpPr>
          <p:cNvPr id="57" name="Text 55"/>
          <p:cNvSpPr/>
          <p:nvPr/>
        </p:nvSpPr>
        <p:spPr>
          <a:xfrm>
            <a:off x="9930384" y="42153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TRACK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49824" y="4626864"/>
            <a:ext cx="5961888" cy="4572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9525">
            <a:solidFill>
              <a:srgbClr val="E8E0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4626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Summit Traders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90104" y="4626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₹4.2L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50224" y="46268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6E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60d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930384" y="4727448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4F0E5"/>
          </a:solidFill>
          <a:ln/>
        </p:spPr>
      </p:sp>
      <p:sp>
        <p:nvSpPr>
          <p:cNvPr id="63" name="Text 61"/>
          <p:cNvSpPr/>
          <p:nvPr/>
        </p:nvSpPr>
        <p:spPr>
          <a:xfrm>
            <a:off x="9930384" y="4727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449824" y="517550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concentration — Apex Retail holds 32% of receivables. Leadership is alerted before it becomes a risk.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230368" y="570585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MOCKUP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06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CONTROL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documents and stock movement, connected.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purchase journey from supplier proforma to goods received and payment — with a clear operational trail.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PI, PO, GRN and purchase invoice linked.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Incoming stock, delivery status and due dates.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movement tied to the business event.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34279" y="1005840"/>
            <a:ext cx="6254496" cy="3736895"/>
          </a:xfrm>
          <a:prstGeom prst="roundRect">
            <a:avLst>
              <a:gd name="adj" fmla="val 1346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9882" y="1060704"/>
            <a:ext cx="38405" cy="3627167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4279" y="1005840"/>
            <a:ext cx="6254496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17159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2607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8055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1519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1519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whizunik.com/app/purchases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29" name="Image 0" descr="C:\Users\ramsh\Desktop\current projects\adventra-platform\ppt-generator\assets\whizunik\image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4007" y="1572768"/>
            <a:ext cx="6035040" cy="306023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34279" y="4870751"/>
            <a:ext cx="625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434279" y="5126783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98871" y="524565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→ PO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598871" y="5583983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GRN → INVOICE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573975" y="5126783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738567" y="524565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738567" y="5583983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DUE DATES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713671" y="5126783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878263" y="524565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1:1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878263" y="5583983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↔ EVENT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51206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6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/ 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inflows and planned outflows, together.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482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Receivables, payables and planned payment commitments brought into one decision view.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990088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inflows prioritise supplier payments.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41513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cash pressure flagged before payment dates.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4892040"/>
            <a:ext cx="100584" cy="10058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" y="4809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51023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and finance teams on the same picture.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34279" y="1005840"/>
            <a:ext cx="6254496" cy="3127113"/>
          </a:xfrm>
          <a:prstGeom prst="roundRect">
            <a:avLst>
              <a:gd name="adj" fmla="val 1608"/>
            </a:avLst>
          </a:prstGeom>
          <a:solidFill>
            <a:srgbClr val="FDFBF6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14300" dist="38100" dir="2700000">
              <a:srgbClr val="0B1F3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9882" y="1060704"/>
            <a:ext cx="38405" cy="301738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4279" y="1005840"/>
            <a:ext cx="6254496" cy="457200"/>
          </a:xfrm>
          <a:prstGeom prst="roundRect">
            <a:avLst>
              <a:gd name="adj" fmla="val 11000"/>
            </a:avLst>
          </a:prstGeom>
          <a:solidFill>
            <a:srgbClr val="F1EC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17159" y="1170432"/>
            <a:ext cx="91440" cy="91440"/>
          </a:xfrm>
          <a:prstGeom prst="ellipse">
            <a:avLst/>
          </a:prstGeom>
          <a:solidFill>
            <a:srgbClr val="B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2607" y="11704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8055" y="1170432"/>
            <a:ext cx="91440" cy="91440"/>
          </a:xfrm>
          <a:prstGeom prst="ellipse">
            <a:avLst/>
          </a:prstGeom>
          <a:solidFill>
            <a:srgbClr val="2D80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1519" y="1124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FDFBF6"/>
          </a:solidFill>
          <a:ln w="9525">
            <a:solidFill>
              <a:srgbClr val="E4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1519" y="1124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whizunik.com/app/treasury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74375" y="11247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6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00" dirty="0"/>
          </a:p>
        </p:txBody>
      </p:sp>
      <p:pic>
        <p:nvPicPr>
          <p:cNvPr id="29" name="Image 0" descr="C:\Users\ramsh\Desktop\current projects\adventra-platform\ppt-generator\assets\whizunik\image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4007" y="1572768"/>
            <a:ext cx="6035040" cy="245045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34279" y="4260969"/>
            <a:ext cx="625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 · ILLUSTRATIVE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434279" y="451700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98871" y="463587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8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42.6L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598871" y="497420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COLLECTIONS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573975" y="451700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738567" y="463587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F6E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12.1L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738567" y="497420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COMMITMENTS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713671" y="4517001"/>
            <a:ext cx="1975104" cy="868680"/>
          </a:xfrm>
          <a:prstGeom prst="roundRect">
            <a:avLst>
              <a:gd name="adj" fmla="val 7368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63500" dist="25400" dir="2700000">
              <a:srgbClr val="0B1F33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878263" y="463587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30d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878263" y="497420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PRESSURE WINDOW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event. A smarter business view.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00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confirmed sale, dispatch, receipt, invoice or payment updates the management picture that matters.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22376" y="3502152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6484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399592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sale, receipt, dispatch or payment is recorded.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4027932"/>
            <a:ext cx="164592" cy="219456"/>
          </a:xfrm>
          <a:prstGeom prst="rightArrow">
            <a:avLst/>
          </a:prstGeom>
          <a:solidFill>
            <a:srgbClr val="A886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55848" y="26060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575304" y="3502152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6" name="Text 14"/>
          <p:cNvSpPr/>
          <p:nvPr/>
        </p:nvSpPr>
        <p:spPr>
          <a:xfrm>
            <a:off x="3575304" y="36484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75304" y="399592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Stock, sales, cash or customer position updates.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98464" y="4027932"/>
            <a:ext cx="164592" cy="219456"/>
          </a:xfrm>
          <a:prstGeom prst="rightArrow">
            <a:avLst/>
          </a:prstGeom>
          <a:solidFill>
            <a:srgbClr val="A886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08776" y="26060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428232" y="3502152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6484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28232" y="399592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highlights the risk or opportunity.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51392" y="4027932"/>
            <a:ext cx="164592" cy="219456"/>
          </a:xfrm>
          <a:prstGeom prst="rightArrow">
            <a:avLst/>
          </a:prstGeom>
          <a:solidFill>
            <a:srgbClr val="A886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61704" y="26060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2872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281160" y="3502152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36484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81160" y="399592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sees the right next move.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connects the operational event to the financial position — automatically, in real time.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57200" cy="2560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EXECUTIVE CARE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platform. Backed by people.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777240" cy="3200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007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service is part of the relationship — not an afterthought.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413248" cy="1600200"/>
          </a:xfrm>
          <a:prstGeom prst="roundRect">
            <a:avLst>
              <a:gd name="adj" fmla="val 4000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76200" dist="25400" dir="27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243230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" y="2962656"/>
            <a:ext cx="411480" cy="2377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30723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Designated Relationship Manager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0664" y="34198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accountable point of contact for the business.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81928" y="2286000"/>
            <a:ext cx="5413248" cy="1600200"/>
          </a:xfrm>
          <a:prstGeom prst="roundRect">
            <a:avLst>
              <a:gd name="adj" fmla="val 4000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76200" dist="25400" dir="2700000">
              <a:srgbClr val="0B1F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01384" y="243230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19672" y="2962656"/>
            <a:ext cx="411480" cy="2377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30723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Support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19672" y="34198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troubleshooting and structured escalation.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23944"/>
            <a:ext cx="5413248" cy="1600200"/>
          </a:xfrm>
          <a:prstGeom prst="roundRect">
            <a:avLst>
              <a:gd name="adj" fmla="val 4000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76200" dist="25400" dir="2700000">
              <a:srgbClr val="0B1F3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" y="42702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40664" y="4800600"/>
            <a:ext cx="411480" cy="2377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4910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Reviews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0664" y="52578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review of business priorities and adoption.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1928" y="4123944"/>
            <a:ext cx="5413248" cy="1600200"/>
          </a:xfrm>
          <a:prstGeom prst="roundRect">
            <a:avLst>
              <a:gd name="adj" fmla="val 4000"/>
            </a:avLst>
          </a:prstGeom>
          <a:solidFill>
            <a:srgbClr val="FDFBF6"/>
          </a:solidFill>
          <a:ln w="12700">
            <a:solidFill>
              <a:srgbClr val="E0D8C6"/>
            </a:solidFill>
            <a:prstDash val="solid"/>
          </a:ln>
          <a:effectLst>
            <a:outerShdw sx="100000" sy="100000" kx="0" ky="0" algn="bl" rotWithShape="0" blurRad="76200" dist="25400" dir="2700000">
              <a:srgbClr val="0B1F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01384" y="42702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519672" y="4800600"/>
            <a:ext cx="411480" cy="23774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4910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Optimisation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52578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and workflows evolve as the business changes.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521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accounting system records the books. WhizUnik helps management run the business.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6437376"/>
            <a:ext cx="11185855" cy="10973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2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WHIZUNIK · BUSINESS MANAGEMENT PLATFORM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820095" y="6455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3035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50" kern="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WHIZUNIK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7784" y="10241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80" kern="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MANAGEMENT PLATFORM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view of the business.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67004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decisions every day.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3675888"/>
            <a:ext cx="1234440" cy="36576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8587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WhizUnik discovery session — walk the platform with your own numbers.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13716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A88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01368" y="4709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84248" y="4709160"/>
            <a:ext cx="13716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A88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82696" y="4709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65576" y="4709160"/>
            <a:ext cx="13716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A88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64024" y="4709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46904" y="4709160"/>
            <a:ext cx="13716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A88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A886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850" dirty="0"/>
          </a:p>
        </p:txBody>
      </p:sp>
      <p:sp>
        <p:nvSpPr>
          <p:cNvPr id="21" name="Text 19">
            <a:hlinkClick r:id="rId1" tooltip="Open whizunik.com"/>
          </p:cNvPr>
          <p:cNvSpPr/>
          <p:nvPr/>
        </p:nvSpPr>
        <p:spPr>
          <a:xfrm>
            <a:off x="50292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B1F33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Open whizunik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www.whizunik.com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80360" y="5541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add contact details 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81160" y="3977640"/>
            <a:ext cx="3017520" cy="3017520"/>
          </a:xfrm>
          <a:prstGeom prst="ellipse">
            <a:avLst/>
          </a:prstGeom>
          <a:ln w="13970">
            <a:solidFill>
              <a:srgbClr val="A886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63963" y="4460443"/>
            <a:ext cx="2051914" cy="2051914"/>
          </a:xfrm>
          <a:prstGeom prst="ellipse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50270" y="5546750"/>
            <a:ext cx="146304" cy="146304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820095" y="6400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WhizUnik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WhizUnik — Business Management Platform · Premium Booklet</dc:title>
  <dc:subject>12-slide premium booklet</dc:subject>
  <dc:creator>WhizUnik</dc:creator>
  <cp:lastModifiedBy>WhizUnik</cp:lastModifiedBy>
  <cp:revision>1</cp:revision>
  <dcterms:created xsi:type="dcterms:W3CDTF">2026-08-17T08:30:22Z</dcterms:created>
  <dcterms:modified xsi:type="dcterms:W3CDTF">2026-08-17T08:30:22Z</dcterms:modified>
</cp:coreProperties>
</file>