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Adventra combines invoice factoring with institutional-grade debtor monitoring. The stat strip is the platform's own landing-page hero: $2.4B advanced in 2025, 11 hours median time to fund, 0.42% trailing loss rate, 98.7% collection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landing page capabilities and the auth page (sign in / create account, no card required). Highlight that the same account produces six different consoles depending on role, and that Cmd+K searches every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is the command center: income KPIs, funding KPIs (outstanding AR, advanced, overdue, collection rate), settlement quality (short payments, late days), gross vs net income trend, aging waterfall, alerts feed, recent invoices and expenses. Role-aware — factor console vs funding overview for treasury.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invoice queue lifecycle (submit → checker → funding), proformas (PO-linked advances), credit/debit notes, and the branded invoice/note preview pages. Core control story: approvals always gate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Procurement &amp; costs: purchase invoices with PO links, vendor management, expenses linked to deals (logistics/insurance/interest) with document attachments, and advances tied to specific invoices (customer receipts or supplier payments ahead of final invoice).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Counterparties: debtor book with credit limits, risk scores and live exposure; supplier onboarding with credit lines and lifecycle; CRM leads/opportunities/activities. The limit-trip alert is the platform's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spine: submit → checker (maker–checker review) → funding queue (treasury disburses, releases reserves on collection). Workspace covers Visits/Travel/Expenses/Leave submissions. Reporting managers get My Reports, Team requests, and view-as progress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1 — Product catalog. Master list of every SKU with rich attributes and trading data (price, cost, reorder level, max stock, lead time, status). Live stock-on-hand from movements, summary tiles (SKUs, active, low, out, inventory value), Out/Low/OK pills, search/filter, CRUD. Reorder levels feed the forecast and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2 — Inventory stock ledger. Stock-in (credit) from purchase invoices, stock-out (debit) from sales invoices. Current balances per item with live value, full movement journal with linked invoices (drill to source), smart valuation (price in / cost out), bulk entry mode, filters and delete. Movements link to catalog products for forecasting or stay ad-hoc.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3 — Demand forecast &amp; reorder. Seasonal weighted-trend model over 12 months: availability-corrected demand, exponentially weighted baseline, weighted trend, smoothed seasonality, business factors (trekking season, weather, promotion lift, regional, events), 80% confidence intervals. Reorder = lead-time demand + safety stock (95% service level) − stock, capped by max stock &amp; MOQ. Timelines: stockout date, reorder-by, refill, urgency. Velocity (fast/medium/slow/dead by category), momentum, stockout/overstock risk, pricing strategy recommendations, full calculation breakdown. Live 60s refresh, daily snapshots, one-click recompute.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Accounting: chart of accounts, manual journals, drill into every line — double-entry certainty. Balance sheet auto-updates from invoices, purchases, inventory, advances, accounts, and manual entries. Reports &amp; requests keep reporting managers in sync; Profile and Settings manage personal info, photo, and company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alerts (real-time surveillance with severity tags and unread count), reminders (automated collection nudges), operations console (alerts, roles, exceptions), invoice template (branding). Closing CTA: open a free account, no card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16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· v2.4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RECEIVABLES FACTORING &amp; MONITORING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outstanding invoices into working capital — without losing sight of risk.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Institutional-grade invoice factoring combined with real-time debtor monitoring. Submit, advance, collect — while aging, concentration, and credit risk move live.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31596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233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15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v2.4 · Live receivables monitoring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4983480"/>
            <a:ext cx="2508428" cy="1051560"/>
          </a:xfrm>
          <a:prstGeom prst="roundRect">
            <a:avLst>
              <a:gd name="adj" fmla="val 8696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138928"/>
            <a:ext cx="214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$2.4B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0120" y="5577840"/>
            <a:ext cx="214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IN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6836" y="4983480"/>
            <a:ext cx="2508428" cy="1051560"/>
          </a:xfrm>
          <a:prstGeom prst="roundRect">
            <a:avLst>
              <a:gd name="adj" fmla="val 8696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9716" y="5138928"/>
            <a:ext cx="214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hrs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69716" y="5577840"/>
            <a:ext cx="214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TIME TO FUND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96432" y="4983480"/>
            <a:ext cx="2508428" cy="1051560"/>
          </a:xfrm>
          <a:prstGeom prst="roundRect">
            <a:avLst>
              <a:gd name="adj" fmla="val 8696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9312" y="5138928"/>
            <a:ext cx="214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0.42%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79312" y="5577840"/>
            <a:ext cx="214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RATE, TRAILING 12MO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906027" y="4983480"/>
            <a:ext cx="2508428" cy="1051560"/>
          </a:xfrm>
          <a:prstGeom prst="roundRect">
            <a:avLst>
              <a:gd name="adj" fmla="val 8696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8907" y="5138928"/>
            <a:ext cx="214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088907" y="5577840"/>
            <a:ext cx="214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RATE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six job-specific consoles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· Sign-in / Sign-up · Role-based navigation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showcases six capabilities: advance ledger, aging &amp; DSO, debtor credit, real-time alerts, same-day funding, portfolio analytics.</a:t>
            </a:r>
            <a:endParaRPr lang="en-US" sz="11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account, six consoles — each role gets its own sidebar and permissions:</a:t>
            </a:r>
            <a:endParaRPr lang="en-US" sz="11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Cmd+K / Ctrl+K command palette searches every page instantly.</a:t>
            </a:r>
            <a:endParaRPr lang="en-US" sz="11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walls: each console only sees the pages relevant to its job.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B1B33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/ CREATE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23317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6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free account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00032" y="2770632"/>
            <a:ext cx="237744" cy="274320"/>
          </a:xfrm>
          <a:prstGeom prst="downArrow">
            <a:avLst/>
          </a:prstGeom>
          <a:solidFill>
            <a:srgbClr val="00B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317296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321868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 console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90688" y="341985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83496" y="317296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93224" y="321868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desk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93224" y="341985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80960" y="381304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0688" y="385876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 desk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90688" y="405993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83496" y="381304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4" y="385876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desk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93224" y="405993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80960" y="445312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449884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workspace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90688" y="470001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&amp; CRM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83496" y="445312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93224" y="449884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console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93224" y="470001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5678424"/>
            <a:ext cx="3657600" cy="402336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5678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⌘K  Quick navigate…  (search every page)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COMMAND CENTER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that matters, on one screen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(/app/dashboard) — role-aware KPIs, trends, aging and alerts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197510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(GROSS)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9224" y="216712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$1.24M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" y="25603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312 invoices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0" y="1874520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84064" y="197510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OF GOODS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84064" y="216712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$892K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84064" y="25603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246 supplier invoices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953512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" y="305409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INCOME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" y="32461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$348K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" y="363931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28.1% margin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37760" y="2953512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84064" y="305409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INCOME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84064" y="32461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$271K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84064" y="363931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$77K expenses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032504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" y="41330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OUTSTANDING (AR)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9224" y="432511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$486K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9224" y="471830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 open invoices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4032504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84064" y="41330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432511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$312K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84064" y="471830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funded invoices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5111496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" y="521208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" y="540410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49224" y="579729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required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37760" y="5111496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84064" y="521208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RATE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84064" y="540410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96%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84064" y="579729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lifetime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00" y="18745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90304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Aging waterfall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290304" y="2386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707624" y="2427732"/>
            <a:ext cx="146304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07624" y="2427732"/>
            <a:ext cx="907085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12280392" y="2386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$8.42M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90304" y="2807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1–30 days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707624" y="2848356"/>
            <a:ext cx="146304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07624" y="2848356"/>
            <a:ext cx="321869" cy="1371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1" name="Text 49"/>
          <p:cNvSpPr/>
          <p:nvPr/>
        </p:nvSpPr>
        <p:spPr>
          <a:xfrm>
            <a:off x="12280392" y="2807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$2.98M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290304" y="3227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31–60 days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707624" y="3268980"/>
            <a:ext cx="146304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07624" y="3268980"/>
            <a:ext cx="146304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12280392" y="3227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$1.36M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90304" y="3648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61–90 days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707624" y="3689604"/>
            <a:ext cx="146304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10707624" y="3689604"/>
            <a:ext cx="5852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12280392" y="3648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$540K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290304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90+ days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707624" y="4110228"/>
            <a:ext cx="146304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07624" y="4110228"/>
            <a:ext cx="29261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1228039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$272K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144000" y="4672584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90304" y="4873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290304" y="507492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65"/>
          <p:cNvSpPr/>
          <p:nvPr/>
        </p:nvSpPr>
        <p:spPr>
          <a:xfrm>
            <a:off x="9509760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Apex Holdings — credit limit at 94%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290304" y="54864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9509760" y="5394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#INV-30421 overdue 47 days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90304" y="5897880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71" name="Text 69"/>
          <p:cNvSpPr/>
          <p:nvPr/>
        </p:nvSpPr>
        <p:spPr>
          <a:xfrm>
            <a:off x="9509760" y="5806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 Logistics payment received — $128K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INVOICING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sales invoice to funded asset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invoices · Proforma invoices · Credit &amp; debit notes (+ document preview pages)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441448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invoices into the queue.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routes to the Checker desk for approval before funding.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statuses: paid, overdue, advanced, rejected.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Branded PDF preview &amp; print pages.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663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491032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910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27048" y="491032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1527048" y="4910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68296" y="491032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2368296" y="4910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9544" y="491032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9544" y="49103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19202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Proforma invoices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2441448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proforma against a PO number.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or release an advance on the spot.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is applied to the final invoice sharing the same PO.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4572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PROFORMA → ADVANCE FLOW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26280" y="484632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8463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#2201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95544" y="481888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0136" y="484632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6F7FE"/>
          </a:solidFill>
          <a:ln/>
        </p:spPr>
      </p:sp>
      <p:sp>
        <p:nvSpPr>
          <p:cNvPr id="30" name="Text 28"/>
          <p:cNvSpPr/>
          <p:nvPr/>
        </p:nvSpPr>
        <p:spPr>
          <a:xfrm>
            <a:off x="5660136" y="48463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29400" y="481888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93992" y="484632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33" name="Text 31"/>
          <p:cNvSpPr/>
          <p:nvPr/>
        </p:nvSpPr>
        <p:spPr>
          <a:xfrm>
            <a:off x="6793992" y="48463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invoice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83880" y="19202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&amp; debit notes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66760" y="2441448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notes: refunds &amp; discounts.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 notes: extra charges &amp; claims.</a:t>
            </a:r>
            <a:endParaRPr lang="en-US" sz="10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note flows through approval and treasury before adjusting the linked invoice.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66760" y="4572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PIPELINE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66760" y="48463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48463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363456" y="481888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528048" y="48463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42" name="Text 40"/>
          <p:cNvSpPr/>
          <p:nvPr/>
        </p:nvSpPr>
        <p:spPr>
          <a:xfrm>
            <a:off x="9528048" y="48463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 queue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524744" y="481888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689336" y="48463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45" name="Text 43"/>
          <p:cNvSpPr/>
          <p:nvPr/>
        </p:nvSpPr>
        <p:spPr>
          <a:xfrm>
            <a:off x="10689336" y="48463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applies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COSTS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every dollar in and every dollar out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invoices · Vendors · Expenses · Advances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4864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093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6090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invoices with PO details, linked to the sales they support — the cost side of each deal.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4864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7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093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66090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companies you buy from — contacts, payment terms, and open payables.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58768"/>
            <a:ext cx="54864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041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EF3E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6451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Logistics, insurance, interest and other operating costs — linked to invoices for true per-deal economics, with document attachments.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519379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E6F7F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93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to INV-2041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3858768"/>
            <a:ext cx="54864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4041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F8F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6451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received from customers or paid to suppliers ahead of the final invoice — every advance is tied to a specific invoice.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519379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193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Tied to PO #2201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CREDIT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Score, limit, and concentration in a single 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Debtor book · Suppliers · CRM / Salesforce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Debtor exposure vs credit limits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Apex Holdings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2528316"/>
            <a:ext cx="237744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528316"/>
            <a:ext cx="2234794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9724" y="2478024"/>
            <a:ext cx="27432" cy="2468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154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3186684"/>
            <a:ext cx="237744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3186684"/>
            <a:ext cx="1474013" cy="146304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74236" y="3136392"/>
            <a:ext cx="27432" cy="2468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8130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 Logistics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3845052"/>
            <a:ext cx="237744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3845052"/>
            <a:ext cx="1069848" cy="146304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61004" y="3794760"/>
            <a:ext cx="27432" cy="2468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813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4471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Bluepeak Retail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0" y="4503420"/>
            <a:ext cx="237744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0" y="4503420"/>
            <a:ext cx="713232" cy="146304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98748" y="4453128"/>
            <a:ext cx="27432" cy="2468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471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5129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Summit Foods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5161788"/>
            <a:ext cx="237744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0" y="5161788"/>
            <a:ext cx="523037" cy="146304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23260" y="5111496"/>
            <a:ext cx="27432" cy="2468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51297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86000" y="5550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▍bar = limit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52160" y="192024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Debtor risk score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35040" y="25328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 / 100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6126480" y="3172968"/>
            <a:ext cx="21031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26480" y="3172968"/>
            <a:ext cx="1640434" cy="1645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172200" y="35661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grade B+ · Limit $250K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4160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a credit limit and you'll know before the wire moves — alerts fire immediately.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732520" y="1920240"/>
            <a:ext cx="2926080" cy="40233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154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pipeline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15400" y="2532888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52560" y="25328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77493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15400" y="3282696"/>
            <a:ext cx="1792224" cy="457200"/>
          </a:xfrm>
          <a:prstGeom prst="roundRect">
            <a:avLst>
              <a:gd name="adj" fmla="val 16000"/>
            </a:avLst>
          </a:prstGeom>
          <a:solidFill>
            <a:srgbClr val="E6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3282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158984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15400" y="4032504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EF3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2560" y="40325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4303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915400" y="478231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7F8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52560" y="47823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9270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&amp; 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Maker–checker control with same-day funding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 desk · Funding queue · My Workspace · My Reports · Team requests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Workspace — submit &amp; track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44144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414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72184" y="244144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24414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58568" y="244144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24414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44952" y="244144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24414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3008376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09981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0998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" y="3392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visit — Apex Holdings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3410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Aug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3867912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95935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593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 — Nairobi route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270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Jul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" y="4727448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81888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818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2960" y="5111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— 12–14 Aug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06040" y="5129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Jul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69080" y="25146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6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78808" y="262432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78808" y="3026664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/ advance / note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04688" y="2971800"/>
            <a:ext cx="237744" cy="237744"/>
          </a:xfrm>
          <a:prstGeom prst="rightArrow">
            <a:avLst/>
          </a:prstGeom>
          <a:solidFill>
            <a:srgbClr val="00B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760720" y="25146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EF3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262432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 desk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70448" y="3026664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Maker–checker review · approve or reject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96328" y="2971800"/>
            <a:ext cx="237744" cy="237744"/>
          </a:xfrm>
          <a:prstGeom prst="rightArrow">
            <a:avLst/>
          </a:prstGeom>
          <a:solidFill>
            <a:srgbClr val="00B8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452360" y="25146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7F8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62088" y="262432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 queue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62088" y="3026664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disburses · releases reserves on collection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3192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submitted transaction is reviewed by a second set of eyes before a single dollar moves.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52560" y="192024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97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manager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89720" y="25146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99448" y="25146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team members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299448" y="284378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Reports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189720" y="3172968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9448" y="31729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pending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299448" y="350215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requests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89720" y="3831336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9448" y="383133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View-as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99448" y="41605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any member's metrics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18972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View-as lets a manager open any team member's workspace with their exact metrics.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★ SHOWCASE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master catalog that powers the whole operation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&amp; SKUs (/app/products) — the single source of truth behind forecasting, low-stock alerts, and inventory valuation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207568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1975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9224" y="2167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2,480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79776" y="1874520"/>
            <a:ext cx="207568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1975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2167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2,106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56632" y="1874520"/>
            <a:ext cx="207568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02936" y="1975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STOCK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02936" y="2167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33488" y="1874520"/>
            <a:ext cx="207568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79792" y="1975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STOCK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79792" y="2167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10344" y="1874520"/>
            <a:ext cx="207568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56648" y="1975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VALUE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756648" y="2167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$4.8M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0088"/>
          <a:ext cx="111831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51760"/>
                <a:gridCol w="1737360"/>
                <a:gridCol w="868680"/>
                <a:gridCol w="868680"/>
                <a:gridCol w="1051560"/>
                <a:gridCol w="1051560"/>
                <a:gridCol w="17190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hand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Reorder @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TB-1001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Trekking Backpack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Backpacks · M · navy · all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$59.99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RT-2204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Running Shoes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Footwear · 42 · black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$129.00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$61.00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HL-3301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Hiking Boots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Footwear · 43 · brown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$149.00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$70.00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NP-4412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Nutrition Pack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Nutrition · 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$24.50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$11.00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1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02920" y="4983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attributes: category (Footwear · Apparel · Accessories · Equipment · Nutrition), subcategory, gender, size, color, season. Trading data: unit price, unit cost, reorder level, max stock, supplier lead time, lifecycle status. Live stock-on-hand is computed automatically from stock movements — no manual counting.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366760" y="498348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E6F7FE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9536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level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59536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the demand forecast &amp; low-stock alerts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SKU / name / color · filter by category · full create–edit–delete flows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★ SHOWCASE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double-entry stock ledger, not a spreadsheet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(/app/inventory) — every unit that moves is a dated, valued journal entry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48640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39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balances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04872"/>
          <a:ext cx="5120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64008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hand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Trekking Backpack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$5,350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Running Shoes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$6,344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Hiking Boots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$6,020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Fuel (ad-hoc)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$1,440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85800" y="4709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valuation: stock-in at unit price · stock-out at unit cost. Not every transaction needs inventory — record ad-hoc items too.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" y="548640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5486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Stock-in = price (credit)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606040" y="54864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5486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Stock-out = cost (debit)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17920" y="1920240"/>
            <a:ext cx="5468112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039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journal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244144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24963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Aug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10528" y="26974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· Stock-in ↓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818120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Trekking Backpack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18120" y="2752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+120 @ $25.00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646920" y="260604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964692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PI-2201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400800" y="315468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0528" y="32095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Aug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10528" y="34107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 · Stock-out ↑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818120" y="3209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Trekking Backpack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818120" y="3465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−90 @ $25.00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9646920" y="331927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3" name="Text 30"/>
          <p:cNvSpPr/>
          <p:nvPr/>
        </p:nvSpPr>
        <p:spPr>
          <a:xfrm>
            <a:off x="9646920" y="3319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INV-3041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00800" y="3867912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10528" y="39227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Jul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510528" y="412394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· Stock-in ↓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818120" y="3922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(ad-hoc)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818120" y="4178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+1,200 L @ —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646920" y="403250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40" name="Text 37"/>
          <p:cNvSpPr/>
          <p:nvPr/>
        </p:nvSpPr>
        <p:spPr>
          <a:xfrm>
            <a:off x="9646920" y="40325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unlinked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400800" y="458114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0528" y="46360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Jul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510528" y="4837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 · Stock-out ↑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818120" y="4636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Shoes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81812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−12 @ $61.00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9646920" y="474573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47" name="Text 44"/>
          <p:cNvSpPr/>
          <p:nvPr/>
        </p:nvSpPr>
        <p:spPr>
          <a:xfrm>
            <a:off x="9646920" y="4745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INV-3022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0" y="539496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6510528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Add another entry — bulk mode records many dated movements with per-row qty, date &amp; notes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★ SHOWCASE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AI-grade demand forecasting — every SKU, every month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 &amp; reorder (/app/forecast) — seasonal weighted-trend model over 12 months, recomputed live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REORDER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922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118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40030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660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4660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9768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4398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STOCK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4398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9506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4136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MOVERS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4136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09244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3874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MOVERS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3874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989820" y="1874520"/>
            <a:ext cx="16962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B1B33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36124" y="1975104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STOCK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36124" y="216712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5943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063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TB-1001 · Trekking Backpack — monthly forecast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356616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E6F0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prediction interval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68680" y="4257859"/>
            <a:ext cx="457200" cy="405581"/>
          </a:xfrm>
          <a:prstGeom prst="roundRect">
            <a:avLst>
              <a:gd name="adj" fmla="val 9018"/>
            </a:avLst>
          </a:prstGeom>
          <a:solidFill>
            <a:srgbClr val="0066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527048" y="4147246"/>
            <a:ext cx="457200" cy="516194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453896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85416" y="42062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37" name="Text 35"/>
          <p:cNvSpPr/>
          <p:nvPr/>
        </p:nvSpPr>
        <p:spPr>
          <a:xfrm>
            <a:off x="2112264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843784" y="4073505"/>
            <a:ext cx="457200" cy="589935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70632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02152" y="3962892"/>
            <a:ext cx="457200" cy="700548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60520" y="4014511"/>
            <a:ext cx="457200" cy="648929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43" name="Text 41"/>
          <p:cNvSpPr/>
          <p:nvPr/>
        </p:nvSpPr>
        <p:spPr>
          <a:xfrm>
            <a:off x="4087368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18888" y="3852279"/>
            <a:ext cx="457200" cy="811161"/>
          </a:xfrm>
          <a:prstGeom prst="round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45736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77256" y="3749040"/>
            <a:ext cx="457200" cy="914400"/>
          </a:xfrm>
          <a:prstGeom prst="roundRect">
            <a:avLst>
              <a:gd name="adj" fmla="val 8000"/>
            </a:avLst>
          </a:prstGeom>
          <a:solidFill>
            <a:srgbClr val="00B8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04104" y="4709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77240" y="4416552"/>
            <a:ext cx="539496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206240" y="4197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trigger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5800" y="5029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pipeline: stockout-corrected demand → exponentially weighted baseline → weighted trend → smoothed seasonality → business factors → 80% confidence intervals.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75120" y="2926080"/>
            <a:ext cx="50292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 insight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858000" y="34107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0" y="3410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mover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83880" y="34107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56" name="Text 54"/>
          <p:cNvSpPr/>
          <p:nvPr/>
        </p:nvSpPr>
        <p:spPr>
          <a:xfrm>
            <a:off x="8183880" y="3410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92640" y="34107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58" name="Text 56"/>
          <p:cNvSpPr/>
          <p:nvPr/>
        </p:nvSpPr>
        <p:spPr>
          <a:xfrm>
            <a:off x="9692640" y="3410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58000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of cover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86968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58000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stockout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869680" y="4197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Aug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800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by (last safe)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86968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Jul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0" y="4855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refill (order today)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69680" y="4855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Aug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58000" y="5184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reorder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69680" y="5184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 units · $2,100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58000" y="5513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strategy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869680" y="5513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margin · review +3–5% (min $41.67)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58000" y="57881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auditable: expand any SKU to see the full calculation breakdown — weights, trend R², seasonal factors, safety stock, lead-time demand.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STATEMENTS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Double-entry certainty behind every transaction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· Balance sheet · Reports · Requests · Profile · Settings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39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· INV-3041 (balanced)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41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2441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2441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715768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$5,390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— sales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$5,390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566160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of accounts · manual journals · drill into every 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financial movement becomes a balanced journal entry — posted automatically from invoices, purchases, advances and expenses.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92024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39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 — as of 31 Jul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423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2423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Liabilities &amp; Equity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734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2734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$486K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0392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$340K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&amp; bank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3465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$594K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5256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Advances received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61320" y="2734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$312K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52560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561320" y="3099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$1.11M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931920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assets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3995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$1.42M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61320" y="3995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$1.42M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480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Auto-updates from invoices, purchases, inventory, advances, accounts and manual entries. Profile &amp; Settings manage personal info, photo, and company profile.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Receivables Factoring &amp; Monitoring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OPERATIONS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console doesn't sleep. Neither does your risk.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· Reminders · Operations console · Invoice template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6692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39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unread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478024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523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#INV-30421 overdue 47 days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70432" y="28986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Surveillance · just now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3227832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5021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Apex Holdings — credit limit at 94%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70432" y="36484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limit · 2 min ago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7764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519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432" y="41056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 risk grade B → 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43982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migration · 11 min ago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" y="4727448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001768"/>
            <a:ext cx="164592" cy="16459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48554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 Logistics payment received — $128K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70432" y="5148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· 24 min ago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553212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Severity-tagged (info · warning · critical) · overdue triggers · credit-limit breaches · risk-grade migrations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039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console (admin)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2423160"/>
            <a:ext cx="4892040" cy="402336"/>
          </a:xfrm>
          <a:prstGeom prst="roundRect">
            <a:avLst>
              <a:gd name="adj" fmla="val 1590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242316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alerts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93408" y="2606040"/>
            <a:ext cx="467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surveillance rules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0" y="2926080"/>
            <a:ext cx="4892040" cy="402336"/>
          </a:xfrm>
          <a:prstGeom prst="roundRect">
            <a:avLst>
              <a:gd name="adj" fmla="val 1590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292608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team roles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93408" y="3108960"/>
            <a:ext cx="467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 · treasury · checker · operations · sales · reporting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0" y="3429000"/>
            <a:ext cx="4892040" cy="402336"/>
          </a:xfrm>
          <a:prstGeom prst="roundRect">
            <a:avLst>
              <a:gd name="adj" fmla="val 1590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93408" y="342900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on exceptions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93408" y="3611880"/>
            <a:ext cx="467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flagged transactions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443484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562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 &amp; branding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4910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reminders keep collections on schedule.</a:t>
            </a:r>
            <a:endParaRPr lang="en-US" sz="950" dirty="0"/>
          </a:p>
          <a:p>
            <a:pPr marL="114300" indent="-1143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template: brand every generated invoice &amp; note.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5806440"/>
            <a:ext cx="11201400" cy="54864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806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Submit, advance, collect — and watch aging, concentration, and credit risk move in real time.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052560" y="58978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B8FF"/>
          </a:solidFill>
          <a:ln/>
        </p:spPr>
      </p:sp>
      <p:sp>
        <p:nvSpPr>
          <p:cNvPr id="48" name="Text 46"/>
          <p:cNvSpPr/>
          <p:nvPr/>
        </p:nvSpPr>
        <p:spPr>
          <a:xfrm>
            <a:off x="9052560" y="5897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free account →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Adventra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Adventra — Receivables Factoring &amp; Monitoring Platform</dc:title>
  <dc:subject>12-slide platform walkthrough</dc:subject>
  <dc:creator>Adventra</dc:creator>
  <cp:lastModifiedBy>Adventra</cp:lastModifiedBy>
  <cp:revision>1</cp:revision>
  <dcterms:created xsi:type="dcterms:W3CDTF">2026-08-03T05:45:42Z</dcterms:created>
  <dcterms:modified xsi:type="dcterms:W3CDTF">2026-08-03T05:45:42Z</dcterms:modified>
</cp:coreProperties>
</file>