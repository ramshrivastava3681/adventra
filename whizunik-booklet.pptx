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556500" cy="5334000"/>
  <p:notesSz cx="7556500" cy="533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0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2667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2667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67C0D-308C-4578-94DF-B082F22E616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666750"/>
            <a:ext cx="2549525" cy="1800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2566988"/>
            <a:ext cx="6045200" cy="21002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067300"/>
            <a:ext cx="3275013" cy="2667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5067300"/>
            <a:ext cx="3275013" cy="2667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8E39A-F3B5-45C6-A4E0-55C80DB4A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91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F8E39A-F3B5-45C6-A4E0-55C80DB4AFC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66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1653540"/>
            <a:ext cx="6428422" cy="1120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0F2A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2987040"/>
            <a:ext cx="5293995" cy="1333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450" b="1" i="0">
                <a:solidFill>
                  <a:srgbClr val="E4D6C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1" i="0">
                <a:solidFill>
                  <a:srgbClr val="BD8944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0F2A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450" b="1" i="0">
                <a:solidFill>
                  <a:srgbClr val="E4D6C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1" i="0">
                <a:solidFill>
                  <a:srgbClr val="BD8944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0F2A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1226820"/>
            <a:ext cx="3289839" cy="3520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1226820"/>
            <a:ext cx="3289839" cy="3520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450" b="1" i="0">
                <a:solidFill>
                  <a:srgbClr val="E4D6C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1" i="0">
                <a:solidFill>
                  <a:srgbClr val="BD8944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0F2A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450" b="1" i="0">
                <a:solidFill>
                  <a:srgbClr val="E4D6C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1" i="0">
                <a:solidFill>
                  <a:srgbClr val="BD8944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450" b="1" i="0">
                <a:solidFill>
                  <a:srgbClr val="E4D6C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1" i="0">
                <a:solidFill>
                  <a:srgbClr val="BD8944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5328285"/>
          </a:xfrm>
          <a:custGeom>
            <a:avLst/>
            <a:gdLst/>
            <a:ahLst/>
            <a:cxnLst/>
            <a:rect l="l" t="t" r="r" b="b"/>
            <a:pathLst>
              <a:path w="7560309" h="5328285">
                <a:moveTo>
                  <a:pt x="7560000" y="0"/>
                </a:moveTo>
                <a:lnTo>
                  <a:pt x="0" y="0"/>
                </a:lnTo>
                <a:lnTo>
                  <a:pt x="0" y="5328000"/>
                </a:lnTo>
                <a:lnTo>
                  <a:pt x="7560000" y="5328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F4F0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603499" y="1606900"/>
            <a:ext cx="4635500" cy="2984500"/>
          </a:xfrm>
          <a:custGeom>
            <a:avLst/>
            <a:gdLst/>
            <a:ahLst/>
            <a:cxnLst/>
            <a:rect l="l" t="t" r="r" b="b"/>
            <a:pathLst>
              <a:path w="4635500" h="2984500">
                <a:moveTo>
                  <a:pt x="4572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921000"/>
                </a:lnTo>
                <a:lnTo>
                  <a:pt x="4985" y="2945730"/>
                </a:lnTo>
                <a:lnTo>
                  <a:pt x="18586" y="2965913"/>
                </a:lnTo>
                <a:lnTo>
                  <a:pt x="38769" y="2979514"/>
                </a:lnTo>
                <a:lnTo>
                  <a:pt x="63500" y="2984500"/>
                </a:lnTo>
                <a:lnTo>
                  <a:pt x="4572000" y="2984500"/>
                </a:lnTo>
                <a:lnTo>
                  <a:pt x="4596730" y="2979514"/>
                </a:lnTo>
                <a:lnTo>
                  <a:pt x="4616913" y="2965913"/>
                </a:lnTo>
                <a:lnTo>
                  <a:pt x="4630514" y="2945730"/>
                </a:lnTo>
                <a:lnTo>
                  <a:pt x="4635500" y="2921000"/>
                </a:lnTo>
                <a:lnTo>
                  <a:pt x="4635500" y="63500"/>
                </a:lnTo>
                <a:lnTo>
                  <a:pt x="4630514" y="38769"/>
                </a:lnTo>
                <a:lnTo>
                  <a:pt x="4616913" y="18586"/>
                </a:lnTo>
                <a:lnTo>
                  <a:pt x="4596730" y="4985"/>
                </a:lnTo>
                <a:lnTo>
                  <a:pt x="4572000" y="0"/>
                </a:lnTo>
                <a:close/>
              </a:path>
            </a:pathLst>
          </a:custGeom>
          <a:solidFill>
            <a:srgbClr val="EBF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603499" y="1606900"/>
            <a:ext cx="4635500" cy="2984500"/>
          </a:xfrm>
          <a:custGeom>
            <a:avLst/>
            <a:gdLst/>
            <a:ahLst/>
            <a:cxnLst/>
            <a:rect l="l" t="t" r="r" b="b"/>
            <a:pathLst>
              <a:path w="4635500" h="2984500">
                <a:moveTo>
                  <a:pt x="63500" y="2984500"/>
                </a:moveTo>
                <a:lnTo>
                  <a:pt x="4572000" y="2984500"/>
                </a:lnTo>
                <a:lnTo>
                  <a:pt x="4596730" y="2979514"/>
                </a:lnTo>
                <a:lnTo>
                  <a:pt x="4616913" y="2965913"/>
                </a:lnTo>
                <a:lnTo>
                  <a:pt x="4630514" y="2945730"/>
                </a:lnTo>
                <a:lnTo>
                  <a:pt x="4635500" y="2921000"/>
                </a:lnTo>
                <a:lnTo>
                  <a:pt x="4635500" y="63500"/>
                </a:lnTo>
                <a:lnTo>
                  <a:pt x="4630514" y="38769"/>
                </a:lnTo>
                <a:lnTo>
                  <a:pt x="4616913" y="18586"/>
                </a:lnTo>
                <a:lnTo>
                  <a:pt x="4596730" y="4985"/>
                </a:lnTo>
                <a:lnTo>
                  <a:pt x="4572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921000"/>
                </a:lnTo>
                <a:lnTo>
                  <a:pt x="4985" y="2945730"/>
                </a:lnTo>
                <a:lnTo>
                  <a:pt x="18586" y="2965913"/>
                </a:lnTo>
                <a:lnTo>
                  <a:pt x="38769" y="2979514"/>
                </a:lnTo>
                <a:lnTo>
                  <a:pt x="63500" y="2984500"/>
                </a:lnTo>
                <a:close/>
              </a:path>
            </a:pathLst>
          </a:custGeom>
          <a:ln w="5715">
            <a:solidFill>
              <a:srgbClr val="D8DFE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603499" y="1606900"/>
            <a:ext cx="4635500" cy="177800"/>
          </a:xfrm>
          <a:custGeom>
            <a:avLst/>
            <a:gdLst/>
            <a:ahLst/>
            <a:cxnLst/>
            <a:rect l="l" t="t" r="r" b="b"/>
            <a:pathLst>
              <a:path w="4635500" h="177800">
                <a:moveTo>
                  <a:pt x="4572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14300"/>
                </a:lnTo>
                <a:lnTo>
                  <a:pt x="4985" y="139030"/>
                </a:lnTo>
                <a:lnTo>
                  <a:pt x="18586" y="159213"/>
                </a:lnTo>
                <a:lnTo>
                  <a:pt x="38769" y="172814"/>
                </a:lnTo>
                <a:lnTo>
                  <a:pt x="63500" y="177800"/>
                </a:lnTo>
                <a:lnTo>
                  <a:pt x="4572000" y="177800"/>
                </a:lnTo>
                <a:lnTo>
                  <a:pt x="4596730" y="172814"/>
                </a:lnTo>
                <a:lnTo>
                  <a:pt x="4616913" y="159213"/>
                </a:lnTo>
                <a:lnTo>
                  <a:pt x="4630514" y="139030"/>
                </a:lnTo>
                <a:lnTo>
                  <a:pt x="4635500" y="114300"/>
                </a:lnTo>
                <a:lnTo>
                  <a:pt x="4635500" y="63500"/>
                </a:lnTo>
                <a:lnTo>
                  <a:pt x="4630514" y="38769"/>
                </a:lnTo>
                <a:lnTo>
                  <a:pt x="4616913" y="18586"/>
                </a:lnTo>
                <a:lnTo>
                  <a:pt x="4596730" y="4985"/>
                </a:lnTo>
                <a:lnTo>
                  <a:pt x="45720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603499" y="1670400"/>
            <a:ext cx="4635500" cy="114300"/>
          </a:xfrm>
          <a:custGeom>
            <a:avLst/>
            <a:gdLst/>
            <a:ahLst/>
            <a:cxnLst/>
            <a:rect l="l" t="t" r="r" b="b"/>
            <a:pathLst>
              <a:path w="4635500" h="114300">
                <a:moveTo>
                  <a:pt x="4635500" y="0"/>
                </a:moveTo>
                <a:lnTo>
                  <a:pt x="0" y="0"/>
                </a:lnTo>
                <a:lnTo>
                  <a:pt x="0" y="114300"/>
                </a:lnTo>
                <a:lnTo>
                  <a:pt x="4635500" y="114300"/>
                </a:lnTo>
                <a:lnTo>
                  <a:pt x="46355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900" y="363220"/>
            <a:ext cx="4394835" cy="22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0F2A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1226820"/>
            <a:ext cx="6806565" cy="3520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39700" y="5141216"/>
            <a:ext cx="1449070" cy="99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" b="1" i="0">
                <a:solidFill>
                  <a:srgbClr val="E4D6C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4960620"/>
            <a:ext cx="1739455" cy="266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7899" y="5141216"/>
            <a:ext cx="162559" cy="99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1" i="0">
                <a:solidFill>
                  <a:srgbClr val="BD8944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hizunik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60309" cy="5328285"/>
          </a:xfrm>
          <a:custGeom>
            <a:avLst/>
            <a:gdLst/>
            <a:ahLst/>
            <a:cxnLst/>
            <a:rect l="l" t="t" r="r" b="b"/>
            <a:pathLst>
              <a:path w="7560309" h="5328285">
                <a:moveTo>
                  <a:pt x="7560000" y="0"/>
                </a:moveTo>
                <a:lnTo>
                  <a:pt x="0" y="0"/>
                </a:lnTo>
                <a:lnTo>
                  <a:pt x="0" y="5328000"/>
                </a:lnTo>
                <a:lnTo>
                  <a:pt x="7560000" y="5328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600" y="101599"/>
            <a:ext cx="7357109" cy="5125085"/>
          </a:xfrm>
          <a:custGeom>
            <a:avLst/>
            <a:gdLst/>
            <a:ahLst/>
            <a:cxnLst/>
            <a:rect l="l" t="t" r="r" b="b"/>
            <a:pathLst>
              <a:path w="7357109" h="5125085">
                <a:moveTo>
                  <a:pt x="76200" y="5124800"/>
                </a:moveTo>
                <a:lnTo>
                  <a:pt x="7280600" y="5124800"/>
                </a:lnTo>
                <a:lnTo>
                  <a:pt x="7310277" y="5118817"/>
                </a:lnTo>
                <a:lnTo>
                  <a:pt x="7334496" y="5102496"/>
                </a:lnTo>
                <a:lnTo>
                  <a:pt x="7350817" y="5078277"/>
                </a:lnTo>
                <a:lnTo>
                  <a:pt x="7356800" y="5048600"/>
                </a:lnTo>
                <a:lnTo>
                  <a:pt x="7356800" y="76200"/>
                </a:lnTo>
                <a:lnTo>
                  <a:pt x="7350817" y="46522"/>
                </a:lnTo>
                <a:lnTo>
                  <a:pt x="7334496" y="22303"/>
                </a:lnTo>
                <a:lnTo>
                  <a:pt x="7310277" y="5982"/>
                </a:lnTo>
                <a:lnTo>
                  <a:pt x="72806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048600"/>
                </a:lnTo>
                <a:lnTo>
                  <a:pt x="5982" y="5078277"/>
                </a:lnTo>
                <a:lnTo>
                  <a:pt x="22303" y="5102496"/>
                </a:lnTo>
                <a:lnTo>
                  <a:pt x="46522" y="5118817"/>
                </a:lnTo>
                <a:lnTo>
                  <a:pt x="76200" y="5124800"/>
                </a:lnTo>
                <a:close/>
              </a:path>
            </a:pathLst>
          </a:custGeom>
          <a:ln w="6350">
            <a:solidFill>
              <a:srgbClr val="BD89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5900" y="108989"/>
            <a:ext cx="1779905" cy="3371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WHIZUNIK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550" b="1" spc="110" dirty="0">
                <a:solidFill>
                  <a:srgbClr val="E4D6C1"/>
                </a:solidFill>
                <a:latin typeface="Arial"/>
                <a:cs typeface="Arial"/>
              </a:rPr>
              <a:t>BUSINESS</a:t>
            </a:r>
            <a:r>
              <a:rPr sz="550" b="1" spc="275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550" b="1" spc="110" dirty="0">
                <a:solidFill>
                  <a:srgbClr val="E4D6C1"/>
                </a:solidFill>
                <a:latin typeface="Arial"/>
                <a:cs typeface="Arial"/>
              </a:rPr>
              <a:t>MANAGEMENT</a:t>
            </a:r>
            <a:r>
              <a:rPr sz="550" b="1" spc="280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550" b="1" spc="95" dirty="0">
                <a:solidFill>
                  <a:srgbClr val="E4D6C1"/>
                </a:solidFill>
                <a:latin typeface="Arial"/>
                <a:cs typeface="Arial"/>
              </a:rPr>
              <a:t>PLATFORM </a:t>
            </a:r>
            <a:endParaRPr sz="5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5900" y="571500"/>
            <a:ext cx="2820670" cy="7340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340"/>
              </a:spcBef>
            </a:pPr>
            <a:r>
              <a:rPr sz="2400" dirty="0">
                <a:solidFill>
                  <a:srgbClr val="FFFFFF"/>
                </a:solidFill>
              </a:rPr>
              <a:t>Every</a:t>
            </a:r>
            <a:r>
              <a:rPr sz="2400" spc="-3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moving</a:t>
            </a:r>
            <a:r>
              <a:rPr sz="2400" spc="-35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part. </a:t>
            </a:r>
            <a:r>
              <a:rPr sz="2400" dirty="0">
                <a:solidFill>
                  <a:srgbClr val="FFFFFF"/>
                </a:solidFill>
              </a:rPr>
              <a:t>One</a:t>
            </a:r>
            <a:r>
              <a:rPr sz="2400" spc="-3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clear</a:t>
            </a:r>
            <a:r>
              <a:rPr sz="2400" spc="-30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decision.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215900" y="1379727"/>
            <a:ext cx="2590165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95"/>
              </a:spcBef>
            </a:pPr>
            <a:r>
              <a:rPr sz="800" dirty="0">
                <a:solidFill>
                  <a:srgbClr val="C4D1DA"/>
                </a:solidFill>
                <a:latin typeface="Arial MT"/>
                <a:cs typeface="Arial MT"/>
              </a:rPr>
              <a:t>A</a:t>
            </a:r>
            <a:r>
              <a:rPr sz="800" spc="35" dirty="0">
                <a:solidFill>
                  <a:srgbClr val="C4D1D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C4D1DA"/>
                </a:solidFill>
                <a:latin typeface="Arial MT"/>
                <a:cs typeface="Arial MT"/>
              </a:rPr>
              <a:t>premium</a:t>
            </a:r>
            <a:r>
              <a:rPr sz="800" spc="40" dirty="0">
                <a:solidFill>
                  <a:srgbClr val="C4D1D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C4D1DA"/>
                </a:solidFill>
                <a:latin typeface="Arial MT"/>
                <a:cs typeface="Arial MT"/>
              </a:rPr>
              <a:t>operating</a:t>
            </a:r>
            <a:r>
              <a:rPr sz="800" spc="40" dirty="0">
                <a:solidFill>
                  <a:srgbClr val="C4D1D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C4D1DA"/>
                </a:solidFill>
                <a:latin typeface="Arial MT"/>
                <a:cs typeface="Arial MT"/>
              </a:rPr>
              <a:t>view</a:t>
            </a:r>
            <a:r>
              <a:rPr sz="800" spc="40" dirty="0">
                <a:solidFill>
                  <a:srgbClr val="C4D1D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C4D1DA"/>
                </a:solidFill>
                <a:latin typeface="Arial MT"/>
                <a:cs typeface="Arial MT"/>
              </a:rPr>
              <a:t>for</a:t>
            </a:r>
            <a:r>
              <a:rPr sz="800" spc="35" dirty="0">
                <a:solidFill>
                  <a:srgbClr val="C4D1D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C4D1DA"/>
                </a:solidFill>
                <a:latin typeface="Arial MT"/>
                <a:cs typeface="Arial MT"/>
              </a:rPr>
              <a:t>promoters</a:t>
            </a:r>
            <a:r>
              <a:rPr sz="800" spc="40" dirty="0">
                <a:solidFill>
                  <a:srgbClr val="C4D1D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C4D1DA"/>
                </a:solidFill>
                <a:latin typeface="Arial MT"/>
                <a:cs typeface="Arial MT"/>
              </a:rPr>
              <a:t>and</a:t>
            </a:r>
            <a:r>
              <a:rPr sz="800" spc="40" dirty="0">
                <a:solidFill>
                  <a:srgbClr val="C4D1DA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C4D1DA"/>
                </a:solidFill>
                <a:latin typeface="Arial MT"/>
                <a:cs typeface="Arial MT"/>
              </a:rPr>
              <a:t>leadership teams.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98725" y="3762725"/>
            <a:ext cx="1225550" cy="1225550"/>
            <a:chOff x="2498725" y="3762725"/>
            <a:chExt cx="1225550" cy="1225550"/>
          </a:xfrm>
        </p:grpSpPr>
        <p:sp>
          <p:nvSpPr>
            <p:cNvPr id="8" name="object 8"/>
            <p:cNvSpPr/>
            <p:nvPr/>
          </p:nvSpPr>
          <p:spPr>
            <a:xfrm>
              <a:off x="2501900" y="376590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863600" y="609600"/>
                  </a:moveTo>
                  <a:lnTo>
                    <a:pt x="859507" y="563943"/>
                  </a:lnTo>
                  <a:lnTo>
                    <a:pt x="847709" y="520971"/>
                  </a:lnTo>
                  <a:lnTo>
                    <a:pt x="828921" y="481401"/>
                  </a:lnTo>
                  <a:lnTo>
                    <a:pt x="803862" y="445951"/>
                  </a:lnTo>
                  <a:lnTo>
                    <a:pt x="773248" y="415337"/>
                  </a:lnTo>
                  <a:lnTo>
                    <a:pt x="737798" y="390278"/>
                  </a:lnTo>
                  <a:lnTo>
                    <a:pt x="698228" y="371490"/>
                  </a:lnTo>
                  <a:lnTo>
                    <a:pt x="655256" y="359692"/>
                  </a:lnTo>
                  <a:lnTo>
                    <a:pt x="609600" y="355600"/>
                  </a:lnTo>
                  <a:lnTo>
                    <a:pt x="563943" y="359692"/>
                  </a:lnTo>
                  <a:lnTo>
                    <a:pt x="520971" y="371490"/>
                  </a:lnTo>
                  <a:lnTo>
                    <a:pt x="481401" y="390278"/>
                  </a:lnTo>
                  <a:lnTo>
                    <a:pt x="445951" y="415337"/>
                  </a:lnTo>
                  <a:lnTo>
                    <a:pt x="415337" y="445951"/>
                  </a:lnTo>
                  <a:lnTo>
                    <a:pt x="390278" y="481401"/>
                  </a:lnTo>
                  <a:lnTo>
                    <a:pt x="371490" y="520971"/>
                  </a:lnTo>
                  <a:lnTo>
                    <a:pt x="359692" y="563943"/>
                  </a:lnTo>
                  <a:lnTo>
                    <a:pt x="355600" y="609600"/>
                  </a:lnTo>
                  <a:lnTo>
                    <a:pt x="359692" y="655256"/>
                  </a:lnTo>
                  <a:lnTo>
                    <a:pt x="371490" y="698228"/>
                  </a:lnTo>
                  <a:lnTo>
                    <a:pt x="390278" y="737798"/>
                  </a:lnTo>
                  <a:lnTo>
                    <a:pt x="415337" y="773248"/>
                  </a:lnTo>
                  <a:lnTo>
                    <a:pt x="445951" y="803862"/>
                  </a:lnTo>
                  <a:lnTo>
                    <a:pt x="481401" y="828921"/>
                  </a:lnTo>
                  <a:lnTo>
                    <a:pt x="520971" y="847709"/>
                  </a:lnTo>
                  <a:lnTo>
                    <a:pt x="563943" y="859507"/>
                  </a:lnTo>
                  <a:lnTo>
                    <a:pt x="609600" y="863600"/>
                  </a:lnTo>
                  <a:lnTo>
                    <a:pt x="655256" y="859507"/>
                  </a:lnTo>
                  <a:lnTo>
                    <a:pt x="698228" y="847709"/>
                  </a:lnTo>
                  <a:lnTo>
                    <a:pt x="737798" y="828921"/>
                  </a:lnTo>
                  <a:lnTo>
                    <a:pt x="773248" y="803862"/>
                  </a:lnTo>
                  <a:lnTo>
                    <a:pt x="803862" y="773248"/>
                  </a:lnTo>
                  <a:lnTo>
                    <a:pt x="828921" y="737798"/>
                  </a:lnTo>
                  <a:lnTo>
                    <a:pt x="847709" y="698228"/>
                  </a:lnTo>
                  <a:lnTo>
                    <a:pt x="859507" y="655256"/>
                  </a:lnTo>
                  <a:lnTo>
                    <a:pt x="863600" y="609600"/>
                  </a:lnTo>
                </a:path>
                <a:path w="1219200" h="1219200">
                  <a:moveTo>
                    <a:pt x="1041400" y="609600"/>
                  </a:moveTo>
                  <a:lnTo>
                    <a:pt x="1038866" y="562550"/>
                  </a:lnTo>
                  <a:lnTo>
                    <a:pt x="1031440" y="516968"/>
                  </a:lnTo>
                  <a:lnTo>
                    <a:pt x="1019386" y="473117"/>
                  </a:lnTo>
                  <a:lnTo>
                    <a:pt x="1002967" y="431261"/>
                  </a:lnTo>
                  <a:lnTo>
                    <a:pt x="982446" y="391662"/>
                  </a:lnTo>
                  <a:lnTo>
                    <a:pt x="958087" y="354584"/>
                  </a:lnTo>
                  <a:lnTo>
                    <a:pt x="930153" y="320291"/>
                  </a:lnTo>
                  <a:lnTo>
                    <a:pt x="898908" y="289046"/>
                  </a:lnTo>
                  <a:lnTo>
                    <a:pt x="864615" y="261112"/>
                  </a:lnTo>
                  <a:lnTo>
                    <a:pt x="827537" y="236753"/>
                  </a:lnTo>
                  <a:lnTo>
                    <a:pt x="787938" y="216232"/>
                  </a:lnTo>
                  <a:lnTo>
                    <a:pt x="746082" y="199813"/>
                  </a:lnTo>
                  <a:lnTo>
                    <a:pt x="702231" y="187759"/>
                  </a:lnTo>
                  <a:lnTo>
                    <a:pt x="656649" y="180333"/>
                  </a:lnTo>
                  <a:lnTo>
                    <a:pt x="609600" y="177800"/>
                  </a:lnTo>
                  <a:lnTo>
                    <a:pt x="562550" y="180333"/>
                  </a:lnTo>
                  <a:lnTo>
                    <a:pt x="516968" y="187759"/>
                  </a:lnTo>
                  <a:lnTo>
                    <a:pt x="473117" y="199813"/>
                  </a:lnTo>
                  <a:lnTo>
                    <a:pt x="431261" y="216232"/>
                  </a:lnTo>
                  <a:lnTo>
                    <a:pt x="391662" y="236753"/>
                  </a:lnTo>
                  <a:lnTo>
                    <a:pt x="354584" y="261112"/>
                  </a:lnTo>
                  <a:lnTo>
                    <a:pt x="320291" y="289046"/>
                  </a:lnTo>
                  <a:lnTo>
                    <a:pt x="289046" y="320291"/>
                  </a:lnTo>
                  <a:lnTo>
                    <a:pt x="261112" y="354584"/>
                  </a:lnTo>
                  <a:lnTo>
                    <a:pt x="236753" y="391662"/>
                  </a:lnTo>
                  <a:lnTo>
                    <a:pt x="216232" y="431261"/>
                  </a:lnTo>
                  <a:lnTo>
                    <a:pt x="199813" y="473117"/>
                  </a:lnTo>
                  <a:lnTo>
                    <a:pt x="187759" y="516968"/>
                  </a:lnTo>
                  <a:lnTo>
                    <a:pt x="180333" y="562550"/>
                  </a:lnTo>
                  <a:lnTo>
                    <a:pt x="177800" y="609600"/>
                  </a:lnTo>
                  <a:lnTo>
                    <a:pt x="180333" y="656649"/>
                  </a:lnTo>
                  <a:lnTo>
                    <a:pt x="187759" y="702231"/>
                  </a:lnTo>
                  <a:lnTo>
                    <a:pt x="199813" y="746082"/>
                  </a:lnTo>
                  <a:lnTo>
                    <a:pt x="216232" y="787938"/>
                  </a:lnTo>
                  <a:lnTo>
                    <a:pt x="236753" y="827537"/>
                  </a:lnTo>
                  <a:lnTo>
                    <a:pt x="261112" y="864615"/>
                  </a:lnTo>
                  <a:lnTo>
                    <a:pt x="289046" y="898908"/>
                  </a:lnTo>
                  <a:lnTo>
                    <a:pt x="320291" y="930153"/>
                  </a:lnTo>
                  <a:lnTo>
                    <a:pt x="354584" y="958087"/>
                  </a:lnTo>
                  <a:lnTo>
                    <a:pt x="391662" y="982446"/>
                  </a:lnTo>
                  <a:lnTo>
                    <a:pt x="431261" y="1002967"/>
                  </a:lnTo>
                  <a:lnTo>
                    <a:pt x="473117" y="1019386"/>
                  </a:lnTo>
                  <a:lnTo>
                    <a:pt x="516968" y="1031440"/>
                  </a:lnTo>
                  <a:lnTo>
                    <a:pt x="562550" y="1038866"/>
                  </a:lnTo>
                  <a:lnTo>
                    <a:pt x="609600" y="1041400"/>
                  </a:lnTo>
                  <a:lnTo>
                    <a:pt x="656649" y="1038866"/>
                  </a:lnTo>
                  <a:lnTo>
                    <a:pt x="702231" y="1031440"/>
                  </a:lnTo>
                  <a:lnTo>
                    <a:pt x="746082" y="1019386"/>
                  </a:lnTo>
                  <a:lnTo>
                    <a:pt x="787938" y="1002967"/>
                  </a:lnTo>
                  <a:lnTo>
                    <a:pt x="827537" y="982446"/>
                  </a:lnTo>
                  <a:lnTo>
                    <a:pt x="864615" y="958087"/>
                  </a:lnTo>
                  <a:lnTo>
                    <a:pt x="898908" y="930153"/>
                  </a:lnTo>
                  <a:lnTo>
                    <a:pt x="930153" y="898908"/>
                  </a:lnTo>
                  <a:lnTo>
                    <a:pt x="958087" y="864615"/>
                  </a:lnTo>
                  <a:lnTo>
                    <a:pt x="982446" y="827537"/>
                  </a:lnTo>
                  <a:lnTo>
                    <a:pt x="1002967" y="787938"/>
                  </a:lnTo>
                  <a:lnTo>
                    <a:pt x="1019386" y="746082"/>
                  </a:lnTo>
                  <a:lnTo>
                    <a:pt x="1031440" y="702231"/>
                  </a:lnTo>
                  <a:lnTo>
                    <a:pt x="1038866" y="656649"/>
                  </a:lnTo>
                  <a:lnTo>
                    <a:pt x="1041400" y="609600"/>
                  </a:lnTo>
                </a:path>
                <a:path w="1219200" h="1219200">
                  <a:moveTo>
                    <a:pt x="1219200" y="609600"/>
                  </a:moveTo>
                  <a:lnTo>
                    <a:pt x="1217365" y="561960"/>
                  </a:lnTo>
                  <a:lnTo>
                    <a:pt x="1211954" y="515322"/>
                  </a:lnTo>
                  <a:lnTo>
                    <a:pt x="1203100" y="469824"/>
                  </a:lnTo>
                  <a:lnTo>
                    <a:pt x="1190939" y="425599"/>
                  </a:lnTo>
                  <a:lnTo>
                    <a:pt x="1175607" y="382783"/>
                  </a:lnTo>
                  <a:lnTo>
                    <a:pt x="1157239" y="341513"/>
                  </a:lnTo>
                  <a:lnTo>
                    <a:pt x="1135971" y="301923"/>
                  </a:lnTo>
                  <a:lnTo>
                    <a:pt x="1111939" y="264148"/>
                  </a:lnTo>
                  <a:lnTo>
                    <a:pt x="1085277" y="228326"/>
                  </a:lnTo>
                  <a:lnTo>
                    <a:pt x="1056122" y="194590"/>
                  </a:lnTo>
                  <a:lnTo>
                    <a:pt x="1024609" y="163077"/>
                  </a:lnTo>
                  <a:lnTo>
                    <a:pt x="990873" y="133922"/>
                  </a:lnTo>
                  <a:lnTo>
                    <a:pt x="955051" y="107260"/>
                  </a:lnTo>
                  <a:lnTo>
                    <a:pt x="917276" y="83228"/>
                  </a:lnTo>
                  <a:lnTo>
                    <a:pt x="877686" y="61960"/>
                  </a:lnTo>
                  <a:lnTo>
                    <a:pt x="836416" y="43592"/>
                  </a:lnTo>
                  <a:lnTo>
                    <a:pt x="793600" y="28260"/>
                  </a:lnTo>
                  <a:lnTo>
                    <a:pt x="749375" y="16099"/>
                  </a:lnTo>
                  <a:lnTo>
                    <a:pt x="703877" y="7245"/>
                  </a:lnTo>
                  <a:lnTo>
                    <a:pt x="657239" y="1834"/>
                  </a:lnTo>
                  <a:lnTo>
                    <a:pt x="609600" y="0"/>
                  </a:lnTo>
                  <a:lnTo>
                    <a:pt x="561960" y="1834"/>
                  </a:lnTo>
                  <a:lnTo>
                    <a:pt x="515322" y="7245"/>
                  </a:lnTo>
                  <a:lnTo>
                    <a:pt x="469824" y="16099"/>
                  </a:lnTo>
                  <a:lnTo>
                    <a:pt x="425599" y="28260"/>
                  </a:lnTo>
                  <a:lnTo>
                    <a:pt x="382783" y="43592"/>
                  </a:lnTo>
                  <a:lnTo>
                    <a:pt x="341513" y="61960"/>
                  </a:lnTo>
                  <a:lnTo>
                    <a:pt x="301923" y="83228"/>
                  </a:lnTo>
                  <a:lnTo>
                    <a:pt x="264148" y="107260"/>
                  </a:lnTo>
                  <a:lnTo>
                    <a:pt x="228326" y="133922"/>
                  </a:lnTo>
                  <a:lnTo>
                    <a:pt x="194590" y="163077"/>
                  </a:lnTo>
                  <a:lnTo>
                    <a:pt x="163077" y="194590"/>
                  </a:lnTo>
                  <a:lnTo>
                    <a:pt x="133922" y="228326"/>
                  </a:lnTo>
                  <a:lnTo>
                    <a:pt x="107260" y="264148"/>
                  </a:lnTo>
                  <a:lnTo>
                    <a:pt x="83228" y="301923"/>
                  </a:lnTo>
                  <a:lnTo>
                    <a:pt x="61960" y="341513"/>
                  </a:lnTo>
                  <a:lnTo>
                    <a:pt x="43592" y="382783"/>
                  </a:lnTo>
                  <a:lnTo>
                    <a:pt x="28260" y="425599"/>
                  </a:lnTo>
                  <a:lnTo>
                    <a:pt x="16099" y="469824"/>
                  </a:lnTo>
                  <a:lnTo>
                    <a:pt x="7245" y="515322"/>
                  </a:lnTo>
                  <a:lnTo>
                    <a:pt x="1834" y="561960"/>
                  </a:lnTo>
                  <a:lnTo>
                    <a:pt x="0" y="609600"/>
                  </a:lnTo>
                  <a:lnTo>
                    <a:pt x="1834" y="657239"/>
                  </a:lnTo>
                  <a:lnTo>
                    <a:pt x="7245" y="703876"/>
                  </a:lnTo>
                  <a:lnTo>
                    <a:pt x="16099" y="749375"/>
                  </a:lnTo>
                  <a:lnTo>
                    <a:pt x="28260" y="793600"/>
                  </a:lnTo>
                  <a:lnTo>
                    <a:pt x="43592" y="836416"/>
                  </a:lnTo>
                  <a:lnTo>
                    <a:pt x="61960" y="877686"/>
                  </a:lnTo>
                  <a:lnTo>
                    <a:pt x="83228" y="917276"/>
                  </a:lnTo>
                  <a:lnTo>
                    <a:pt x="107260" y="955051"/>
                  </a:lnTo>
                  <a:lnTo>
                    <a:pt x="133922" y="990873"/>
                  </a:lnTo>
                  <a:lnTo>
                    <a:pt x="163077" y="1024609"/>
                  </a:lnTo>
                  <a:lnTo>
                    <a:pt x="194590" y="1056122"/>
                  </a:lnTo>
                  <a:lnTo>
                    <a:pt x="228326" y="1085277"/>
                  </a:lnTo>
                  <a:lnTo>
                    <a:pt x="264148" y="1111939"/>
                  </a:lnTo>
                  <a:lnTo>
                    <a:pt x="301923" y="1135971"/>
                  </a:lnTo>
                  <a:lnTo>
                    <a:pt x="341513" y="1157239"/>
                  </a:lnTo>
                  <a:lnTo>
                    <a:pt x="382783" y="1175607"/>
                  </a:lnTo>
                  <a:lnTo>
                    <a:pt x="425599" y="1190939"/>
                  </a:lnTo>
                  <a:lnTo>
                    <a:pt x="469824" y="1203100"/>
                  </a:lnTo>
                  <a:lnTo>
                    <a:pt x="515322" y="1211954"/>
                  </a:lnTo>
                  <a:lnTo>
                    <a:pt x="561960" y="1217365"/>
                  </a:lnTo>
                  <a:lnTo>
                    <a:pt x="609600" y="1219200"/>
                  </a:lnTo>
                  <a:lnTo>
                    <a:pt x="657239" y="1217365"/>
                  </a:lnTo>
                  <a:lnTo>
                    <a:pt x="703877" y="1211954"/>
                  </a:lnTo>
                  <a:lnTo>
                    <a:pt x="749375" y="1203100"/>
                  </a:lnTo>
                  <a:lnTo>
                    <a:pt x="793600" y="1190939"/>
                  </a:lnTo>
                  <a:lnTo>
                    <a:pt x="836416" y="1175607"/>
                  </a:lnTo>
                  <a:lnTo>
                    <a:pt x="877686" y="1157239"/>
                  </a:lnTo>
                  <a:lnTo>
                    <a:pt x="917276" y="1135971"/>
                  </a:lnTo>
                  <a:lnTo>
                    <a:pt x="955051" y="1111939"/>
                  </a:lnTo>
                  <a:lnTo>
                    <a:pt x="990873" y="1085277"/>
                  </a:lnTo>
                  <a:lnTo>
                    <a:pt x="1024609" y="1056122"/>
                  </a:lnTo>
                  <a:lnTo>
                    <a:pt x="1056122" y="1024609"/>
                  </a:lnTo>
                  <a:lnTo>
                    <a:pt x="1085277" y="990873"/>
                  </a:lnTo>
                  <a:lnTo>
                    <a:pt x="1111939" y="955051"/>
                  </a:lnTo>
                  <a:lnTo>
                    <a:pt x="1135971" y="917276"/>
                  </a:lnTo>
                  <a:lnTo>
                    <a:pt x="1157239" y="877686"/>
                  </a:lnTo>
                  <a:lnTo>
                    <a:pt x="1175607" y="836416"/>
                  </a:lnTo>
                  <a:lnTo>
                    <a:pt x="1190939" y="793600"/>
                  </a:lnTo>
                  <a:lnTo>
                    <a:pt x="1203100" y="749375"/>
                  </a:lnTo>
                  <a:lnTo>
                    <a:pt x="1211954" y="703876"/>
                  </a:lnTo>
                  <a:lnTo>
                    <a:pt x="1217365" y="657239"/>
                  </a:lnTo>
                  <a:lnTo>
                    <a:pt x="1219200" y="609600"/>
                  </a:lnTo>
                </a:path>
              </a:pathLst>
            </a:custGeom>
            <a:ln w="6350">
              <a:solidFill>
                <a:srgbClr val="2844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21000" y="4185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789" y="5026"/>
                  </a:lnTo>
                  <a:lnTo>
                    <a:pt x="106680" y="19345"/>
                  </a:lnTo>
                  <a:lnTo>
                    <a:pt x="71310" y="41819"/>
                  </a:lnTo>
                  <a:lnTo>
                    <a:pt x="41819" y="71310"/>
                  </a:lnTo>
                  <a:lnTo>
                    <a:pt x="19345" y="106680"/>
                  </a:lnTo>
                  <a:lnTo>
                    <a:pt x="5026" y="146789"/>
                  </a:lnTo>
                  <a:lnTo>
                    <a:pt x="0" y="190500"/>
                  </a:lnTo>
                  <a:lnTo>
                    <a:pt x="5026" y="234210"/>
                  </a:lnTo>
                  <a:lnTo>
                    <a:pt x="19345" y="274320"/>
                  </a:lnTo>
                  <a:lnTo>
                    <a:pt x="41819" y="309689"/>
                  </a:lnTo>
                  <a:lnTo>
                    <a:pt x="71310" y="339180"/>
                  </a:lnTo>
                  <a:lnTo>
                    <a:pt x="106680" y="361654"/>
                  </a:lnTo>
                  <a:lnTo>
                    <a:pt x="146789" y="375973"/>
                  </a:lnTo>
                  <a:lnTo>
                    <a:pt x="190500" y="381000"/>
                  </a:lnTo>
                  <a:lnTo>
                    <a:pt x="234210" y="375973"/>
                  </a:lnTo>
                  <a:lnTo>
                    <a:pt x="274319" y="361654"/>
                  </a:lnTo>
                  <a:lnTo>
                    <a:pt x="309689" y="339180"/>
                  </a:lnTo>
                  <a:lnTo>
                    <a:pt x="339180" y="309689"/>
                  </a:lnTo>
                  <a:lnTo>
                    <a:pt x="361654" y="274320"/>
                  </a:lnTo>
                  <a:lnTo>
                    <a:pt x="375973" y="234210"/>
                  </a:lnTo>
                  <a:lnTo>
                    <a:pt x="381000" y="190500"/>
                  </a:lnTo>
                  <a:lnTo>
                    <a:pt x="375973" y="146789"/>
                  </a:lnTo>
                  <a:lnTo>
                    <a:pt x="361654" y="106680"/>
                  </a:lnTo>
                  <a:lnTo>
                    <a:pt x="339180" y="71310"/>
                  </a:lnTo>
                  <a:lnTo>
                    <a:pt x="309689" y="41819"/>
                  </a:lnTo>
                  <a:lnTo>
                    <a:pt x="274319" y="19345"/>
                  </a:lnTo>
                  <a:lnTo>
                    <a:pt x="234210" y="5026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C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20950" y="419135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19391" y="2495"/>
                  </a:lnTo>
                  <a:lnTo>
                    <a:pt x="9299" y="9299"/>
                  </a:lnTo>
                  <a:lnTo>
                    <a:pt x="2495" y="19391"/>
                  </a:lnTo>
                  <a:lnTo>
                    <a:pt x="0" y="31750"/>
                  </a:lnTo>
                  <a:lnTo>
                    <a:pt x="2495" y="44108"/>
                  </a:lnTo>
                  <a:lnTo>
                    <a:pt x="9299" y="54200"/>
                  </a:lnTo>
                  <a:lnTo>
                    <a:pt x="19391" y="61004"/>
                  </a:lnTo>
                  <a:lnTo>
                    <a:pt x="31750" y="63500"/>
                  </a:lnTo>
                  <a:lnTo>
                    <a:pt x="44108" y="61004"/>
                  </a:lnTo>
                  <a:lnTo>
                    <a:pt x="54200" y="54200"/>
                  </a:lnTo>
                  <a:lnTo>
                    <a:pt x="61004" y="44108"/>
                  </a:lnTo>
                  <a:lnTo>
                    <a:pt x="63500" y="31750"/>
                  </a:lnTo>
                  <a:lnTo>
                    <a:pt x="61004" y="19391"/>
                  </a:lnTo>
                  <a:lnTo>
                    <a:pt x="54200" y="9299"/>
                  </a:lnTo>
                  <a:lnTo>
                    <a:pt x="44108" y="2495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D8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22650" y="401355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19391" y="2495"/>
                  </a:lnTo>
                  <a:lnTo>
                    <a:pt x="9299" y="9299"/>
                  </a:lnTo>
                  <a:lnTo>
                    <a:pt x="2495" y="19391"/>
                  </a:lnTo>
                  <a:lnTo>
                    <a:pt x="0" y="31750"/>
                  </a:lnTo>
                  <a:lnTo>
                    <a:pt x="2495" y="44108"/>
                  </a:lnTo>
                  <a:lnTo>
                    <a:pt x="9299" y="54200"/>
                  </a:lnTo>
                  <a:lnTo>
                    <a:pt x="19391" y="61004"/>
                  </a:lnTo>
                  <a:lnTo>
                    <a:pt x="31750" y="63500"/>
                  </a:lnTo>
                  <a:lnTo>
                    <a:pt x="44108" y="61004"/>
                  </a:lnTo>
                  <a:lnTo>
                    <a:pt x="54200" y="54200"/>
                  </a:lnTo>
                  <a:lnTo>
                    <a:pt x="61004" y="44108"/>
                  </a:lnTo>
                  <a:lnTo>
                    <a:pt x="63500" y="31750"/>
                  </a:lnTo>
                  <a:lnTo>
                    <a:pt x="61004" y="19391"/>
                  </a:lnTo>
                  <a:lnTo>
                    <a:pt x="54200" y="9299"/>
                  </a:lnTo>
                  <a:lnTo>
                    <a:pt x="44108" y="2495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BD8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05200" y="3986880"/>
            <a:ext cx="229870" cy="95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b="1" spc="-10" dirty="0">
                <a:solidFill>
                  <a:srgbClr val="C8D4DA"/>
                </a:solidFill>
                <a:latin typeface="Arial"/>
                <a:cs typeface="Arial"/>
              </a:rPr>
              <a:t>STOCK</a:t>
            </a:r>
            <a:endParaRPr sz="4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35350" y="461045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19391" y="2495"/>
                </a:lnTo>
                <a:lnTo>
                  <a:pt x="9299" y="9299"/>
                </a:lnTo>
                <a:lnTo>
                  <a:pt x="2495" y="19391"/>
                </a:lnTo>
                <a:lnTo>
                  <a:pt x="0" y="31750"/>
                </a:lnTo>
                <a:lnTo>
                  <a:pt x="2495" y="44108"/>
                </a:lnTo>
                <a:lnTo>
                  <a:pt x="9299" y="54200"/>
                </a:lnTo>
                <a:lnTo>
                  <a:pt x="19391" y="61004"/>
                </a:lnTo>
                <a:lnTo>
                  <a:pt x="31750" y="63500"/>
                </a:lnTo>
                <a:lnTo>
                  <a:pt x="44108" y="61004"/>
                </a:lnTo>
                <a:lnTo>
                  <a:pt x="54200" y="54200"/>
                </a:lnTo>
                <a:lnTo>
                  <a:pt x="61004" y="44108"/>
                </a:lnTo>
                <a:lnTo>
                  <a:pt x="63500" y="31750"/>
                </a:lnTo>
                <a:lnTo>
                  <a:pt x="61004" y="19391"/>
                </a:lnTo>
                <a:lnTo>
                  <a:pt x="54200" y="9299"/>
                </a:lnTo>
                <a:lnTo>
                  <a:pt x="44108" y="2495"/>
                </a:lnTo>
                <a:lnTo>
                  <a:pt x="31750" y="0"/>
                </a:lnTo>
                <a:close/>
              </a:path>
            </a:pathLst>
          </a:custGeom>
          <a:solidFill>
            <a:srgbClr val="BF6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03500" y="4140287"/>
            <a:ext cx="1105535" cy="53911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450" b="1" spc="-10" dirty="0">
                <a:solidFill>
                  <a:srgbClr val="C8D4DA"/>
                </a:solidFill>
                <a:latin typeface="Arial"/>
                <a:cs typeface="Arial"/>
              </a:rPr>
              <a:t>DEMAND</a:t>
            </a:r>
            <a:endParaRPr sz="450">
              <a:latin typeface="Arial"/>
              <a:cs typeface="Arial"/>
            </a:endParaRPr>
          </a:p>
          <a:p>
            <a:pPr marR="107950" algn="ctr">
              <a:lnSpc>
                <a:spcPct val="100000"/>
              </a:lnSpc>
              <a:spcBef>
                <a:spcPts val="260"/>
              </a:spcBef>
            </a:pPr>
            <a:r>
              <a:rPr sz="550" b="1" spc="-25" dirty="0">
                <a:solidFill>
                  <a:srgbClr val="FFFFFF"/>
                </a:solidFill>
                <a:latin typeface="Arial"/>
                <a:cs typeface="Arial"/>
              </a:rPr>
              <a:t>NOW</a:t>
            </a:r>
            <a:endParaRPr sz="550">
              <a:latin typeface="Arial"/>
              <a:cs typeface="Arial"/>
            </a:endParaRPr>
          </a:p>
          <a:p>
            <a:pPr marR="102870" algn="ctr">
              <a:lnSpc>
                <a:spcPct val="100000"/>
              </a:lnSpc>
              <a:spcBef>
                <a:spcPts val="190"/>
              </a:spcBef>
            </a:pPr>
            <a:r>
              <a:rPr sz="400" b="1" spc="-10" dirty="0">
                <a:solidFill>
                  <a:srgbClr val="E4D6C1"/>
                </a:solidFill>
                <a:latin typeface="Arial"/>
                <a:cs typeface="Arial"/>
              </a:rPr>
              <a:t>MATTERS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450" b="1" spc="-20" dirty="0">
                <a:solidFill>
                  <a:srgbClr val="C8D4DA"/>
                </a:solidFill>
                <a:latin typeface="Arial"/>
                <a:cs typeface="Arial"/>
              </a:rPr>
              <a:t>CASH</a:t>
            </a:r>
            <a:endParaRPr sz="4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17" name="object 17"/>
          <p:cNvSpPr txBox="1"/>
          <p:nvPr/>
        </p:nvSpPr>
        <p:spPr>
          <a:xfrm>
            <a:off x="7293299" y="5141216"/>
            <a:ext cx="99060" cy="99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b="1" spc="-25" dirty="0">
                <a:solidFill>
                  <a:srgbClr val="BD8944"/>
                </a:solidFill>
                <a:latin typeface="Arial"/>
                <a:cs typeface="Arial"/>
              </a:rPr>
              <a:t>01</a:t>
            </a:r>
            <a:endParaRPr sz="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900" y="4935570"/>
            <a:ext cx="963930" cy="22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sz="550" b="1" spc="105" dirty="0">
                <a:solidFill>
                  <a:srgbClr val="E4D6C1"/>
                </a:solidFill>
                <a:latin typeface="Arial"/>
                <a:cs typeface="Arial"/>
              </a:rPr>
              <a:t>PREMIUM</a:t>
            </a:r>
            <a:r>
              <a:rPr sz="550" b="1" spc="265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550" b="1" spc="100" dirty="0">
                <a:solidFill>
                  <a:srgbClr val="E4D6C1"/>
                </a:solidFill>
                <a:latin typeface="Arial"/>
                <a:cs typeface="Arial"/>
              </a:rPr>
              <a:t>BOOKLET </a:t>
            </a:r>
            <a:r>
              <a:rPr sz="550" b="1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5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b="1" spc="-10" dirty="0">
                <a:solidFill>
                  <a:srgbClr val="FFFFFF"/>
                </a:solidFill>
                <a:latin typeface="Arial"/>
                <a:cs typeface="Arial"/>
              </a:rPr>
              <a:t>GUIDE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60309" cy="5328285"/>
          </a:xfrm>
          <a:custGeom>
            <a:avLst/>
            <a:gdLst/>
            <a:ahLst/>
            <a:cxnLst/>
            <a:rect l="l" t="t" r="r" b="b"/>
            <a:pathLst>
              <a:path w="7560309" h="5328285">
                <a:moveTo>
                  <a:pt x="7560000" y="0"/>
                </a:moveTo>
                <a:lnTo>
                  <a:pt x="0" y="0"/>
                </a:lnTo>
                <a:lnTo>
                  <a:pt x="0" y="5328000"/>
                </a:lnTo>
                <a:lnTo>
                  <a:pt x="7560000" y="5328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F4F0E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15900" y="222250"/>
            <a:ext cx="1367155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85" dirty="0">
                <a:solidFill>
                  <a:srgbClr val="BD8944"/>
                </a:solidFill>
                <a:latin typeface="Arial"/>
                <a:cs typeface="Arial"/>
              </a:rPr>
              <a:t>THE</a:t>
            </a:r>
            <a:r>
              <a:rPr sz="550" b="1" spc="260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114" dirty="0">
                <a:solidFill>
                  <a:srgbClr val="BD8944"/>
                </a:solidFill>
                <a:latin typeface="Arial"/>
                <a:cs typeface="Arial"/>
              </a:rPr>
              <a:t>LEADERSHIP</a:t>
            </a:r>
            <a:r>
              <a:rPr sz="550" b="1" spc="265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100" dirty="0">
                <a:solidFill>
                  <a:srgbClr val="BD8944"/>
                </a:solidFill>
                <a:latin typeface="Arial"/>
                <a:cs typeface="Arial"/>
              </a:rPr>
              <a:t>PROBLEM </a:t>
            </a:r>
            <a:endParaRPr sz="5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5900" y="389381"/>
            <a:ext cx="3479165" cy="457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90"/>
              </a:spcBef>
            </a:pPr>
            <a:r>
              <a:rPr sz="1300" dirty="0"/>
              <a:t>The</a:t>
            </a:r>
            <a:r>
              <a:rPr sz="1300" spc="35" dirty="0"/>
              <a:t> </a:t>
            </a:r>
            <a:r>
              <a:rPr sz="1300" dirty="0"/>
              <a:t>business</a:t>
            </a:r>
            <a:r>
              <a:rPr sz="1300" spc="35" dirty="0"/>
              <a:t> </a:t>
            </a:r>
            <a:r>
              <a:rPr sz="1300" dirty="0"/>
              <a:t>does</a:t>
            </a:r>
            <a:r>
              <a:rPr sz="1300" spc="35" dirty="0"/>
              <a:t> </a:t>
            </a:r>
            <a:r>
              <a:rPr sz="1300" dirty="0"/>
              <a:t>not</a:t>
            </a:r>
            <a:r>
              <a:rPr sz="1300" spc="35" dirty="0"/>
              <a:t> </a:t>
            </a:r>
            <a:r>
              <a:rPr sz="1300" dirty="0"/>
              <a:t>run</a:t>
            </a:r>
            <a:r>
              <a:rPr sz="1300" spc="35" dirty="0"/>
              <a:t> </a:t>
            </a:r>
            <a:r>
              <a:rPr sz="1300" dirty="0"/>
              <a:t>in</a:t>
            </a:r>
            <a:r>
              <a:rPr sz="1300" spc="35" dirty="0"/>
              <a:t> </a:t>
            </a:r>
            <a:r>
              <a:rPr sz="1300" spc="-10" dirty="0"/>
              <a:t>departments. </a:t>
            </a:r>
            <a:r>
              <a:rPr sz="1300" dirty="0"/>
              <a:t>Neither</a:t>
            </a:r>
            <a:r>
              <a:rPr sz="1300" spc="100" dirty="0"/>
              <a:t> </a:t>
            </a:r>
            <a:r>
              <a:rPr sz="1300" dirty="0"/>
              <a:t>should</a:t>
            </a:r>
            <a:r>
              <a:rPr sz="1300" spc="105" dirty="0"/>
              <a:t> </a:t>
            </a:r>
            <a:r>
              <a:rPr sz="1300" dirty="0"/>
              <a:t>management</a:t>
            </a:r>
            <a:r>
              <a:rPr sz="1300" spc="100" dirty="0"/>
              <a:t> </a:t>
            </a:r>
            <a:r>
              <a:rPr sz="1300" spc="-10" dirty="0"/>
              <a:t>visibility.</a:t>
            </a:r>
            <a:endParaRPr sz="1300"/>
          </a:p>
        </p:txBody>
      </p:sp>
      <p:sp>
        <p:nvSpPr>
          <p:cNvPr id="5" name="object 5"/>
          <p:cNvSpPr txBox="1"/>
          <p:nvPr/>
        </p:nvSpPr>
        <p:spPr>
          <a:xfrm>
            <a:off x="215900" y="927608"/>
            <a:ext cx="2373630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95"/>
              </a:spcBef>
            </a:pP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WhizUnik</a:t>
            </a:r>
            <a:r>
              <a:rPr sz="700" spc="6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brings</a:t>
            </a:r>
            <a:r>
              <a:rPr sz="700" spc="7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the</a:t>
            </a:r>
            <a:r>
              <a:rPr sz="700" spc="6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commercial,</a:t>
            </a:r>
            <a:r>
              <a:rPr sz="700" spc="7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operational</a:t>
            </a:r>
            <a:r>
              <a:rPr sz="700" spc="7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and</a:t>
            </a:r>
            <a:r>
              <a:rPr sz="700" spc="6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07287"/>
                </a:solidFill>
                <a:latin typeface="Arial MT"/>
                <a:cs typeface="Arial MT"/>
              </a:rPr>
              <a:t>financial</a:t>
            </a:r>
            <a:r>
              <a:rPr sz="7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signals</a:t>
            </a:r>
            <a:r>
              <a:rPr sz="700" spc="5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together</a:t>
            </a:r>
            <a:r>
              <a:rPr sz="70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so</a:t>
            </a:r>
            <a:r>
              <a:rPr sz="70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management</a:t>
            </a:r>
            <a:r>
              <a:rPr sz="70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can</a:t>
            </a:r>
            <a:r>
              <a:rPr sz="70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understand</a:t>
            </a:r>
            <a:r>
              <a:rPr sz="700" spc="5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607287"/>
                </a:solidFill>
                <a:latin typeface="Arial MT"/>
                <a:cs typeface="Arial MT"/>
              </a:rPr>
              <a:t>the</a:t>
            </a:r>
            <a:r>
              <a:rPr sz="7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business</a:t>
            </a:r>
            <a:r>
              <a:rPr sz="700" spc="5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and</a:t>
            </a:r>
            <a:r>
              <a:rPr sz="700" spc="5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07287"/>
                </a:solidFill>
                <a:latin typeface="Arial MT"/>
                <a:cs typeface="Arial MT"/>
              </a:rPr>
              <a:t>act</a:t>
            </a:r>
            <a:r>
              <a:rPr sz="700" spc="5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07287"/>
                </a:solidFill>
                <a:latin typeface="Arial MT"/>
                <a:cs typeface="Arial MT"/>
              </a:rPr>
              <a:t>early.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>
                <a:solidFill>
                  <a:srgbClr val="607287"/>
                </a:solidFill>
              </a:rPr>
              <a:t>WHIZUNIK</a:t>
            </a:r>
            <a:r>
              <a:rPr sz="500" spc="10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BUSINESS</a:t>
            </a:r>
            <a:r>
              <a:rPr spc="65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MANAGEMENT</a:t>
            </a:r>
            <a:r>
              <a:rPr spc="70" dirty="0">
                <a:solidFill>
                  <a:srgbClr val="607287"/>
                </a:solidFill>
              </a:rPr>
              <a:t> </a:t>
            </a:r>
            <a:r>
              <a:rPr spc="-10" dirty="0">
                <a:solidFill>
                  <a:srgbClr val="607287"/>
                </a:solidFill>
              </a:rPr>
              <a:t>PLATFORM</a:t>
            </a:r>
            <a:endParaRPr sz="500"/>
          </a:p>
        </p:txBody>
      </p:sp>
      <p:sp>
        <p:nvSpPr>
          <p:cNvPr id="27" name="object 27"/>
          <p:cNvSpPr txBox="1"/>
          <p:nvPr/>
        </p:nvSpPr>
        <p:spPr>
          <a:xfrm>
            <a:off x="7293299" y="5141216"/>
            <a:ext cx="99060" cy="99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b="1" spc="-25" dirty="0">
                <a:solidFill>
                  <a:srgbClr val="BD8944"/>
                </a:solidFill>
                <a:latin typeface="Arial"/>
                <a:cs typeface="Arial"/>
              </a:rPr>
              <a:t>02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E36DFB-A329-355D-DC8E-C895EDCEF3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50" y="1311148"/>
            <a:ext cx="5616509" cy="37443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59600" y="1652620"/>
            <a:ext cx="14986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b="1" spc="-20" dirty="0">
                <a:solidFill>
                  <a:srgbClr val="BD8944"/>
                </a:solidFill>
                <a:latin typeface="Arial"/>
                <a:cs typeface="Arial"/>
              </a:rPr>
              <a:t>LIVE</a:t>
            </a:r>
            <a:endParaRPr sz="4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5900" y="196850"/>
            <a:ext cx="106680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85" dirty="0">
                <a:solidFill>
                  <a:srgbClr val="BD8944"/>
                </a:solidFill>
                <a:latin typeface="Arial"/>
                <a:cs typeface="Arial"/>
              </a:rPr>
              <a:t>THE</a:t>
            </a:r>
            <a:r>
              <a:rPr sz="550" b="1" spc="254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110" dirty="0">
                <a:solidFill>
                  <a:srgbClr val="BD8944"/>
                </a:solidFill>
                <a:latin typeface="Arial"/>
                <a:cs typeface="Arial"/>
              </a:rPr>
              <a:t>PROMOTER</a:t>
            </a:r>
            <a:r>
              <a:rPr sz="550" b="1" spc="270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75" dirty="0">
                <a:solidFill>
                  <a:srgbClr val="BD8944"/>
                </a:solidFill>
                <a:latin typeface="Arial"/>
                <a:cs typeface="Arial"/>
              </a:rPr>
              <a:t>VIEW </a:t>
            </a:r>
            <a:endParaRPr sz="550">
              <a:latin typeface="Arial"/>
              <a:cs typeface="Arial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whole</a:t>
            </a:r>
            <a:r>
              <a:rPr spc="-35" dirty="0"/>
              <a:t> </a:t>
            </a:r>
            <a:r>
              <a:rPr dirty="0"/>
              <a:t>business,</a:t>
            </a:r>
            <a:r>
              <a:rPr spc="-35" dirty="0"/>
              <a:t> </a:t>
            </a:r>
            <a:r>
              <a:rPr dirty="0"/>
              <a:t>at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glance.</a:t>
            </a:r>
          </a:p>
        </p:txBody>
      </p:sp>
      <p:sp>
        <p:nvSpPr>
          <p:cNvPr id="33" name="object 33"/>
          <p:cNvSpPr/>
          <p:nvPr/>
        </p:nvSpPr>
        <p:spPr>
          <a:xfrm>
            <a:off x="232409" y="11595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2409" y="13881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15900" y="630936"/>
            <a:ext cx="1166495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905">
              <a:lnSpc>
                <a:spcPct val="110300"/>
              </a:lnSpc>
              <a:spcBef>
                <a:spcPts val="100"/>
              </a:spcBef>
            </a:pP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</a:t>
            </a:r>
            <a:r>
              <a:rPr sz="650" spc="1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concise</a:t>
            </a:r>
            <a:r>
              <a:rPr sz="650" spc="1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leadership</a:t>
            </a:r>
            <a:r>
              <a:rPr sz="650" spc="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screen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connects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 the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signals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607287"/>
                </a:solidFill>
                <a:latin typeface="Arial MT"/>
                <a:cs typeface="Arial MT"/>
              </a:rPr>
              <a:t>that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previously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sat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with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 separate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teams</a:t>
            </a:r>
            <a:r>
              <a:rPr sz="650" spc="-3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and</a:t>
            </a:r>
            <a:r>
              <a:rPr sz="650" spc="-3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systems.</a:t>
            </a:r>
            <a:endParaRPr sz="650">
              <a:latin typeface="Arial MT"/>
              <a:cs typeface="Arial MT"/>
            </a:endParaRPr>
          </a:p>
          <a:p>
            <a:pPr marL="114300" marR="5080">
              <a:lnSpc>
                <a:spcPct val="113300"/>
              </a:lnSpc>
              <a:spcBef>
                <a:spcPts val="31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See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sales,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demand,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stock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risks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cash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priorities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together.</a:t>
            </a:r>
            <a:endParaRPr sz="500">
              <a:latin typeface="Arial MT"/>
              <a:cs typeface="Arial MT"/>
            </a:endParaRPr>
          </a:p>
          <a:p>
            <a:pPr marL="114300" marR="5080">
              <a:lnSpc>
                <a:spcPct val="113300"/>
              </a:lnSpc>
              <a:spcBef>
                <a:spcPts val="440"/>
              </a:spcBef>
            </a:pPr>
            <a:r>
              <a:rPr sz="500" spc="10" dirty="0">
                <a:solidFill>
                  <a:srgbClr val="0F2A42"/>
                </a:solidFill>
                <a:latin typeface="Arial MT"/>
                <a:cs typeface="Arial MT"/>
              </a:rPr>
              <a:t>Focus</a:t>
            </a:r>
            <a:r>
              <a:rPr sz="500" spc="1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10" dirty="0">
                <a:solidFill>
                  <a:srgbClr val="0F2A42"/>
                </a:solidFill>
                <a:latin typeface="Arial MT"/>
                <a:cs typeface="Arial MT"/>
              </a:rPr>
              <a:t>the</a:t>
            </a:r>
            <a:r>
              <a:rPr sz="500" spc="2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10" dirty="0">
                <a:solidFill>
                  <a:srgbClr val="0F2A42"/>
                </a:solidFill>
                <a:latin typeface="Arial MT"/>
                <a:cs typeface="Arial MT"/>
              </a:rPr>
              <a:t>management</a:t>
            </a:r>
            <a:r>
              <a:rPr sz="500" spc="1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10" dirty="0">
                <a:solidFill>
                  <a:srgbClr val="0F2A42"/>
                </a:solidFill>
                <a:latin typeface="Arial MT"/>
                <a:cs typeface="Arial MT"/>
              </a:rPr>
              <a:t>meeting</a:t>
            </a:r>
            <a:r>
              <a:rPr sz="500" spc="2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0F2A42"/>
                </a:solidFill>
                <a:latin typeface="Arial MT"/>
                <a:cs typeface="Arial MT"/>
              </a:rPr>
              <a:t>on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decisions,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not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updates.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2409" y="16167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17500" y="1565148"/>
            <a:ext cx="954405" cy="19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95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Use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daily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alerts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to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assign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action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before</a:t>
            </a:r>
            <a:r>
              <a:rPr sz="500" spc="8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problems</a:t>
            </a:r>
            <a:r>
              <a:rPr sz="500" spc="8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escalate.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28600" y="4781900"/>
            <a:ext cx="2095500" cy="254000"/>
          </a:xfrm>
          <a:custGeom>
            <a:avLst/>
            <a:gdLst/>
            <a:ahLst/>
            <a:cxnLst/>
            <a:rect l="l" t="t" r="r" b="b"/>
            <a:pathLst>
              <a:path w="2095500" h="254000">
                <a:moveTo>
                  <a:pt x="20447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03200"/>
                </a:lnTo>
                <a:lnTo>
                  <a:pt x="3988" y="222984"/>
                </a:lnTo>
                <a:lnTo>
                  <a:pt x="14869" y="239130"/>
                </a:lnTo>
                <a:lnTo>
                  <a:pt x="31015" y="250011"/>
                </a:lnTo>
                <a:lnTo>
                  <a:pt x="50800" y="254000"/>
                </a:lnTo>
                <a:lnTo>
                  <a:pt x="2044700" y="254000"/>
                </a:lnTo>
                <a:lnTo>
                  <a:pt x="2064484" y="250011"/>
                </a:lnTo>
                <a:lnTo>
                  <a:pt x="2080630" y="239130"/>
                </a:lnTo>
                <a:lnTo>
                  <a:pt x="2091511" y="222984"/>
                </a:lnTo>
                <a:lnTo>
                  <a:pt x="2095500" y="203200"/>
                </a:lnTo>
                <a:lnTo>
                  <a:pt x="2095500" y="50800"/>
                </a:lnTo>
                <a:lnTo>
                  <a:pt x="2091511" y="31015"/>
                </a:lnTo>
                <a:lnTo>
                  <a:pt x="2080630" y="14869"/>
                </a:lnTo>
                <a:lnTo>
                  <a:pt x="2064484" y="3988"/>
                </a:lnTo>
                <a:lnTo>
                  <a:pt x="20447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04800" y="4780177"/>
            <a:ext cx="767080" cy="2146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400" b="1" spc="10" dirty="0">
                <a:solidFill>
                  <a:srgbClr val="E4D6C1"/>
                </a:solidFill>
                <a:latin typeface="Arial"/>
                <a:cs typeface="Arial"/>
              </a:rPr>
              <a:t>PRODUCT</a:t>
            </a:r>
            <a:r>
              <a:rPr sz="400" b="1" spc="70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400" b="1" spc="-20" dirty="0">
                <a:solidFill>
                  <a:srgbClr val="E4D6C1"/>
                </a:solidFill>
                <a:latin typeface="Arial"/>
                <a:cs typeface="Arial"/>
              </a:rPr>
              <a:t>VIEW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Illustrative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-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replace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with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live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spc="-10" dirty="0">
                <a:solidFill>
                  <a:srgbClr val="C8D4DA"/>
                </a:solidFill>
                <a:latin typeface="Arial MT"/>
                <a:cs typeface="Arial MT"/>
              </a:rPr>
              <a:t>screen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>
                <a:solidFill>
                  <a:srgbClr val="607287"/>
                </a:solidFill>
              </a:rPr>
              <a:t>WHIZUNIK</a:t>
            </a:r>
            <a:r>
              <a:rPr sz="500" spc="10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BUSINESS</a:t>
            </a:r>
            <a:r>
              <a:rPr spc="65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MANAGEMENT</a:t>
            </a:r>
            <a:r>
              <a:rPr spc="70" dirty="0">
                <a:solidFill>
                  <a:srgbClr val="607287"/>
                </a:solidFill>
              </a:rPr>
              <a:t> </a:t>
            </a:r>
            <a:r>
              <a:rPr spc="-10" dirty="0">
                <a:solidFill>
                  <a:srgbClr val="607287"/>
                </a:solidFill>
              </a:rPr>
              <a:t>PLATFORM</a:t>
            </a:r>
            <a:endParaRPr sz="500"/>
          </a:p>
        </p:txBody>
      </p:sp>
      <p:sp>
        <p:nvSpPr>
          <p:cNvPr id="41" name="object 41"/>
          <p:cNvSpPr txBox="1"/>
          <p:nvPr/>
        </p:nvSpPr>
        <p:spPr>
          <a:xfrm>
            <a:off x="7293299" y="5141216"/>
            <a:ext cx="99060" cy="99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b="1" spc="-25" dirty="0">
                <a:solidFill>
                  <a:srgbClr val="BD8944"/>
                </a:solidFill>
                <a:latin typeface="Arial"/>
                <a:cs typeface="Arial"/>
              </a:rPr>
              <a:t>03</a:t>
            </a:r>
            <a:endParaRPr sz="500">
              <a:latin typeface="Arial"/>
              <a:cs typeface="Arial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7B349F9-00E2-0CD6-41AF-8CDD2F4E3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81" y="0"/>
            <a:ext cx="7563581" cy="533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 txBox="1"/>
          <p:nvPr/>
        </p:nvSpPr>
        <p:spPr>
          <a:xfrm>
            <a:off x="215900" y="196850"/>
            <a:ext cx="117729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100" dirty="0">
                <a:solidFill>
                  <a:srgbClr val="BD8944"/>
                </a:solidFill>
                <a:latin typeface="Arial"/>
                <a:cs typeface="Arial"/>
              </a:rPr>
              <a:t>DEMAND</a:t>
            </a:r>
            <a:r>
              <a:rPr sz="550" b="1" spc="275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105" dirty="0">
                <a:solidFill>
                  <a:srgbClr val="BD8944"/>
                </a:solidFill>
                <a:latin typeface="Arial"/>
                <a:cs typeface="Arial"/>
              </a:rPr>
              <a:t>INTELLIGENCE </a:t>
            </a:r>
            <a:endParaRPr sz="550">
              <a:latin typeface="Arial"/>
              <a:cs typeface="Arial"/>
            </a:endParaRPr>
          </a:p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Forecast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reorder</a:t>
            </a:r>
            <a:r>
              <a:rPr spc="-4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spc="-10" dirty="0"/>
              <a:t>confidence.</a:t>
            </a:r>
          </a:p>
        </p:txBody>
      </p:sp>
      <p:sp>
        <p:nvSpPr>
          <p:cNvPr id="36" name="object 36"/>
          <p:cNvSpPr/>
          <p:nvPr/>
        </p:nvSpPr>
        <p:spPr>
          <a:xfrm>
            <a:off x="232409" y="11595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2409" y="13881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15900" y="630936"/>
            <a:ext cx="118491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735">
              <a:lnSpc>
                <a:spcPct val="110300"/>
              </a:lnSpc>
              <a:spcBef>
                <a:spcPts val="100"/>
              </a:spcBef>
            </a:pP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Turn</a:t>
            </a:r>
            <a:r>
              <a:rPr sz="650" spc="-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movement</a:t>
            </a:r>
            <a:r>
              <a:rPr sz="650" spc="-2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history</a:t>
            </a:r>
            <a:r>
              <a:rPr sz="650" spc="-2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into</a:t>
            </a:r>
            <a:r>
              <a:rPr sz="650" spc="-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50" dirty="0">
                <a:solidFill>
                  <a:srgbClr val="607287"/>
                </a:solidFill>
                <a:latin typeface="Arial MT"/>
                <a:cs typeface="Arial MT"/>
              </a:rPr>
              <a:t>a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practical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view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 of future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demand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and</a:t>
            </a:r>
            <a:r>
              <a:rPr sz="650" spc="-3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the</a:t>
            </a:r>
            <a:r>
              <a:rPr sz="650" spc="-3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stock</a:t>
            </a:r>
            <a:r>
              <a:rPr sz="650" spc="-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decisions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required</a:t>
            </a:r>
            <a:r>
              <a:rPr sz="650" spc="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607287"/>
                </a:solidFill>
                <a:latin typeface="Arial MT"/>
                <a:cs typeface="Arial MT"/>
              </a:rPr>
              <a:t>now.</a:t>
            </a:r>
            <a:endParaRPr sz="650">
              <a:latin typeface="Arial MT"/>
              <a:cs typeface="Arial MT"/>
            </a:endParaRPr>
          </a:p>
          <a:p>
            <a:pPr marL="114300" marR="5080">
              <a:lnSpc>
                <a:spcPct val="113300"/>
              </a:lnSpc>
              <a:spcBef>
                <a:spcPts val="31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Monthly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forecast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based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on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weighted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baseline,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trend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seasonality.</a:t>
            </a:r>
            <a:endParaRPr sz="500">
              <a:latin typeface="Arial MT"/>
              <a:cs typeface="Arial MT"/>
            </a:endParaRPr>
          </a:p>
          <a:p>
            <a:pPr marL="114300" marR="126364">
              <a:lnSpc>
                <a:spcPct val="113300"/>
              </a:lnSpc>
              <a:spcBef>
                <a:spcPts val="44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Days</a:t>
            </a:r>
            <a:r>
              <a:rPr sz="500" spc="5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of</a:t>
            </a:r>
            <a:r>
              <a:rPr sz="500" spc="5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cover,</a:t>
            </a:r>
            <a:r>
              <a:rPr sz="500" spc="5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stockout</a:t>
            </a:r>
            <a:r>
              <a:rPr sz="500" spc="5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risk</a:t>
            </a:r>
            <a:r>
              <a:rPr sz="500" spc="5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reorder-by</a:t>
            </a:r>
            <a:r>
              <a:rPr sz="500" spc="114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date.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32409" y="16167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17500" y="1565148"/>
            <a:ext cx="93599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95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Recommended</a:t>
            </a:r>
            <a:r>
              <a:rPr sz="500" spc="8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order</a:t>
            </a:r>
            <a:r>
              <a:rPr sz="500" spc="8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based</a:t>
            </a:r>
            <a:r>
              <a:rPr sz="500" spc="9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0F2A42"/>
                </a:solidFill>
                <a:latin typeface="Arial MT"/>
                <a:cs typeface="Arial MT"/>
              </a:rPr>
              <a:t>on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demand,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lead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time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safety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buffer.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28600" y="4781900"/>
            <a:ext cx="2095500" cy="254000"/>
          </a:xfrm>
          <a:custGeom>
            <a:avLst/>
            <a:gdLst/>
            <a:ahLst/>
            <a:cxnLst/>
            <a:rect l="l" t="t" r="r" b="b"/>
            <a:pathLst>
              <a:path w="2095500" h="254000">
                <a:moveTo>
                  <a:pt x="20447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03200"/>
                </a:lnTo>
                <a:lnTo>
                  <a:pt x="3988" y="222984"/>
                </a:lnTo>
                <a:lnTo>
                  <a:pt x="14869" y="239130"/>
                </a:lnTo>
                <a:lnTo>
                  <a:pt x="31015" y="250011"/>
                </a:lnTo>
                <a:lnTo>
                  <a:pt x="50800" y="254000"/>
                </a:lnTo>
                <a:lnTo>
                  <a:pt x="2044700" y="254000"/>
                </a:lnTo>
                <a:lnTo>
                  <a:pt x="2064484" y="250011"/>
                </a:lnTo>
                <a:lnTo>
                  <a:pt x="2080630" y="239130"/>
                </a:lnTo>
                <a:lnTo>
                  <a:pt x="2091511" y="222984"/>
                </a:lnTo>
                <a:lnTo>
                  <a:pt x="2095500" y="203200"/>
                </a:lnTo>
                <a:lnTo>
                  <a:pt x="2095500" y="50800"/>
                </a:lnTo>
                <a:lnTo>
                  <a:pt x="2091511" y="31015"/>
                </a:lnTo>
                <a:lnTo>
                  <a:pt x="2080630" y="14869"/>
                </a:lnTo>
                <a:lnTo>
                  <a:pt x="2064484" y="3988"/>
                </a:lnTo>
                <a:lnTo>
                  <a:pt x="20447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04800" y="4780177"/>
            <a:ext cx="767080" cy="2146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400" b="1" spc="10" dirty="0">
                <a:solidFill>
                  <a:srgbClr val="E4D6C1"/>
                </a:solidFill>
                <a:latin typeface="Arial"/>
                <a:cs typeface="Arial"/>
              </a:rPr>
              <a:t>PRODUCT</a:t>
            </a:r>
            <a:r>
              <a:rPr sz="400" b="1" spc="70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400" b="1" spc="-20" dirty="0">
                <a:solidFill>
                  <a:srgbClr val="E4D6C1"/>
                </a:solidFill>
                <a:latin typeface="Arial"/>
                <a:cs typeface="Arial"/>
              </a:rPr>
              <a:t>VIEW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Illustrative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-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replace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with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live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spc="-10" dirty="0">
                <a:solidFill>
                  <a:srgbClr val="C8D4DA"/>
                </a:solidFill>
                <a:latin typeface="Arial MT"/>
                <a:cs typeface="Arial MT"/>
              </a:rPr>
              <a:t>screen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>
                <a:solidFill>
                  <a:srgbClr val="607287"/>
                </a:solidFill>
              </a:rPr>
              <a:t>WHIZUNIK</a:t>
            </a:r>
            <a:r>
              <a:rPr sz="500" spc="10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BUSINESS</a:t>
            </a:r>
            <a:r>
              <a:rPr spc="65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MANAGEMENT</a:t>
            </a:r>
            <a:r>
              <a:rPr spc="70" dirty="0">
                <a:solidFill>
                  <a:srgbClr val="607287"/>
                </a:solidFill>
              </a:rPr>
              <a:t> </a:t>
            </a:r>
            <a:r>
              <a:rPr spc="-10" dirty="0">
                <a:solidFill>
                  <a:srgbClr val="607287"/>
                </a:solidFill>
              </a:rPr>
              <a:t>PLATFORM</a:t>
            </a:r>
            <a:endParaRPr sz="500"/>
          </a:p>
        </p:txBody>
      </p:sp>
      <p:sp>
        <p:nvSpPr>
          <p:cNvPr id="44" name="object 44"/>
          <p:cNvSpPr txBox="1"/>
          <p:nvPr/>
        </p:nvSpPr>
        <p:spPr>
          <a:xfrm>
            <a:off x="7293299" y="5141216"/>
            <a:ext cx="99060" cy="99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b="1" spc="-25" dirty="0">
                <a:solidFill>
                  <a:srgbClr val="BD8944"/>
                </a:solidFill>
                <a:latin typeface="Arial"/>
                <a:cs typeface="Arial"/>
              </a:rPr>
              <a:t>04</a:t>
            </a:r>
            <a:endParaRPr sz="500">
              <a:latin typeface="Arial"/>
              <a:cs typeface="Arial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63BD742-226C-8F3B-4253-9D4C42DBF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46" y="1581683"/>
            <a:ext cx="5232400" cy="31080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/>
          <p:nvPr/>
        </p:nvSpPr>
        <p:spPr>
          <a:xfrm>
            <a:off x="215900" y="196850"/>
            <a:ext cx="107442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110" dirty="0">
                <a:solidFill>
                  <a:srgbClr val="BD8944"/>
                </a:solidFill>
                <a:latin typeface="Arial"/>
                <a:cs typeface="Arial"/>
              </a:rPr>
              <a:t>COMMERCIAL</a:t>
            </a:r>
            <a:r>
              <a:rPr sz="550" b="1" spc="280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90" dirty="0">
                <a:solidFill>
                  <a:srgbClr val="BD8944"/>
                </a:solidFill>
                <a:latin typeface="Arial"/>
                <a:cs typeface="Arial"/>
              </a:rPr>
              <a:t>ACTION </a:t>
            </a:r>
            <a:endParaRPr sz="550">
              <a:latin typeface="Arial"/>
              <a:cs typeface="Arial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Protect</a:t>
            </a:r>
            <a:r>
              <a:rPr spc="-55" dirty="0"/>
              <a:t> </a:t>
            </a:r>
            <a:r>
              <a:rPr dirty="0"/>
              <a:t>margin.</a:t>
            </a:r>
            <a:r>
              <a:rPr spc="-55" dirty="0"/>
              <a:t> </a:t>
            </a:r>
            <a:r>
              <a:rPr dirty="0"/>
              <a:t>Release</a:t>
            </a:r>
            <a:r>
              <a:rPr spc="-50" dirty="0"/>
              <a:t> </a:t>
            </a:r>
            <a:r>
              <a:rPr dirty="0"/>
              <a:t>excess</a:t>
            </a:r>
            <a:r>
              <a:rPr spc="-55" dirty="0"/>
              <a:t> </a:t>
            </a:r>
            <a:r>
              <a:rPr spc="-10" dirty="0"/>
              <a:t>stock.</a:t>
            </a:r>
          </a:p>
        </p:txBody>
      </p:sp>
      <p:sp>
        <p:nvSpPr>
          <p:cNvPr id="23" name="object 23"/>
          <p:cNvSpPr/>
          <p:nvPr/>
        </p:nvSpPr>
        <p:spPr>
          <a:xfrm>
            <a:off x="232409" y="11595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2409" y="1326603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5589" y="686583"/>
            <a:ext cx="1750061" cy="12004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05410">
              <a:lnSpc>
                <a:spcPct val="110300"/>
              </a:lnSpc>
              <a:spcBef>
                <a:spcPts val="100"/>
              </a:spcBef>
            </a:pPr>
            <a:r>
              <a:rPr lang="en-US" sz="600" spc="-10" dirty="0" err="1">
                <a:solidFill>
                  <a:srgbClr val="607287"/>
                </a:solidFill>
                <a:latin typeface="Arial MT"/>
                <a:cs typeface="Arial MT"/>
              </a:rPr>
              <a:t>WhizUnik</a:t>
            </a:r>
            <a:r>
              <a:rPr lang="en-US" sz="600" spc="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spc="-10" dirty="0">
                <a:solidFill>
                  <a:srgbClr val="607287"/>
                </a:solidFill>
                <a:latin typeface="Arial MT"/>
                <a:cs typeface="Arial MT"/>
              </a:rPr>
              <a:t>translates</a:t>
            </a:r>
            <a:r>
              <a:rPr lang="en-US" sz="600" spc="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spc="-10" dirty="0">
                <a:solidFill>
                  <a:srgbClr val="607287"/>
                </a:solidFill>
                <a:latin typeface="Arial MT"/>
                <a:cs typeface="Arial MT"/>
              </a:rPr>
              <a:t>stock</a:t>
            </a:r>
            <a:r>
              <a:rPr lang="en-US" sz="6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spc="-10" dirty="0">
                <a:solidFill>
                  <a:srgbClr val="607287"/>
                </a:solidFill>
                <a:latin typeface="Arial MT"/>
                <a:cs typeface="Arial MT"/>
              </a:rPr>
              <a:t>position</a:t>
            </a:r>
            <a:r>
              <a:rPr lang="en-US" sz="600" dirty="0">
                <a:solidFill>
                  <a:srgbClr val="607287"/>
                </a:solidFill>
                <a:latin typeface="Arial MT"/>
                <a:cs typeface="Arial MT"/>
              </a:rPr>
              <a:t> and </a:t>
            </a:r>
            <a:r>
              <a:rPr lang="en-US" sz="600" spc="-10" dirty="0">
                <a:solidFill>
                  <a:srgbClr val="607287"/>
                </a:solidFill>
                <a:latin typeface="Arial MT"/>
                <a:cs typeface="Arial MT"/>
              </a:rPr>
              <a:t>sales</a:t>
            </a:r>
            <a:r>
              <a:rPr lang="en-US" sz="6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spc="-10" dirty="0" err="1">
                <a:solidFill>
                  <a:srgbClr val="607287"/>
                </a:solidFill>
                <a:latin typeface="Arial MT"/>
                <a:cs typeface="Arial MT"/>
              </a:rPr>
              <a:t>behaviour</a:t>
            </a:r>
            <a:r>
              <a:rPr lang="en-US" sz="6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dirty="0">
                <a:solidFill>
                  <a:srgbClr val="607287"/>
                </a:solidFill>
                <a:latin typeface="Arial MT"/>
                <a:cs typeface="Arial MT"/>
              </a:rPr>
              <a:t>into</a:t>
            </a:r>
            <a:r>
              <a:rPr lang="en-US" sz="600" spc="-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dirty="0">
                <a:solidFill>
                  <a:srgbClr val="607287"/>
                </a:solidFill>
                <a:latin typeface="Arial MT"/>
                <a:cs typeface="Arial MT"/>
              </a:rPr>
              <a:t>a</a:t>
            </a:r>
            <a:r>
              <a:rPr lang="en-US" sz="600" spc="-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spc="-10" dirty="0">
                <a:solidFill>
                  <a:srgbClr val="607287"/>
                </a:solidFill>
                <a:latin typeface="Arial MT"/>
                <a:cs typeface="Arial MT"/>
              </a:rPr>
              <a:t>pricing</a:t>
            </a:r>
            <a:r>
              <a:rPr lang="en-US" sz="600" spc="-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spc="-10" dirty="0">
                <a:solidFill>
                  <a:srgbClr val="607287"/>
                </a:solidFill>
                <a:latin typeface="Arial MT"/>
                <a:cs typeface="Arial MT"/>
              </a:rPr>
              <a:t>indication</a:t>
            </a:r>
            <a:r>
              <a:rPr lang="en-US" sz="600" spc="-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spc="-20" dirty="0">
                <a:solidFill>
                  <a:srgbClr val="607287"/>
                </a:solidFill>
                <a:latin typeface="Arial MT"/>
                <a:cs typeface="Arial MT"/>
              </a:rPr>
              <a:t>that</a:t>
            </a:r>
            <a:r>
              <a:rPr lang="en-US" sz="6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spc="-10" dirty="0">
                <a:solidFill>
                  <a:srgbClr val="607287"/>
                </a:solidFill>
                <a:latin typeface="Arial MT"/>
                <a:cs typeface="Arial MT"/>
              </a:rPr>
              <a:t>supports</a:t>
            </a:r>
            <a:r>
              <a:rPr lang="en-US" sz="600" spc="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lang="en-US" sz="600" spc="-10" dirty="0">
                <a:solidFill>
                  <a:srgbClr val="607287"/>
                </a:solidFill>
                <a:latin typeface="Arial MT"/>
                <a:cs typeface="Arial MT"/>
              </a:rPr>
              <a:t>commercial judgement</a:t>
            </a:r>
          </a:p>
          <a:p>
            <a:pPr marL="38100" marR="105410">
              <a:lnSpc>
                <a:spcPct val="110300"/>
              </a:lnSpc>
              <a:spcBef>
                <a:spcPts val="100"/>
              </a:spcBef>
            </a:pPr>
            <a:endParaRPr lang="en-US" sz="600" spc="-10" dirty="0">
              <a:solidFill>
                <a:srgbClr val="607287"/>
              </a:solidFill>
              <a:latin typeface="Arial MT"/>
              <a:cs typeface="Arial MT"/>
            </a:endParaRPr>
          </a:p>
          <a:p>
            <a:pPr marL="38100" marR="105410" lvl="1" algn="l">
              <a:lnSpc>
                <a:spcPct val="110300"/>
              </a:lnSpc>
              <a:spcBef>
                <a:spcPts val="100"/>
              </a:spcBef>
            </a:pPr>
            <a:r>
              <a:rPr lang="en-US" sz="50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  <a:r>
              <a:rPr lang="en-US" sz="500" spc="114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500" spc="114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momentum</a:t>
            </a:r>
            <a:r>
              <a:rPr lang="en-US" sz="500" spc="12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" spc="-1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</a:t>
            </a:r>
            <a:r>
              <a:rPr lang="en-US" sz="50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 gaining</a:t>
            </a:r>
            <a:r>
              <a:rPr lang="en-US" sz="500" spc="6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500" spc="6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losing</a:t>
            </a:r>
            <a:r>
              <a:rPr lang="en-US" sz="500" spc="55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" spc="-10" dirty="0">
                <a:solidFill>
                  <a:srgbClr val="0F2A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pace.</a:t>
            </a:r>
            <a:endParaRPr lang="en-US" sz="500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100" marR="105410" algn="l">
              <a:lnSpc>
                <a:spcPct val="110300"/>
              </a:lnSpc>
              <a:spcBef>
                <a:spcPts val="100"/>
              </a:spcBef>
            </a:pP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Hold,</a:t>
            </a:r>
            <a:r>
              <a:rPr lang="en-US"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increase</a:t>
            </a:r>
            <a:r>
              <a:rPr lang="en-US"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or</a:t>
            </a:r>
            <a:r>
              <a:rPr lang="en-US"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reduce</a:t>
            </a:r>
            <a:r>
              <a:rPr lang="en-US"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price</a:t>
            </a:r>
            <a:r>
              <a:rPr lang="en-US"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spc="-20" dirty="0">
                <a:solidFill>
                  <a:srgbClr val="0F2A42"/>
                </a:solidFill>
                <a:latin typeface="Arial MT"/>
                <a:cs typeface="Arial MT"/>
              </a:rPr>
              <a:t>with</a:t>
            </a:r>
            <a:r>
              <a:rPr lang="en-US"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a</a:t>
            </a:r>
            <a:r>
              <a:rPr lang="en-US" sz="500" spc="8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minimum-margin</a:t>
            </a:r>
            <a:r>
              <a:rPr lang="en-US" sz="500" spc="8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spc="-10" dirty="0">
                <a:solidFill>
                  <a:srgbClr val="0F2A42"/>
                </a:solidFill>
                <a:latin typeface="Arial MT"/>
                <a:cs typeface="Arial MT"/>
              </a:rPr>
              <a:t>guardrail.</a:t>
            </a:r>
          </a:p>
          <a:p>
            <a:pPr marL="38100" marR="105410" algn="l">
              <a:lnSpc>
                <a:spcPct val="110300"/>
              </a:lnSpc>
              <a:spcBef>
                <a:spcPts val="100"/>
              </a:spcBef>
            </a:pP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Use</a:t>
            </a:r>
            <a:r>
              <a:rPr lang="en-US"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excess-stock</a:t>
            </a:r>
            <a:r>
              <a:rPr lang="en-US"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insight</a:t>
            </a:r>
            <a:r>
              <a:rPr lang="en-US"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to</a:t>
            </a:r>
            <a:r>
              <a:rPr lang="en-US"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spc="-10" dirty="0">
                <a:solidFill>
                  <a:srgbClr val="0F2A42"/>
                </a:solidFill>
                <a:latin typeface="Arial MT"/>
                <a:cs typeface="Arial MT"/>
              </a:rPr>
              <a:t>decide</a:t>
            </a:r>
            <a:r>
              <a:rPr lang="en-US"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where</a:t>
            </a:r>
            <a:r>
              <a:rPr lang="en-US" sz="500" spc="4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action</a:t>
            </a:r>
            <a:r>
              <a:rPr lang="en-US"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dirty="0">
                <a:solidFill>
                  <a:srgbClr val="0F2A42"/>
                </a:solidFill>
                <a:latin typeface="Arial MT"/>
                <a:cs typeface="Arial MT"/>
              </a:rPr>
              <a:t>is</a:t>
            </a:r>
            <a:r>
              <a:rPr lang="en-US"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lang="en-US" sz="500" spc="-10" dirty="0">
                <a:solidFill>
                  <a:srgbClr val="0F2A42"/>
                </a:solidFill>
                <a:latin typeface="Arial MT"/>
                <a:cs typeface="Arial MT"/>
              </a:rPr>
              <a:t>needed.</a:t>
            </a:r>
            <a:endParaRPr lang="en-US" sz="500" dirty="0">
              <a:latin typeface="Arial MT"/>
              <a:cs typeface="Arial MT"/>
            </a:endParaRPr>
          </a:p>
          <a:p>
            <a:pPr marL="38100" marR="105410" algn="l">
              <a:lnSpc>
                <a:spcPct val="110300"/>
              </a:lnSpc>
              <a:spcBef>
                <a:spcPts val="100"/>
              </a:spcBef>
            </a:pPr>
            <a:endParaRPr lang="en-US" sz="500" dirty="0">
              <a:latin typeface="Arial MT"/>
              <a:cs typeface="Arial MT"/>
            </a:endParaRPr>
          </a:p>
          <a:p>
            <a:pPr marL="38100" marR="105410">
              <a:lnSpc>
                <a:spcPct val="110300"/>
              </a:lnSpc>
              <a:spcBef>
                <a:spcPts val="100"/>
              </a:spcBef>
            </a:pPr>
            <a:endParaRPr sz="500" dirty="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2409" y="1493698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8600" y="4781900"/>
            <a:ext cx="2095500" cy="254000"/>
          </a:xfrm>
          <a:custGeom>
            <a:avLst/>
            <a:gdLst/>
            <a:ahLst/>
            <a:cxnLst/>
            <a:rect l="l" t="t" r="r" b="b"/>
            <a:pathLst>
              <a:path w="2095500" h="254000">
                <a:moveTo>
                  <a:pt x="20447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03200"/>
                </a:lnTo>
                <a:lnTo>
                  <a:pt x="3988" y="222984"/>
                </a:lnTo>
                <a:lnTo>
                  <a:pt x="14869" y="239130"/>
                </a:lnTo>
                <a:lnTo>
                  <a:pt x="31015" y="250011"/>
                </a:lnTo>
                <a:lnTo>
                  <a:pt x="50800" y="254000"/>
                </a:lnTo>
                <a:lnTo>
                  <a:pt x="2044700" y="254000"/>
                </a:lnTo>
                <a:lnTo>
                  <a:pt x="2064484" y="250011"/>
                </a:lnTo>
                <a:lnTo>
                  <a:pt x="2080630" y="239130"/>
                </a:lnTo>
                <a:lnTo>
                  <a:pt x="2091511" y="222984"/>
                </a:lnTo>
                <a:lnTo>
                  <a:pt x="2095500" y="203200"/>
                </a:lnTo>
                <a:lnTo>
                  <a:pt x="2095500" y="50800"/>
                </a:lnTo>
                <a:lnTo>
                  <a:pt x="2091511" y="31015"/>
                </a:lnTo>
                <a:lnTo>
                  <a:pt x="2080630" y="14869"/>
                </a:lnTo>
                <a:lnTo>
                  <a:pt x="2064484" y="3988"/>
                </a:lnTo>
                <a:lnTo>
                  <a:pt x="20447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04800" y="4780177"/>
            <a:ext cx="767080" cy="2146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400" b="1" spc="10" dirty="0">
                <a:solidFill>
                  <a:srgbClr val="E4D6C1"/>
                </a:solidFill>
                <a:latin typeface="Arial"/>
                <a:cs typeface="Arial"/>
              </a:rPr>
              <a:t>PRODUCT</a:t>
            </a:r>
            <a:r>
              <a:rPr sz="400" b="1" spc="70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400" b="1" spc="-20" dirty="0">
                <a:solidFill>
                  <a:srgbClr val="E4D6C1"/>
                </a:solidFill>
                <a:latin typeface="Arial"/>
                <a:cs typeface="Arial"/>
              </a:rPr>
              <a:t>VIEW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Illustrative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-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replace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with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live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spc="-10" dirty="0">
                <a:solidFill>
                  <a:srgbClr val="C8D4DA"/>
                </a:solidFill>
                <a:latin typeface="Arial MT"/>
                <a:cs typeface="Arial MT"/>
              </a:rPr>
              <a:t>screen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>
                <a:solidFill>
                  <a:srgbClr val="607287"/>
                </a:solidFill>
              </a:rPr>
              <a:t>WHIZUNIK</a:t>
            </a:r>
            <a:r>
              <a:rPr sz="500" spc="10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BUSINESS</a:t>
            </a:r>
            <a:r>
              <a:rPr spc="65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MANAGEMENT</a:t>
            </a:r>
            <a:r>
              <a:rPr spc="70" dirty="0">
                <a:solidFill>
                  <a:srgbClr val="607287"/>
                </a:solidFill>
              </a:rPr>
              <a:t> </a:t>
            </a:r>
            <a:r>
              <a:rPr spc="-10" dirty="0">
                <a:solidFill>
                  <a:srgbClr val="607287"/>
                </a:solidFill>
              </a:rPr>
              <a:t>PLATFORM</a:t>
            </a:r>
            <a:endParaRPr sz="500"/>
          </a:p>
        </p:txBody>
      </p:sp>
      <p:sp>
        <p:nvSpPr>
          <p:cNvPr id="31" name="object 31"/>
          <p:cNvSpPr txBox="1"/>
          <p:nvPr/>
        </p:nvSpPr>
        <p:spPr>
          <a:xfrm>
            <a:off x="7293299" y="5141216"/>
            <a:ext cx="99060" cy="99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b="1" spc="-25" dirty="0">
                <a:solidFill>
                  <a:srgbClr val="BD8944"/>
                </a:solidFill>
                <a:latin typeface="Arial"/>
                <a:cs typeface="Arial"/>
              </a:rPr>
              <a:t>05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8CD8B18-68F6-63A0-6D71-7EE12530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318" y="1398617"/>
            <a:ext cx="4910041" cy="3249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59600" y="1652620"/>
            <a:ext cx="14986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b="1" spc="-20" dirty="0">
                <a:solidFill>
                  <a:srgbClr val="BD8944"/>
                </a:solidFill>
                <a:latin typeface="Arial"/>
                <a:cs typeface="Arial"/>
              </a:rPr>
              <a:t>LIVE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03500" y="1784700"/>
            <a:ext cx="698500" cy="2806700"/>
            <a:chOff x="2603500" y="1784700"/>
            <a:chExt cx="698500" cy="2806700"/>
          </a:xfrm>
        </p:grpSpPr>
        <p:sp>
          <p:nvSpPr>
            <p:cNvPr id="5" name="object 5"/>
            <p:cNvSpPr/>
            <p:nvPr/>
          </p:nvSpPr>
          <p:spPr>
            <a:xfrm>
              <a:off x="2603500" y="1784700"/>
              <a:ext cx="698500" cy="2806700"/>
            </a:xfrm>
            <a:custGeom>
              <a:avLst/>
              <a:gdLst/>
              <a:ahLst/>
              <a:cxnLst/>
              <a:rect l="l" t="t" r="r" b="b"/>
              <a:pathLst>
                <a:path w="698500" h="2806700">
                  <a:moveTo>
                    <a:pt x="698500" y="0"/>
                  </a:moveTo>
                  <a:lnTo>
                    <a:pt x="0" y="0"/>
                  </a:lnTo>
                  <a:lnTo>
                    <a:pt x="0" y="2806700"/>
                  </a:lnTo>
                  <a:lnTo>
                    <a:pt x="698500" y="2806700"/>
                  </a:lnTo>
                  <a:lnTo>
                    <a:pt x="698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73350" y="19053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9050" y="0"/>
                  </a:moveTo>
                  <a:lnTo>
                    <a:pt x="11635" y="1497"/>
                  </a:lnTo>
                  <a:lnTo>
                    <a:pt x="5579" y="5579"/>
                  </a:lnTo>
                  <a:lnTo>
                    <a:pt x="1497" y="11635"/>
                  </a:lnTo>
                  <a:lnTo>
                    <a:pt x="0" y="19050"/>
                  </a:lnTo>
                  <a:lnTo>
                    <a:pt x="1497" y="26464"/>
                  </a:lnTo>
                  <a:lnTo>
                    <a:pt x="5579" y="32520"/>
                  </a:lnTo>
                  <a:lnTo>
                    <a:pt x="11635" y="36602"/>
                  </a:lnTo>
                  <a:lnTo>
                    <a:pt x="19050" y="38100"/>
                  </a:lnTo>
                  <a:lnTo>
                    <a:pt x="26464" y="36602"/>
                  </a:lnTo>
                  <a:lnTo>
                    <a:pt x="32520" y="32520"/>
                  </a:lnTo>
                  <a:lnTo>
                    <a:pt x="36602" y="26464"/>
                  </a:lnTo>
                  <a:lnTo>
                    <a:pt x="38100" y="19050"/>
                  </a:lnTo>
                  <a:lnTo>
                    <a:pt x="36602" y="11635"/>
                  </a:lnTo>
                  <a:lnTo>
                    <a:pt x="32520" y="5579"/>
                  </a:lnTo>
                  <a:lnTo>
                    <a:pt x="26464" y="1497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2D8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73350" y="2045050"/>
              <a:ext cx="38100" cy="317500"/>
            </a:xfrm>
            <a:custGeom>
              <a:avLst/>
              <a:gdLst/>
              <a:ahLst/>
              <a:cxnLst/>
              <a:rect l="l" t="t" r="r" b="b"/>
              <a:pathLst>
                <a:path w="38100" h="317500">
                  <a:moveTo>
                    <a:pt x="38100" y="298450"/>
                  </a:moveTo>
                  <a:lnTo>
                    <a:pt x="36601" y="291045"/>
                  </a:lnTo>
                  <a:lnTo>
                    <a:pt x="32512" y="284988"/>
                  </a:lnTo>
                  <a:lnTo>
                    <a:pt x="26454" y="280898"/>
                  </a:lnTo>
                  <a:lnTo>
                    <a:pt x="19050" y="279400"/>
                  </a:lnTo>
                  <a:lnTo>
                    <a:pt x="11633" y="280898"/>
                  </a:lnTo>
                  <a:lnTo>
                    <a:pt x="5575" y="284988"/>
                  </a:lnTo>
                  <a:lnTo>
                    <a:pt x="1485" y="291045"/>
                  </a:lnTo>
                  <a:lnTo>
                    <a:pt x="0" y="298450"/>
                  </a:lnTo>
                  <a:lnTo>
                    <a:pt x="1485" y="305866"/>
                  </a:lnTo>
                  <a:lnTo>
                    <a:pt x="5575" y="311924"/>
                  </a:lnTo>
                  <a:lnTo>
                    <a:pt x="11633" y="316014"/>
                  </a:lnTo>
                  <a:lnTo>
                    <a:pt x="19050" y="317500"/>
                  </a:lnTo>
                  <a:lnTo>
                    <a:pt x="26454" y="316014"/>
                  </a:lnTo>
                  <a:lnTo>
                    <a:pt x="32512" y="311924"/>
                  </a:lnTo>
                  <a:lnTo>
                    <a:pt x="36601" y="305866"/>
                  </a:lnTo>
                  <a:lnTo>
                    <a:pt x="38100" y="298450"/>
                  </a:lnTo>
                  <a:close/>
                </a:path>
                <a:path w="38100" h="317500">
                  <a:moveTo>
                    <a:pt x="38100" y="158750"/>
                  </a:moveTo>
                  <a:lnTo>
                    <a:pt x="36601" y="151345"/>
                  </a:lnTo>
                  <a:lnTo>
                    <a:pt x="32512" y="145288"/>
                  </a:lnTo>
                  <a:lnTo>
                    <a:pt x="26454" y="141198"/>
                  </a:lnTo>
                  <a:lnTo>
                    <a:pt x="19050" y="139700"/>
                  </a:lnTo>
                  <a:lnTo>
                    <a:pt x="11633" y="141198"/>
                  </a:lnTo>
                  <a:lnTo>
                    <a:pt x="5575" y="145288"/>
                  </a:lnTo>
                  <a:lnTo>
                    <a:pt x="1485" y="151345"/>
                  </a:lnTo>
                  <a:lnTo>
                    <a:pt x="0" y="158750"/>
                  </a:lnTo>
                  <a:lnTo>
                    <a:pt x="1485" y="166166"/>
                  </a:lnTo>
                  <a:lnTo>
                    <a:pt x="5575" y="172224"/>
                  </a:lnTo>
                  <a:lnTo>
                    <a:pt x="11633" y="176314"/>
                  </a:lnTo>
                  <a:lnTo>
                    <a:pt x="19050" y="177800"/>
                  </a:lnTo>
                  <a:lnTo>
                    <a:pt x="26454" y="176314"/>
                  </a:lnTo>
                  <a:lnTo>
                    <a:pt x="32512" y="172224"/>
                  </a:lnTo>
                  <a:lnTo>
                    <a:pt x="36601" y="166166"/>
                  </a:lnTo>
                  <a:lnTo>
                    <a:pt x="38100" y="158750"/>
                  </a:lnTo>
                  <a:close/>
                </a:path>
                <a:path w="38100" h="317500">
                  <a:moveTo>
                    <a:pt x="38100" y="19050"/>
                  </a:moveTo>
                  <a:lnTo>
                    <a:pt x="36601" y="11645"/>
                  </a:lnTo>
                  <a:lnTo>
                    <a:pt x="32512" y="5588"/>
                  </a:lnTo>
                  <a:lnTo>
                    <a:pt x="26454" y="1498"/>
                  </a:lnTo>
                  <a:lnTo>
                    <a:pt x="19050" y="0"/>
                  </a:lnTo>
                  <a:lnTo>
                    <a:pt x="11633" y="1498"/>
                  </a:lnTo>
                  <a:lnTo>
                    <a:pt x="5575" y="5588"/>
                  </a:lnTo>
                  <a:lnTo>
                    <a:pt x="1485" y="11645"/>
                  </a:lnTo>
                  <a:lnTo>
                    <a:pt x="0" y="19050"/>
                  </a:lnTo>
                  <a:lnTo>
                    <a:pt x="1485" y="26466"/>
                  </a:lnTo>
                  <a:lnTo>
                    <a:pt x="5575" y="32524"/>
                  </a:lnTo>
                  <a:lnTo>
                    <a:pt x="11633" y="36614"/>
                  </a:lnTo>
                  <a:lnTo>
                    <a:pt x="19050" y="38100"/>
                  </a:lnTo>
                  <a:lnTo>
                    <a:pt x="26454" y="36614"/>
                  </a:lnTo>
                  <a:lnTo>
                    <a:pt x="32512" y="32524"/>
                  </a:lnTo>
                  <a:lnTo>
                    <a:pt x="36601" y="26466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6072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03500" y="1784700"/>
            <a:ext cx="698500" cy="2806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52400" marR="331470">
              <a:lnSpc>
                <a:spcPct val="229199"/>
              </a:lnSpc>
              <a:spcBef>
                <a:spcPts val="280"/>
              </a:spcBef>
            </a:pPr>
            <a:r>
              <a:rPr sz="400" spc="-20" dirty="0">
                <a:solidFill>
                  <a:srgbClr val="2D8077"/>
                </a:solidFill>
                <a:latin typeface="Arial MT"/>
                <a:cs typeface="Arial MT"/>
              </a:rPr>
              <a:t>Overview</a:t>
            </a:r>
            <a:r>
              <a:rPr sz="400" spc="500" dirty="0">
                <a:solidFill>
                  <a:srgbClr val="2D8077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607287"/>
                </a:solidFill>
                <a:latin typeface="Arial MT"/>
                <a:cs typeface="Arial MT"/>
              </a:rPr>
              <a:t>Sales</a:t>
            </a:r>
            <a:r>
              <a:rPr sz="4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607287"/>
                </a:solidFill>
                <a:latin typeface="Arial MT"/>
                <a:cs typeface="Arial MT"/>
              </a:rPr>
              <a:t>Inventory</a:t>
            </a:r>
            <a:r>
              <a:rPr sz="4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607287"/>
                </a:solidFill>
                <a:latin typeface="Arial MT"/>
                <a:cs typeface="Arial MT"/>
              </a:rPr>
              <a:t>Treasury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5900" y="196850"/>
            <a:ext cx="93345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100" dirty="0">
                <a:solidFill>
                  <a:srgbClr val="BD8944"/>
                </a:solidFill>
                <a:latin typeface="Arial"/>
                <a:cs typeface="Arial"/>
              </a:rPr>
              <a:t>SALES</a:t>
            </a:r>
            <a:r>
              <a:rPr sz="550" b="1" spc="270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105" dirty="0">
                <a:solidFill>
                  <a:srgbClr val="BD8944"/>
                </a:solidFill>
                <a:latin typeface="Arial"/>
                <a:cs typeface="Arial"/>
              </a:rPr>
              <a:t>EXECUTION </a:t>
            </a:r>
            <a:endParaRPr sz="550">
              <a:latin typeface="Arial"/>
              <a:cs typeface="Arial"/>
            </a:endParaRPr>
          </a:p>
        </p:txBody>
      </p:sp>
      <p:sp>
        <p:nvSpPr>
          <p:cNvPr id="46" name="object 4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Every</a:t>
            </a:r>
            <a:r>
              <a:rPr spc="-35" dirty="0"/>
              <a:t> </a:t>
            </a:r>
            <a:r>
              <a:rPr dirty="0"/>
              <a:t>account</a:t>
            </a:r>
            <a:r>
              <a:rPr spc="-35" dirty="0"/>
              <a:t> </a:t>
            </a:r>
            <a:r>
              <a:rPr dirty="0"/>
              <a:t>has</a:t>
            </a:r>
            <a:r>
              <a:rPr spc="-30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dirty="0"/>
              <a:t>owner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next</a:t>
            </a:r>
            <a:r>
              <a:rPr spc="-35" dirty="0"/>
              <a:t> </a:t>
            </a:r>
            <a:r>
              <a:rPr spc="-10" dirty="0"/>
              <a:t>move.</a:t>
            </a:r>
          </a:p>
        </p:txBody>
      </p:sp>
      <p:sp>
        <p:nvSpPr>
          <p:cNvPr id="47" name="object 47"/>
          <p:cNvSpPr/>
          <p:nvPr/>
        </p:nvSpPr>
        <p:spPr>
          <a:xfrm>
            <a:off x="232409" y="11595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2409" y="13881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15900" y="630936"/>
            <a:ext cx="110363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0">
              <a:lnSpc>
                <a:spcPct val="110300"/>
              </a:lnSpc>
              <a:spcBef>
                <a:spcPts val="100"/>
              </a:spcBef>
            </a:pP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Manage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 the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complete</a:t>
            </a:r>
            <a:r>
              <a:rPr sz="650" spc="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sales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motion</a:t>
            </a:r>
            <a:r>
              <a:rPr sz="650" spc="-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across</a:t>
            </a:r>
            <a:r>
              <a:rPr sz="650" spc="-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retailers,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marketplaces,</a:t>
            </a:r>
            <a:r>
              <a:rPr sz="650" spc="4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stores,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institutions</a:t>
            </a:r>
            <a:r>
              <a:rPr sz="650" spc="1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and</a:t>
            </a:r>
            <a:r>
              <a:rPr sz="650" spc="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gifting.</a:t>
            </a:r>
            <a:endParaRPr sz="650">
              <a:latin typeface="Arial MT"/>
              <a:cs typeface="Arial MT"/>
            </a:endParaRPr>
          </a:p>
          <a:p>
            <a:pPr marL="114300" marR="23495">
              <a:lnSpc>
                <a:spcPct val="113300"/>
              </a:lnSpc>
              <a:spcBef>
                <a:spcPts val="31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Track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lead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stages,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opportunity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value,</a:t>
            </a:r>
            <a:r>
              <a:rPr sz="500" spc="5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visits,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tasks</a:t>
            </a:r>
            <a:r>
              <a:rPr sz="500" spc="5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timelines.</a:t>
            </a:r>
            <a:endParaRPr sz="500">
              <a:latin typeface="Arial MT"/>
              <a:cs typeface="Arial MT"/>
            </a:endParaRPr>
          </a:p>
          <a:p>
            <a:pPr marL="114300" marR="5080">
              <a:lnSpc>
                <a:spcPct val="113300"/>
              </a:lnSpc>
              <a:spcBef>
                <a:spcPts val="44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Give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every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salesperson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KPIs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clear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accountability.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32409" y="16167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17500" y="1565148"/>
            <a:ext cx="1031875" cy="19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95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See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neglected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accounts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sales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priorities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from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one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place.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28600" y="4781900"/>
            <a:ext cx="2095500" cy="254000"/>
          </a:xfrm>
          <a:custGeom>
            <a:avLst/>
            <a:gdLst/>
            <a:ahLst/>
            <a:cxnLst/>
            <a:rect l="l" t="t" r="r" b="b"/>
            <a:pathLst>
              <a:path w="2095500" h="254000">
                <a:moveTo>
                  <a:pt x="20447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03200"/>
                </a:lnTo>
                <a:lnTo>
                  <a:pt x="3988" y="222984"/>
                </a:lnTo>
                <a:lnTo>
                  <a:pt x="14869" y="239130"/>
                </a:lnTo>
                <a:lnTo>
                  <a:pt x="31015" y="250011"/>
                </a:lnTo>
                <a:lnTo>
                  <a:pt x="50800" y="254000"/>
                </a:lnTo>
                <a:lnTo>
                  <a:pt x="2044700" y="254000"/>
                </a:lnTo>
                <a:lnTo>
                  <a:pt x="2064484" y="250011"/>
                </a:lnTo>
                <a:lnTo>
                  <a:pt x="2080630" y="239130"/>
                </a:lnTo>
                <a:lnTo>
                  <a:pt x="2091511" y="222984"/>
                </a:lnTo>
                <a:lnTo>
                  <a:pt x="2095500" y="203200"/>
                </a:lnTo>
                <a:lnTo>
                  <a:pt x="2095500" y="50800"/>
                </a:lnTo>
                <a:lnTo>
                  <a:pt x="2091511" y="31015"/>
                </a:lnTo>
                <a:lnTo>
                  <a:pt x="2080630" y="14869"/>
                </a:lnTo>
                <a:lnTo>
                  <a:pt x="2064484" y="3988"/>
                </a:lnTo>
                <a:lnTo>
                  <a:pt x="20447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04800" y="4780177"/>
            <a:ext cx="767080" cy="2146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400" b="1" spc="10" dirty="0">
                <a:solidFill>
                  <a:srgbClr val="E4D6C1"/>
                </a:solidFill>
                <a:latin typeface="Arial"/>
                <a:cs typeface="Arial"/>
              </a:rPr>
              <a:t>PRODUCT</a:t>
            </a:r>
            <a:r>
              <a:rPr sz="400" b="1" spc="70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400" b="1" spc="-20" dirty="0">
                <a:solidFill>
                  <a:srgbClr val="E4D6C1"/>
                </a:solidFill>
                <a:latin typeface="Arial"/>
                <a:cs typeface="Arial"/>
              </a:rPr>
              <a:t>VIEW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Illustrative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-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replace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with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live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spc="-10" dirty="0">
                <a:solidFill>
                  <a:srgbClr val="C8D4DA"/>
                </a:solidFill>
                <a:latin typeface="Arial MT"/>
                <a:cs typeface="Arial MT"/>
              </a:rPr>
              <a:t>screen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>
                <a:solidFill>
                  <a:srgbClr val="607287"/>
                </a:solidFill>
              </a:rPr>
              <a:t>WHIZUNIK</a:t>
            </a:r>
            <a:r>
              <a:rPr sz="500" spc="10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BUSINESS</a:t>
            </a:r>
            <a:r>
              <a:rPr spc="65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MANAGEMENT</a:t>
            </a:r>
            <a:r>
              <a:rPr spc="70" dirty="0">
                <a:solidFill>
                  <a:srgbClr val="607287"/>
                </a:solidFill>
              </a:rPr>
              <a:t> </a:t>
            </a:r>
            <a:r>
              <a:rPr spc="-10" dirty="0">
                <a:solidFill>
                  <a:srgbClr val="607287"/>
                </a:solidFill>
              </a:rPr>
              <a:t>PLATFORM</a:t>
            </a:r>
            <a:endParaRPr sz="500"/>
          </a:p>
        </p:txBody>
      </p:sp>
      <p:sp>
        <p:nvSpPr>
          <p:cNvPr id="55" name="object 55"/>
          <p:cNvSpPr txBox="1"/>
          <p:nvPr/>
        </p:nvSpPr>
        <p:spPr>
          <a:xfrm>
            <a:off x="7293299" y="5141216"/>
            <a:ext cx="99060" cy="99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b="1" spc="-25" dirty="0">
                <a:solidFill>
                  <a:srgbClr val="BD8944"/>
                </a:solidFill>
                <a:latin typeface="Arial"/>
                <a:cs typeface="Arial"/>
              </a:rPr>
              <a:t>06</a:t>
            </a:r>
            <a:endParaRPr sz="500">
              <a:latin typeface="Arial"/>
              <a:cs typeface="Arial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EB4B4401-E81C-18BE-9380-05C4A3972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038" y="1574466"/>
            <a:ext cx="5092700" cy="30737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215900" y="196850"/>
            <a:ext cx="941069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105" dirty="0">
                <a:solidFill>
                  <a:srgbClr val="BD8944"/>
                </a:solidFill>
                <a:latin typeface="Arial"/>
                <a:cs typeface="Arial"/>
              </a:rPr>
              <a:t>WORKING</a:t>
            </a:r>
            <a:r>
              <a:rPr sz="550" b="1" spc="265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95" dirty="0">
                <a:solidFill>
                  <a:srgbClr val="BD8944"/>
                </a:solidFill>
                <a:latin typeface="Arial"/>
                <a:cs typeface="Arial"/>
              </a:rPr>
              <a:t>CAPITAL </a:t>
            </a:r>
            <a:endParaRPr sz="550">
              <a:latin typeface="Arial"/>
              <a:cs typeface="Arial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Collections</a:t>
            </a:r>
            <a:r>
              <a:rPr spc="-60" dirty="0"/>
              <a:t> </a:t>
            </a:r>
            <a:r>
              <a:rPr dirty="0"/>
              <a:t>become</a:t>
            </a:r>
            <a:r>
              <a:rPr spc="-6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management</a:t>
            </a:r>
            <a:r>
              <a:rPr spc="-55" dirty="0"/>
              <a:t> </a:t>
            </a:r>
            <a:r>
              <a:rPr spc="-10" dirty="0"/>
              <a:t>priority.</a:t>
            </a:r>
          </a:p>
        </p:txBody>
      </p:sp>
      <p:sp>
        <p:nvSpPr>
          <p:cNvPr id="20" name="object 20"/>
          <p:cNvSpPr/>
          <p:nvPr/>
        </p:nvSpPr>
        <p:spPr>
          <a:xfrm>
            <a:off x="232409" y="11595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2409" y="13881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5900" y="630936"/>
            <a:ext cx="116840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00"/>
              </a:spcBef>
            </a:pP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</a:t>
            </a:r>
            <a:r>
              <a:rPr sz="650" spc="-3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live</a:t>
            </a:r>
            <a:r>
              <a:rPr sz="650" spc="-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debtor</a:t>
            </a:r>
            <a:r>
              <a:rPr sz="650" spc="-3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view</a:t>
            </a:r>
            <a:r>
              <a:rPr sz="650" spc="-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tells</a:t>
            </a:r>
            <a:r>
              <a:rPr sz="650" spc="-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the</a:t>
            </a:r>
            <a:r>
              <a:rPr sz="650" spc="-3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607287"/>
                </a:solidFill>
                <a:latin typeface="Arial MT"/>
                <a:cs typeface="Arial MT"/>
              </a:rPr>
              <a:t>team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what</a:t>
            </a:r>
            <a:r>
              <a:rPr sz="650" spc="-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is</a:t>
            </a:r>
            <a:r>
              <a:rPr sz="650" spc="-2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overdue,</a:t>
            </a:r>
            <a:r>
              <a:rPr sz="650" spc="-2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who</a:t>
            </a:r>
            <a:r>
              <a:rPr sz="650" spc="-2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needs</a:t>
            </a:r>
            <a:r>
              <a:rPr sz="650" spc="-2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50" dirty="0">
                <a:solidFill>
                  <a:srgbClr val="607287"/>
                </a:solidFill>
                <a:latin typeface="Arial MT"/>
                <a:cs typeface="Arial MT"/>
              </a:rPr>
              <a:t>a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call</a:t>
            </a:r>
            <a:r>
              <a:rPr sz="650" spc="-3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and</a:t>
            </a:r>
            <a:r>
              <a:rPr sz="650" spc="-3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where</a:t>
            </a:r>
            <a:r>
              <a:rPr sz="650" spc="-3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cash</a:t>
            </a:r>
            <a:r>
              <a:rPr sz="650" spc="-3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35" dirty="0">
                <a:solidFill>
                  <a:srgbClr val="607287"/>
                </a:solidFill>
                <a:latin typeface="Arial MT"/>
                <a:cs typeface="Arial MT"/>
              </a:rPr>
              <a:t>is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concentrated.</a:t>
            </a:r>
            <a:endParaRPr sz="65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39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Invoice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ageing</a:t>
            </a:r>
            <a:r>
              <a:rPr sz="500" spc="7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overdue</a:t>
            </a:r>
            <a:r>
              <a:rPr sz="500" spc="7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alerts.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500">
              <a:latin typeface="Arial MT"/>
              <a:cs typeface="Arial MT"/>
            </a:endParaRPr>
          </a:p>
          <a:p>
            <a:pPr marL="114300" marR="62230">
              <a:lnSpc>
                <a:spcPct val="113300"/>
              </a:lnSpc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Payment</a:t>
            </a:r>
            <a:r>
              <a:rPr sz="500" spc="8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reminders</a:t>
            </a:r>
            <a:r>
              <a:rPr sz="500" spc="8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8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assigned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follow-up</a:t>
            </a:r>
            <a:r>
              <a:rPr sz="500" spc="8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action.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2409" y="16167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17500" y="1565148"/>
            <a:ext cx="1068070" cy="19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95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Customer</a:t>
            </a:r>
            <a:r>
              <a:rPr sz="500" spc="9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concentration</a:t>
            </a:r>
            <a:r>
              <a:rPr sz="500" spc="9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visibility</a:t>
            </a:r>
            <a:r>
              <a:rPr sz="500" spc="9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0F2A42"/>
                </a:solidFill>
                <a:latin typeface="Arial MT"/>
                <a:cs typeface="Arial MT"/>
              </a:rPr>
              <a:t>for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leadership.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8600" y="4781900"/>
            <a:ext cx="2095500" cy="254000"/>
          </a:xfrm>
          <a:custGeom>
            <a:avLst/>
            <a:gdLst/>
            <a:ahLst/>
            <a:cxnLst/>
            <a:rect l="l" t="t" r="r" b="b"/>
            <a:pathLst>
              <a:path w="2095500" h="254000">
                <a:moveTo>
                  <a:pt x="20447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03200"/>
                </a:lnTo>
                <a:lnTo>
                  <a:pt x="3988" y="222984"/>
                </a:lnTo>
                <a:lnTo>
                  <a:pt x="14869" y="239130"/>
                </a:lnTo>
                <a:lnTo>
                  <a:pt x="31015" y="250011"/>
                </a:lnTo>
                <a:lnTo>
                  <a:pt x="50800" y="254000"/>
                </a:lnTo>
                <a:lnTo>
                  <a:pt x="2044700" y="254000"/>
                </a:lnTo>
                <a:lnTo>
                  <a:pt x="2064484" y="250011"/>
                </a:lnTo>
                <a:lnTo>
                  <a:pt x="2080630" y="239130"/>
                </a:lnTo>
                <a:lnTo>
                  <a:pt x="2091511" y="222984"/>
                </a:lnTo>
                <a:lnTo>
                  <a:pt x="2095500" y="203200"/>
                </a:lnTo>
                <a:lnTo>
                  <a:pt x="2095500" y="50800"/>
                </a:lnTo>
                <a:lnTo>
                  <a:pt x="2091511" y="31015"/>
                </a:lnTo>
                <a:lnTo>
                  <a:pt x="2080630" y="14869"/>
                </a:lnTo>
                <a:lnTo>
                  <a:pt x="2064484" y="3988"/>
                </a:lnTo>
                <a:lnTo>
                  <a:pt x="20447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04800" y="4780177"/>
            <a:ext cx="767080" cy="2146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400" b="1" spc="10" dirty="0">
                <a:solidFill>
                  <a:srgbClr val="E4D6C1"/>
                </a:solidFill>
                <a:latin typeface="Arial"/>
                <a:cs typeface="Arial"/>
              </a:rPr>
              <a:t>PRODUCT</a:t>
            </a:r>
            <a:r>
              <a:rPr sz="400" b="1" spc="70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400" b="1" spc="-20" dirty="0">
                <a:solidFill>
                  <a:srgbClr val="E4D6C1"/>
                </a:solidFill>
                <a:latin typeface="Arial"/>
                <a:cs typeface="Arial"/>
              </a:rPr>
              <a:t>VIEW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Illustrative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-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replace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with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live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spc="-10" dirty="0">
                <a:solidFill>
                  <a:srgbClr val="C8D4DA"/>
                </a:solidFill>
                <a:latin typeface="Arial MT"/>
                <a:cs typeface="Arial MT"/>
              </a:rPr>
              <a:t>screen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>
                <a:solidFill>
                  <a:srgbClr val="607287"/>
                </a:solidFill>
              </a:rPr>
              <a:t>WHIZUNIK</a:t>
            </a:r>
            <a:r>
              <a:rPr sz="500" spc="10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BUSINESS</a:t>
            </a:r>
            <a:r>
              <a:rPr spc="65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MANAGEMENT</a:t>
            </a:r>
            <a:r>
              <a:rPr spc="70" dirty="0">
                <a:solidFill>
                  <a:srgbClr val="607287"/>
                </a:solidFill>
              </a:rPr>
              <a:t> </a:t>
            </a:r>
            <a:r>
              <a:rPr spc="-10" dirty="0">
                <a:solidFill>
                  <a:srgbClr val="607287"/>
                </a:solidFill>
              </a:rPr>
              <a:t>PLATFORM</a:t>
            </a:r>
            <a:endParaRPr sz="500"/>
          </a:p>
        </p:txBody>
      </p:sp>
      <p:sp>
        <p:nvSpPr>
          <p:cNvPr id="28" name="object 28"/>
          <p:cNvSpPr txBox="1"/>
          <p:nvPr/>
        </p:nvSpPr>
        <p:spPr>
          <a:xfrm>
            <a:off x="7293299" y="5141216"/>
            <a:ext cx="99060" cy="99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b="1" spc="-25" dirty="0">
                <a:solidFill>
                  <a:srgbClr val="BD8944"/>
                </a:solidFill>
                <a:latin typeface="Arial"/>
                <a:cs typeface="Arial"/>
              </a:rPr>
              <a:t>07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9700" y="1650080"/>
            <a:ext cx="317500" cy="95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b="1" spc="-10" dirty="0">
                <a:solidFill>
                  <a:srgbClr val="FFFFFF"/>
                </a:solidFill>
                <a:latin typeface="Arial"/>
                <a:cs typeface="Arial"/>
              </a:rPr>
              <a:t>WHIZUNIK</a:t>
            </a:r>
            <a:endParaRPr sz="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59600" y="1652620"/>
            <a:ext cx="14986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b="1" spc="-20" dirty="0">
                <a:solidFill>
                  <a:srgbClr val="BD8944"/>
                </a:solidFill>
                <a:latin typeface="Arial"/>
                <a:cs typeface="Arial"/>
              </a:rPr>
              <a:t>LIVE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03500" y="1784700"/>
            <a:ext cx="698500" cy="2806700"/>
            <a:chOff x="2603500" y="1784700"/>
            <a:chExt cx="698500" cy="2806700"/>
          </a:xfrm>
        </p:grpSpPr>
        <p:sp>
          <p:nvSpPr>
            <p:cNvPr id="5" name="object 5"/>
            <p:cNvSpPr/>
            <p:nvPr/>
          </p:nvSpPr>
          <p:spPr>
            <a:xfrm>
              <a:off x="2603500" y="1784700"/>
              <a:ext cx="698500" cy="2806700"/>
            </a:xfrm>
            <a:custGeom>
              <a:avLst/>
              <a:gdLst/>
              <a:ahLst/>
              <a:cxnLst/>
              <a:rect l="l" t="t" r="r" b="b"/>
              <a:pathLst>
                <a:path w="698500" h="2806700">
                  <a:moveTo>
                    <a:pt x="698500" y="0"/>
                  </a:moveTo>
                  <a:lnTo>
                    <a:pt x="0" y="0"/>
                  </a:lnTo>
                  <a:lnTo>
                    <a:pt x="0" y="2806700"/>
                  </a:lnTo>
                  <a:lnTo>
                    <a:pt x="698500" y="2806700"/>
                  </a:lnTo>
                  <a:lnTo>
                    <a:pt x="698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73350" y="19053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9050" y="0"/>
                  </a:moveTo>
                  <a:lnTo>
                    <a:pt x="11635" y="1497"/>
                  </a:lnTo>
                  <a:lnTo>
                    <a:pt x="5579" y="5579"/>
                  </a:lnTo>
                  <a:lnTo>
                    <a:pt x="1497" y="11635"/>
                  </a:lnTo>
                  <a:lnTo>
                    <a:pt x="0" y="19050"/>
                  </a:lnTo>
                  <a:lnTo>
                    <a:pt x="1497" y="26464"/>
                  </a:lnTo>
                  <a:lnTo>
                    <a:pt x="5579" y="32520"/>
                  </a:lnTo>
                  <a:lnTo>
                    <a:pt x="11635" y="36602"/>
                  </a:lnTo>
                  <a:lnTo>
                    <a:pt x="19050" y="38100"/>
                  </a:lnTo>
                  <a:lnTo>
                    <a:pt x="26464" y="36602"/>
                  </a:lnTo>
                  <a:lnTo>
                    <a:pt x="32520" y="32520"/>
                  </a:lnTo>
                  <a:lnTo>
                    <a:pt x="36602" y="26464"/>
                  </a:lnTo>
                  <a:lnTo>
                    <a:pt x="38100" y="19050"/>
                  </a:lnTo>
                  <a:lnTo>
                    <a:pt x="36602" y="11635"/>
                  </a:lnTo>
                  <a:lnTo>
                    <a:pt x="32520" y="5579"/>
                  </a:lnTo>
                  <a:lnTo>
                    <a:pt x="26464" y="1497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2D8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73350" y="2045050"/>
              <a:ext cx="38100" cy="317500"/>
            </a:xfrm>
            <a:custGeom>
              <a:avLst/>
              <a:gdLst/>
              <a:ahLst/>
              <a:cxnLst/>
              <a:rect l="l" t="t" r="r" b="b"/>
              <a:pathLst>
                <a:path w="38100" h="317500">
                  <a:moveTo>
                    <a:pt x="38100" y="298450"/>
                  </a:moveTo>
                  <a:lnTo>
                    <a:pt x="36601" y="291045"/>
                  </a:lnTo>
                  <a:lnTo>
                    <a:pt x="32512" y="284988"/>
                  </a:lnTo>
                  <a:lnTo>
                    <a:pt x="26454" y="280898"/>
                  </a:lnTo>
                  <a:lnTo>
                    <a:pt x="19050" y="279400"/>
                  </a:lnTo>
                  <a:lnTo>
                    <a:pt x="11633" y="280898"/>
                  </a:lnTo>
                  <a:lnTo>
                    <a:pt x="5575" y="284988"/>
                  </a:lnTo>
                  <a:lnTo>
                    <a:pt x="1485" y="291045"/>
                  </a:lnTo>
                  <a:lnTo>
                    <a:pt x="0" y="298450"/>
                  </a:lnTo>
                  <a:lnTo>
                    <a:pt x="1485" y="305866"/>
                  </a:lnTo>
                  <a:lnTo>
                    <a:pt x="5575" y="311924"/>
                  </a:lnTo>
                  <a:lnTo>
                    <a:pt x="11633" y="316014"/>
                  </a:lnTo>
                  <a:lnTo>
                    <a:pt x="19050" y="317500"/>
                  </a:lnTo>
                  <a:lnTo>
                    <a:pt x="26454" y="316014"/>
                  </a:lnTo>
                  <a:lnTo>
                    <a:pt x="32512" y="311924"/>
                  </a:lnTo>
                  <a:lnTo>
                    <a:pt x="36601" y="305866"/>
                  </a:lnTo>
                  <a:lnTo>
                    <a:pt x="38100" y="298450"/>
                  </a:lnTo>
                  <a:close/>
                </a:path>
                <a:path w="38100" h="317500">
                  <a:moveTo>
                    <a:pt x="38100" y="158750"/>
                  </a:moveTo>
                  <a:lnTo>
                    <a:pt x="36601" y="151345"/>
                  </a:lnTo>
                  <a:lnTo>
                    <a:pt x="32512" y="145288"/>
                  </a:lnTo>
                  <a:lnTo>
                    <a:pt x="26454" y="141198"/>
                  </a:lnTo>
                  <a:lnTo>
                    <a:pt x="19050" y="139700"/>
                  </a:lnTo>
                  <a:lnTo>
                    <a:pt x="11633" y="141198"/>
                  </a:lnTo>
                  <a:lnTo>
                    <a:pt x="5575" y="145288"/>
                  </a:lnTo>
                  <a:lnTo>
                    <a:pt x="1485" y="151345"/>
                  </a:lnTo>
                  <a:lnTo>
                    <a:pt x="0" y="158750"/>
                  </a:lnTo>
                  <a:lnTo>
                    <a:pt x="1485" y="166166"/>
                  </a:lnTo>
                  <a:lnTo>
                    <a:pt x="5575" y="172224"/>
                  </a:lnTo>
                  <a:lnTo>
                    <a:pt x="11633" y="176314"/>
                  </a:lnTo>
                  <a:lnTo>
                    <a:pt x="19050" y="177800"/>
                  </a:lnTo>
                  <a:lnTo>
                    <a:pt x="26454" y="176314"/>
                  </a:lnTo>
                  <a:lnTo>
                    <a:pt x="32512" y="172224"/>
                  </a:lnTo>
                  <a:lnTo>
                    <a:pt x="36601" y="166166"/>
                  </a:lnTo>
                  <a:lnTo>
                    <a:pt x="38100" y="158750"/>
                  </a:lnTo>
                  <a:close/>
                </a:path>
                <a:path w="38100" h="317500">
                  <a:moveTo>
                    <a:pt x="38100" y="19050"/>
                  </a:moveTo>
                  <a:lnTo>
                    <a:pt x="36601" y="11645"/>
                  </a:lnTo>
                  <a:lnTo>
                    <a:pt x="32512" y="5588"/>
                  </a:lnTo>
                  <a:lnTo>
                    <a:pt x="26454" y="1498"/>
                  </a:lnTo>
                  <a:lnTo>
                    <a:pt x="19050" y="0"/>
                  </a:lnTo>
                  <a:lnTo>
                    <a:pt x="11633" y="1498"/>
                  </a:lnTo>
                  <a:lnTo>
                    <a:pt x="5575" y="5588"/>
                  </a:lnTo>
                  <a:lnTo>
                    <a:pt x="1485" y="11645"/>
                  </a:lnTo>
                  <a:lnTo>
                    <a:pt x="0" y="19050"/>
                  </a:lnTo>
                  <a:lnTo>
                    <a:pt x="1485" y="26466"/>
                  </a:lnTo>
                  <a:lnTo>
                    <a:pt x="5575" y="32524"/>
                  </a:lnTo>
                  <a:lnTo>
                    <a:pt x="11633" y="36614"/>
                  </a:lnTo>
                  <a:lnTo>
                    <a:pt x="19050" y="38100"/>
                  </a:lnTo>
                  <a:lnTo>
                    <a:pt x="26454" y="36614"/>
                  </a:lnTo>
                  <a:lnTo>
                    <a:pt x="32512" y="32524"/>
                  </a:lnTo>
                  <a:lnTo>
                    <a:pt x="36601" y="26466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6072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03500" y="1784700"/>
            <a:ext cx="698500" cy="2806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52400" marR="331470">
              <a:lnSpc>
                <a:spcPct val="229199"/>
              </a:lnSpc>
              <a:spcBef>
                <a:spcPts val="280"/>
              </a:spcBef>
            </a:pPr>
            <a:r>
              <a:rPr sz="400" spc="-20" dirty="0">
                <a:solidFill>
                  <a:srgbClr val="2D8077"/>
                </a:solidFill>
                <a:latin typeface="Arial MT"/>
                <a:cs typeface="Arial MT"/>
              </a:rPr>
              <a:t>Overview</a:t>
            </a:r>
            <a:r>
              <a:rPr sz="400" spc="500" dirty="0">
                <a:solidFill>
                  <a:srgbClr val="2D8077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607287"/>
                </a:solidFill>
                <a:latin typeface="Arial MT"/>
                <a:cs typeface="Arial MT"/>
              </a:rPr>
              <a:t>Sales</a:t>
            </a:r>
            <a:r>
              <a:rPr sz="4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607287"/>
                </a:solidFill>
                <a:latin typeface="Arial MT"/>
                <a:cs typeface="Arial MT"/>
              </a:rPr>
              <a:t>Inventory</a:t>
            </a:r>
            <a:r>
              <a:rPr sz="4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607287"/>
                </a:solidFill>
                <a:latin typeface="Arial MT"/>
                <a:cs typeface="Arial MT"/>
              </a:rPr>
              <a:t>Treasury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5900" y="196850"/>
            <a:ext cx="104648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105" dirty="0">
                <a:solidFill>
                  <a:srgbClr val="BD8944"/>
                </a:solidFill>
                <a:latin typeface="Arial"/>
                <a:cs typeface="Arial"/>
              </a:rPr>
              <a:t>PURCHASE</a:t>
            </a:r>
            <a:r>
              <a:rPr sz="550" b="1" spc="285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95" dirty="0">
                <a:solidFill>
                  <a:srgbClr val="BD8944"/>
                </a:solidFill>
                <a:latin typeface="Arial"/>
                <a:cs typeface="Arial"/>
              </a:rPr>
              <a:t>CONTROL </a:t>
            </a:r>
            <a:endParaRPr sz="550">
              <a:latin typeface="Arial"/>
              <a:cs typeface="Arial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Supplier</a:t>
            </a:r>
            <a:r>
              <a:rPr spc="-60" dirty="0"/>
              <a:t> </a:t>
            </a:r>
            <a:r>
              <a:rPr dirty="0"/>
              <a:t>documents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stock</a:t>
            </a:r>
            <a:r>
              <a:rPr spc="-60" dirty="0"/>
              <a:t> </a:t>
            </a:r>
            <a:r>
              <a:rPr dirty="0"/>
              <a:t>movement,</a:t>
            </a:r>
            <a:r>
              <a:rPr spc="-55" dirty="0"/>
              <a:t> </a:t>
            </a:r>
            <a:r>
              <a:rPr spc="-10" dirty="0"/>
              <a:t>connected.</a:t>
            </a:r>
          </a:p>
        </p:txBody>
      </p:sp>
      <p:sp>
        <p:nvSpPr>
          <p:cNvPr id="22" name="object 22"/>
          <p:cNvSpPr/>
          <p:nvPr/>
        </p:nvSpPr>
        <p:spPr>
          <a:xfrm>
            <a:off x="232409" y="11595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2409" y="13881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5900" y="630936"/>
            <a:ext cx="1158875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120">
              <a:lnSpc>
                <a:spcPct val="110300"/>
              </a:lnSpc>
              <a:spcBef>
                <a:spcPts val="100"/>
              </a:spcBef>
            </a:pP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Follow</a:t>
            </a:r>
            <a:r>
              <a:rPr sz="650" spc="-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the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purchase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journey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from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supplier</a:t>
            </a:r>
            <a:r>
              <a:rPr sz="650" spc="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proforma</a:t>
            </a:r>
            <a:r>
              <a:rPr sz="650" spc="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25" dirty="0">
                <a:solidFill>
                  <a:srgbClr val="607287"/>
                </a:solidFill>
                <a:latin typeface="Arial MT"/>
                <a:cs typeface="Arial MT"/>
              </a:rPr>
              <a:t>to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goods</a:t>
            </a:r>
            <a:r>
              <a:rPr sz="650" spc="-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received</a:t>
            </a:r>
            <a:r>
              <a:rPr sz="650" spc="-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and</a:t>
            </a:r>
            <a:r>
              <a:rPr sz="650" spc="-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payment,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with</a:t>
            </a:r>
            <a:r>
              <a:rPr sz="650" spc="-1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clear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 operational trail.</a:t>
            </a:r>
            <a:endParaRPr sz="650">
              <a:latin typeface="Arial MT"/>
              <a:cs typeface="Arial MT"/>
            </a:endParaRPr>
          </a:p>
          <a:p>
            <a:pPr marL="114300" marR="140335">
              <a:lnSpc>
                <a:spcPct val="113300"/>
              </a:lnSpc>
              <a:spcBef>
                <a:spcPts val="31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Link</a:t>
            </a:r>
            <a:r>
              <a:rPr sz="500" spc="4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supplier</a:t>
            </a:r>
            <a:r>
              <a:rPr sz="500" spc="4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PI,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PO,</a:t>
            </a:r>
            <a:r>
              <a:rPr sz="500" spc="4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GRN</a:t>
            </a:r>
            <a:r>
              <a:rPr sz="500" spc="4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purchase</a:t>
            </a:r>
            <a:r>
              <a:rPr sz="500" spc="8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invoice.</a:t>
            </a:r>
            <a:endParaRPr sz="500">
              <a:latin typeface="Arial MT"/>
              <a:cs typeface="Arial MT"/>
            </a:endParaRPr>
          </a:p>
          <a:p>
            <a:pPr marL="114300" marR="5080">
              <a:lnSpc>
                <a:spcPct val="113300"/>
              </a:lnSpc>
              <a:spcBef>
                <a:spcPts val="44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See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incoming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stock,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delivery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status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supplier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due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dates.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32409" y="16167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17500" y="1565148"/>
            <a:ext cx="991235" cy="19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95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Keep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inventory</a:t>
            </a:r>
            <a:r>
              <a:rPr sz="500" spc="7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movement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tied</a:t>
            </a:r>
            <a:r>
              <a:rPr sz="500" spc="7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0F2A42"/>
                </a:solidFill>
                <a:latin typeface="Arial MT"/>
                <a:cs typeface="Arial MT"/>
              </a:rPr>
              <a:t>to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the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actual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business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event.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8600" y="4781900"/>
            <a:ext cx="2095500" cy="254000"/>
          </a:xfrm>
          <a:custGeom>
            <a:avLst/>
            <a:gdLst/>
            <a:ahLst/>
            <a:cxnLst/>
            <a:rect l="l" t="t" r="r" b="b"/>
            <a:pathLst>
              <a:path w="2095500" h="254000">
                <a:moveTo>
                  <a:pt x="20447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03200"/>
                </a:lnTo>
                <a:lnTo>
                  <a:pt x="3988" y="222984"/>
                </a:lnTo>
                <a:lnTo>
                  <a:pt x="14869" y="239130"/>
                </a:lnTo>
                <a:lnTo>
                  <a:pt x="31015" y="250011"/>
                </a:lnTo>
                <a:lnTo>
                  <a:pt x="50800" y="254000"/>
                </a:lnTo>
                <a:lnTo>
                  <a:pt x="2044700" y="254000"/>
                </a:lnTo>
                <a:lnTo>
                  <a:pt x="2064484" y="250011"/>
                </a:lnTo>
                <a:lnTo>
                  <a:pt x="2080630" y="239130"/>
                </a:lnTo>
                <a:lnTo>
                  <a:pt x="2091511" y="222984"/>
                </a:lnTo>
                <a:lnTo>
                  <a:pt x="2095500" y="203200"/>
                </a:lnTo>
                <a:lnTo>
                  <a:pt x="2095500" y="50800"/>
                </a:lnTo>
                <a:lnTo>
                  <a:pt x="2091511" y="31015"/>
                </a:lnTo>
                <a:lnTo>
                  <a:pt x="2080630" y="14869"/>
                </a:lnTo>
                <a:lnTo>
                  <a:pt x="2064484" y="3988"/>
                </a:lnTo>
                <a:lnTo>
                  <a:pt x="20447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04800" y="4780177"/>
            <a:ext cx="767080" cy="2146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400" b="1" spc="10" dirty="0">
                <a:solidFill>
                  <a:srgbClr val="E4D6C1"/>
                </a:solidFill>
                <a:latin typeface="Arial"/>
                <a:cs typeface="Arial"/>
              </a:rPr>
              <a:t>PRODUCT</a:t>
            </a:r>
            <a:r>
              <a:rPr sz="400" b="1" spc="70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400" b="1" spc="-20" dirty="0">
                <a:solidFill>
                  <a:srgbClr val="E4D6C1"/>
                </a:solidFill>
                <a:latin typeface="Arial"/>
                <a:cs typeface="Arial"/>
              </a:rPr>
              <a:t>VIEW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Illustrative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-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replace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with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live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spc="-10" dirty="0">
                <a:solidFill>
                  <a:srgbClr val="C8D4DA"/>
                </a:solidFill>
                <a:latin typeface="Arial MT"/>
                <a:cs typeface="Arial MT"/>
              </a:rPr>
              <a:t>screen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>
                <a:solidFill>
                  <a:srgbClr val="607287"/>
                </a:solidFill>
              </a:rPr>
              <a:t>WHIZUNIK</a:t>
            </a:r>
            <a:r>
              <a:rPr sz="500" spc="10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BUSINESS</a:t>
            </a:r>
            <a:r>
              <a:rPr spc="65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MANAGEMENT</a:t>
            </a:r>
            <a:r>
              <a:rPr spc="70" dirty="0">
                <a:solidFill>
                  <a:srgbClr val="607287"/>
                </a:solidFill>
              </a:rPr>
              <a:t> </a:t>
            </a:r>
            <a:r>
              <a:rPr spc="-10" dirty="0">
                <a:solidFill>
                  <a:srgbClr val="607287"/>
                </a:solidFill>
              </a:rPr>
              <a:t>PLATFORM</a:t>
            </a:r>
            <a:endParaRPr sz="500"/>
          </a:p>
        </p:txBody>
      </p:sp>
      <p:sp>
        <p:nvSpPr>
          <p:cNvPr id="30" name="object 30"/>
          <p:cNvSpPr txBox="1"/>
          <p:nvPr/>
        </p:nvSpPr>
        <p:spPr>
          <a:xfrm>
            <a:off x="7293299" y="5141216"/>
            <a:ext cx="99060" cy="99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b="1" spc="-25" dirty="0">
                <a:solidFill>
                  <a:srgbClr val="BD8944"/>
                </a:solidFill>
                <a:latin typeface="Arial"/>
                <a:cs typeface="Arial"/>
              </a:rPr>
              <a:t>08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441CA38-11C3-39AE-8B97-8458D272D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574" y="1565148"/>
            <a:ext cx="5357925" cy="30177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9700" y="1650080"/>
            <a:ext cx="317500" cy="95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b="1" spc="-10" dirty="0">
                <a:solidFill>
                  <a:srgbClr val="FFFFFF"/>
                </a:solidFill>
                <a:latin typeface="Arial"/>
                <a:cs typeface="Arial"/>
              </a:rPr>
              <a:t>WHIZUNIK</a:t>
            </a:r>
            <a:endParaRPr sz="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59600" y="1652620"/>
            <a:ext cx="14986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b="1" spc="-20" dirty="0">
                <a:solidFill>
                  <a:srgbClr val="BD8944"/>
                </a:solidFill>
                <a:latin typeface="Arial"/>
                <a:cs typeface="Arial"/>
              </a:rPr>
              <a:t>LIVE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03500" y="1784700"/>
            <a:ext cx="698500" cy="2806700"/>
            <a:chOff x="2603500" y="1784700"/>
            <a:chExt cx="698500" cy="2806700"/>
          </a:xfrm>
        </p:grpSpPr>
        <p:sp>
          <p:nvSpPr>
            <p:cNvPr id="5" name="object 5"/>
            <p:cNvSpPr/>
            <p:nvPr/>
          </p:nvSpPr>
          <p:spPr>
            <a:xfrm>
              <a:off x="2603500" y="1784700"/>
              <a:ext cx="698500" cy="2806700"/>
            </a:xfrm>
            <a:custGeom>
              <a:avLst/>
              <a:gdLst/>
              <a:ahLst/>
              <a:cxnLst/>
              <a:rect l="l" t="t" r="r" b="b"/>
              <a:pathLst>
                <a:path w="698500" h="2806700">
                  <a:moveTo>
                    <a:pt x="698500" y="0"/>
                  </a:moveTo>
                  <a:lnTo>
                    <a:pt x="0" y="0"/>
                  </a:lnTo>
                  <a:lnTo>
                    <a:pt x="0" y="2806700"/>
                  </a:lnTo>
                  <a:lnTo>
                    <a:pt x="698500" y="2806700"/>
                  </a:lnTo>
                  <a:lnTo>
                    <a:pt x="698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73350" y="19053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9050" y="0"/>
                  </a:moveTo>
                  <a:lnTo>
                    <a:pt x="11635" y="1497"/>
                  </a:lnTo>
                  <a:lnTo>
                    <a:pt x="5579" y="5579"/>
                  </a:lnTo>
                  <a:lnTo>
                    <a:pt x="1497" y="11635"/>
                  </a:lnTo>
                  <a:lnTo>
                    <a:pt x="0" y="19050"/>
                  </a:lnTo>
                  <a:lnTo>
                    <a:pt x="1497" y="26464"/>
                  </a:lnTo>
                  <a:lnTo>
                    <a:pt x="5579" y="32520"/>
                  </a:lnTo>
                  <a:lnTo>
                    <a:pt x="11635" y="36602"/>
                  </a:lnTo>
                  <a:lnTo>
                    <a:pt x="19050" y="38100"/>
                  </a:lnTo>
                  <a:lnTo>
                    <a:pt x="26464" y="36602"/>
                  </a:lnTo>
                  <a:lnTo>
                    <a:pt x="32520" y="32520"/>
                  </a:lnTo>
                  <a:lnTo>
                    <a:pt x="36602" y="26464"/>
                  </a:lnTo>
                  <a:lnTo>
                    <a:pt x="38100" y="19050"/>
                  </a:lnTo>
                  <a:lnTo>
                    <a:pt x="36602" y="11635"/>
                  </a:lnTo>
                  <a:lnTo>
                    <a:pt x="32520" y="5579"/>
                  </a:lnTo>
                  <a:lnTo>
                    <a:pt x="26464" y="1497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2D8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73350" y="2045050"/>
              <a:ext cx="38100" cy="317500"/>
            </a:xfrm>
            <a:custGeom>
              <a:avLst/>
              <a:gdLst/>
              <a:ahLst/>
              <a:cxnLst/>
              <a:rect l="l" t="t" r="r" b="b"/>
              <a:pathLst>
                <a:path w="38100" h="317500">
                  <a:moveTo>
                    <a:pt x="38100" y="298450"/>
                  </a:moveTo>
                  <a:lnTo>
                    <a:pt x="36601" y="291045"/>
                  </a:lnTo>
                  <a:lnTo>
                    <a:pt x="32512" y="284988"/>
                  </a:lnTo>
                  <a:lnTo>
                    <a:pt x="26454" y="280898"/>
                  </a:lnTo>
                  <a:lnTo>
                    <a:pt x="19050" y="279400"/>
                  </a:lnTo>
                  <a:lnTo>
                    <a:pt x="11633" y="280898"/>
                  </a:lnTo>
                  <a:lnTo>
                    <a:pt x="5575" y="284988"/>
                  </a:lnTo>
                  <a:lnTo>
                    <a:pt x="1485" y="291045"/>
                  </a:lnTo>
                  <a:lnTo>
                    <a:pt x="0" y="298450"/>
                  </a:lnTo>
                  <a:lnTo>
                    <a:pt x="1485" y="305866"/>
                  </a:lnTo>
                  <a:lnTo>
                    <a:pt x="5575" y="311924"/>
                  </a:lnTo>
                  <a:lnTo>
                    <a:pt x="11633" y="316014"/>
                  </a:lnTo>
                  <a:lnTo>
                    <a:pt x="19050" y="317500"/>
                  </a:lnTo>
                  <a:lnTo>
                    <a:pt x="26454" y="316014"/>
                  </a:lnTo>
                  <a:lnTo>
                    <a:pt x="32512" y="311924"/>
                  </a:lnTo>
                  <a:lnTo>
                    <a:pt x="36601" y="305866"/>
                  </a:lnTo>
                  <a:lnTo>
                    <a:pt x="38100" y="298450"/>
                  </a:lnTo>
                  <a:close/>
                </a:path>
                <a:path w="38100" h="317500">
                  <a:moveTo>
                    <a:pt x="38100" y="158750"/>
                  </a:moveTo>
                  <a:lnTo>
                    <a:pt x="36601" y="151345"/>
                  </a:lnTo>
                  <a:lnTo>
                    <a:pt x="32512" y="145288"/>
                  </a:lnTo>
                  <a:lnTo>
                    <a:pt x="26454" y="141198"/>
                  </a:lnTo>
                  <a:lnTo>
                    <a:pt x="19050" y="139700"/>
                  </a:lnTo>
                  <a:lnTo>
                    <a:pt x="11633" y="141198"/>
                  </a:lnTo>
                  <a:lnTo>
                    <a:pt x="5575" y="145288"/>
                  </a:lnTo>
                  <a:lnTo>
                    <a:pt x="1485" y="151345"/>
                  </a:lnTo>
                  <a:lnTo>
                    <a:pt x="0" y="158750"/>
                  </a:lnTo>
                  <a:lnTo>
                    <a:pt x="1485" y="166166"/>
                  </a:lnTo>
                  <a:lnTo>
                    <a:pt x="5575" y="172224"/>
                  </a:lnTo>
                  <a:lnTo>
                    <a:pt x="11633" y="176314"/>
                  </a:lnTo>
                  <a:lnTo>
                    <a:pt x="19050" y="177800"/>
                  </a:lnTo>
                  <a:lnTo>
                    <a:pt x="26454" y="176314"/>
                  </a:lnTo>
                  <a:lnTo>
                    <a:pt x="32512" y="172224"/>
                  </a:lnTo>
                  <a:lnTo>
                    <a:pt x="36601" y="166166"/>
                  </a:lnTo>
                  <a:lnTo>
                    <a:pt x="38100" y="158750"/>
                  </a:lnTo>
                  <a:close/>
                </a:path>
                <a:path w="38100" h="317500">
                  <a:moveTo>
                    <a:pt x="38100" y="19050"/>
                  </a:moveTo>
                  <a:lnTo>
                    <a:pt x="36601" y="11645"/>
                  </a:lnTo>
                  <a:lnTo>
                    <a:pt x="32512" y="5588"/>
                  </a:lnTo>
                  <a:lnTo>
                    <a:pt x="26454" y="1498"/>
                  </a:lnTo>
                  <a:lnTo>
                    <a:pt x="19050" y="0"/>
                  </a:lnTo>
                  <a:lnTo>
                    <a:pt x="11633" y="1498"/>
                  </a:lnTo>
                  <a:lnTo>
                    <a:pt x="5575" y="5588"/>
                  </a:lnTo>
                  <a:lnTo>
                    <a:pt x="1485" y="11645"/>
                  </a:lnTo>
                  <a:lnTo>
                    <a:pt x="0" y="19050"/>
                  </a:lnTo>
                  <a:lnTo>
                    <a:pt x="1485" y="26466"/>
                  </a:lnTo>
                  <a:lnTo>
                    <a:pt x="5575" y="32524"/>
                  </a:lnTo>
                  <a:lnTo>
                    <a:pt x="11633" y="36614"/>
                  </a:lnTo>
                  <a:lnTo>
                    <a:pt x="19050" y="38100"/>
                  </a:lnTo>
                  <a:lnTo>
                    <a:pt x="26454" y="36614"/>
                  </a:lnTo>
                  <a:lnTo>
                    <a:pt x="32512" y="32524"/>
                  </a:lnTo>
                  <a:lnTo>
                    <a:pt x="36601" y="26466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6072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03500" y="1784700"/>
            <a:ext cx="698500" cy="2806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52400" marR="331470">
              <a:lnSpc>
                <a:spcPct val="229199"/>
              </a:lnSpc>
              <a:spcBef>
                <a:spcPts val="280"/>
              </a:spcBef>
            </a:pPr>
            <a:r>
              <a:rPr sz="400" spc="-20" dirty="0">
                <a:solidFill>
                  <a:srgbClr val="2D8077"/>
                </a:solidFill>
                <a:latin typeface="Arial MT"/>
                <a:cs typeface="Arial MT"/>
              </a:rPr>
              <a:t>Overview</a:t>
            </a:r>
            <a:r>
              <a:rPr sz="400" spc="500" dirty="0">
                <a:solidFill>
                  <a:srgbClr val="2D8077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607287"/>
                </a:solidFill>
                <a:latin typeface="Arial MT"/>
                <a:cs typeface="Arial MT"/>
              </a:rPr>
              <a:t>Sales</a:t>
            </a:r>
            <a:r>
              <a:rPr sz="4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607287"/>
                </a:solidFill>
                <a:latin typeface="Arial MT"/>
                <a:cs typeface="Arial MT"/>
              </a:rPr>
              <a:t>Inventory</a:t>
            </a:r>
            <a:r>
              <a:rPr sz="40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607287"/>
                </a:solidFill>
                <a:latin typeface="Arial MT"/>
                <a:cs typeface="Arial MT"/>
              </a:rPr>
              <a:t>Treasury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6300" y="1844390"/>
            <a:ext cx="857250" cy="2171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b="1" dirty="0">
                <a:solidFill>
                  <a:srgbClr val="0F2A42"/>
                </a:solidFill>
                <a:latin typeface="Arial"/>
                <a:cs typeface="Arial"/>
              </a:rPr>
              <a:t>Treasury</a:t>
            </a:r>
            <a:r>
              <a:rPr sz="600" b="1" spc="105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600" b="1" spc="-20" dirty="0">
                <a:solidFill>
                  <a:srgbClr val="0F2A42"/>
                </a:solidFill>
                <a:latin typeface="Arial"/>
                <a:cs typeface="Arial"/>
              </a:rPr>
              <a:t>view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350" dirty="0">
                <a:solidFill>
                  <a:srgbClr val="607287"/>
                </a:solidFill>
                <a:latin typeface="Arial MT"/>
                <a:cs typeface="Arial MT"/>
              </a:rPr>
              <a:t>Expected</a:t>
            </a:r>
            <a:r>
              <a:rPr sz="350" spc="7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607287"/>
                </a:solidFill>
                <a:latin typeface="Arial MT"/>
                <a:cs typeface="Arial MT"/>
              </a:rPr>
              <a:t>inflows</a:t>
            </a:r>
            <a:r>
              <a:rPr sz="350" spc="7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607287"/>
                </a:solidFill>
                <a:latin typeface="Arial MT"/>
                <a:cs typeface="Arial MT"/>
              </a:rPr>
              <a:t>and</a:t>
            </a:r>
            <a:r>
              <a:rPr sz="350" spc="7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607287"/>
                </a:solidFill>
                <a:latin typeface="Arial MT"/>
                <a:cs typeface="Arial MT"/>
              </a:rPr>
              <a:t>planned</a:t>
            </a:r>
            <a:r>
              <a:rPr sz="350" spc="7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350" spc="-10" dirty="0">
                <a:solidFill>
                  <a:srgbClr val="607287"/>
                </a:solidFill>
                <a:latin typeface="Arial MT"/>
                <a:cs typeface="Arial MT"/>
              </a:rPr>
              <a:t>outflows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29000" y="2114900"/>
            <a:ext cx="1587500" cy="266700"/>
          </a:xfrm>
          <a:custGeom>
            <a:avLst/>
            <a:gdLst/>
            <a:ahLst/>
            <a:cxnLst/>
            <a:rect l="l" t="t" r="r" b="b"/>
            <a:pathLst>
              <a:path w="1587500" h="266700">
                <a:moveTo>
                  <a:pt x="1549400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228600"/>
                </a:lnTo>
                <a:lnTo>
                  <a:pt x="2991" y="243438"/>
                </a:lnTo>
                <a:lnTo>
                  <a:pt x="11151" y="255548"/>
                </a:lnTo>
                <a:lnTo>
                  <a:pt x="23261" y="263708"/>
                </a:lnTo>
                <a:lnTo>
                  <a:pt x="38100" y="266700"/>
                </a:lnTo>
                <a:lnTo>
                  <a:pt x="1549400" y="266700"/>
                </a:lnTo>
                <a:lnTo>
                  <a:pt x="1564238" y="263708"/>
                </a:lnTo>
                <a:lnTo>
                  <a:pt x="1576348" y="255548"/>
                </a:lnTo>
                <a:lnTo>
                  <a:pt x="1584508" y="243438"/>
                </a:lnTo>
                <a:lnTo>
                  <a:pt x="1587500" y="228600"/>
                </a:lnTo>
                <a:lnTo>
                  <a:pt x="1587500" y="38100"/>
                </a:lnTo>
                <a:lnTo>
                  <a:pt x="1584508" y="23261"/>
                </a:lnTo>
                <a:lnTo>
                  <a:pt x="1576348" y="11151"/>
                </a:lnTo>
                <a:lnTo>
                  <a:pt x="1564238" y="2991"/>
                </a:lnTo>
                <a:lnTo>
                  <a:pt x="1549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9800" y="2122520"/>
            <a:ext cx="530860" cy="216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2080" indent="-119380">
              <a:lnSpc>
                <a:spcPct val="100000"/>
              </a:lnSpc>
              <a:spcBef>
                <a:spcPts val="90"/>
              </a:spcBef>
              <a:buFont typeface="MS Gothic"/>
              <a:buChar char="■"/>
              <a:tabLst>
                <a:tab pos="132080" algn="l"/>
              </a:tabLst>
            </a:pPr>
            <a:r>
              <a:rPr sz="750" b="1" spc="-10" dirty="0">
                <a:solidFill>
                  <a:srgbClr val="2D8077"/>
                </a:solidFill>
                <a:latin typeface="Arial"/>
                <a:cs typeface="Arial"/>
              </a:rPr>
              <a:t>42.6L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300" b="1" dirty="0">
                <a:solidFill>
                  <a:srgbClr val="607287"/>
                </a:solidFill>
                <a:latin typeface="Arial"/>
                <a:cs typeface="Arial"/>
              </a:rPr>
              <a:t>EXPECTED</a:t>
            </a:r>
            <a:r>
              <a:rPr sz="300" b="1" spc="45" dirty="0">
                <a:solidFill>
                  <a:srgbClr val="607287"/>
                </a:solidFill>
                <a:latin typeface="Arial"/>
                <a:cs typeface="Arial"/>
              </a:rPr>
              <a:t> </a:t>
            </a:r>
            <a:r>
              <a:rPr sz="300" b="1" spc="-10" dirty="0">
                <a:solidFill>
                  <a:srgbClr val="607287"/>
                </a:solidFill>
                <a:latin typeface="Arial"/>
                <a:cs typeface="Arial"/>
              </a:rPr>
              <a:t>COLLECTIONS</a:t>
            </a:r>
            <a:endParaRPr sz="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29000" y="2445100"/>
            <a:ext cx="1587500" cy="266700"/>
          </a:xfrm>
          <a:custGeom>
            <a:avLst/>
            <a:gdLst/>
            <a:ahLst/>
            <a:cxnLst/>
            <a:rect l="l" t="t" r="r" b="b"/>
            <a:pathLst>
              <a:path w="1587500" h="266700">
                <a:moveTo>
                  <a:pt x="1549400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228600"/>
                </a:lnTo>
                <a:lnTo>
                  <a:pt x="2991" y="243438"/>
                </a:lnTo>
                <a:lnTo>
                  <a:pt x="11151" y="255548"/>
                </a:lnTo>
                <a:lnTo>
                  <a:pt x="23261" y="263708"/>
                </a:lnTo>
                <a:lnTo>
                  <a:pt x="38100" y="266700"/>
                </a:lnTo>
                <a:lnTo>
                  <a:pt x="1549400" y="266700"/>
                </a:lnTo>
                <a:lnTo>
                  <a:pt x="1564238" y="263708"/>
                </a:lnTo>
                <a:lnTo>
                  <a:pt x="1576348" y="255548"/>
                </a:lnTo>
                <a:lnTo>
                  <a:pt x="1584508" y="243438"/>
                </a:lnTo>
                <a:lnTo>
                  <a:pt x="1587500" y="228600"/>
                </a:lnTo>
                <a:lnTo>
                  <a:pt x="1587500" y="38100"/>
                </a:lnTo>
                <a:lnTo>
                  <a:pt x="1584508" y="23261"/>
                </a:lnTo>
                <a:lnTo>
                  <a:pt x="1576348" y="11151"/>
                </a:lnTo>
                <a:lnTo>
                  <a:pt x="1564238" y="2991"/>
                </a:lnTo>
                <a:lnTo>
                  <a:pt x="1549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79800" y="2452720"/>
            <a:ext cx="530860" cy="216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2080" indent="-119380">
              <a:lnSpc>
                <a:spcPct val="100000"/>
              </a:lnSpc>
              <a:spcBef>
                <a:spcPts val="90"/>
              </a:spcBef>
              <a:buFont typeface="MS Gothic"/>
              <a:buChar char="■"/>
              <a:tabLst>
                <a:tab pos="132080" algn="l"/>
              </a:tabLst>
            </a:pPr>
            <a:r>
              <a:rPr sz="750" b="1" spc="-10" dirty="0">
                <a:solidFill>
                  <a:srgbClr val="BD8944"/>
                </a:solidFill>
                <a:latin typeface="Arial"/>
                <a:cs typeface="Arial"/>
              </a:rPr>
              <a:t>12.1L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300" b="1" dirty="0">
                <a:solidFill>
                  <a:srgbClr val="607287"/>
                </a:solidFill>
                <a:latin typeface="Arial"/>
                <a:cs typeface="Arial"/>
              </a:rPr>
              <a:t>SUPPLIER</a:t>
            </a:r>
            <a:r>
              <a:rPr sz="300" b="1" spc="45" dirty="0">
                <a:solidFill>
                  <a:srgbClr val="607287"/>
                </a:solidFill>
                <a:latin typeface="Arial"/>
                <a:cs typeface="Arial"/>
              </a:rPr>
              <a:t> </a:t>
            </a:r>
            <a:r>
              <a:rPr sz="300" b="1" spc="-10" dirty="0">
                <a:solidFill>
                  <a:srgbClr val="607287"/>
                </a:solidFill>
                <a:latin typeface="Arial"/>
                <a:cs typeface="Arial"/>
              </a:rPr>
              <a:t>COMMITMENTS</a:t>
            </a:r>
            <a:endParaRPr sz="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29000" y="4070700"/>
            <a:ext cx="1587500" cy="317500"/>
          </a:xfrm>
          <a:custGeom>
            <a:avLst/>
            <a:gdLst/>
            <a:ahLst/>
            <a:cxnLst/>
            <a:rect l="l" t="t" r="r" b="b"/>
            <a:pathLst>
              <a:path w="1587500" h="317500">
                <a:moveTo>
                  <a:pt x="0" y="317500"/>
                </a:moveTo>
                <a:lnTo>
                  <a:pt x="279400" y="228600"/>
                </a:lnTo>
                <a:lnTo>
                  <a:pt x="584200" y="266700"/>
                </a:lnTo>
                <a:lnTo>
                  <a:pt x="901700" y="88900"/>
                </a:lnTo>
                <a:lnTo>
                  <a:pt x="1206500" y="139700"/>
                </a:lnTo>
                <a:lnTo>
                  <a:pt x="1587500" y="0"/>
                </a:lnTo>
              </a:path>
            </a:pathLst>
          </a:custGeom>
          <a:ln w="15240">
            <a:solidFill>
              <a:srgbClr val="2D80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5900" y="196850"/>
            <a:ext cx="54229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100" dirty="0">
                <a:solidFill>
                  <a:srgbClr val="BD8944"/>
                </a:solidFill>
                <a:latin typeface="Arial"/>
                <a:cs typeface="Arial"/>
              </a:rPr>
              <a:t>TREASURY </a:t>
            </a:r>
            <a:endParaRPr sz="550">
              <a:latin typeface="Arial"/>
              <a:cs typeface="Arial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See</a:t>
            </a:r>
            <a:r>
              <a:rPr spc="-45" dirty="0"/>
              <a:t> </a:t>
            </a:r>
            <a:r>
              <a:rPr dirty="0"/>
              <a:t>incoming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outgoing</a:t>
            </a:r>
            <a:r>
              <a:rPr spc="-45" dirty="0"/>
              <a:t> </a:t>
            </a:r>
            <a:r>
              <a:rPr dirty="0"/>
              <a:t>cash</a:t>
            </a:r>
            <a:r>
              <a:rPr spc="-45" dirty="0"/>
              <a:t> </a:t>
            </a:r>
            <a:r>
              <a:rPr spc="-10" dirty="0"/>
              <a:t>together.</a:t>
            </a:r>
          </a:p>
        </p:txBody>
      </p:sp>
      <p:sp>
        <p:nvSpPr>
          <p:cNvPr id="17" name="object 17"/>
          <p:cNvSpPr/>
          <p:nvPr/>
        </p:nvSpPr>
        <p:spPr>
          <a:xfrm>
            <a:off x="232409" y="11595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2409" y="13881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15900" y="630936"/>
            <a:ext cx="115570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00"/>
              </a:spcBef>
            </a:pP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Treasury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brings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 receivables,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payables</a:t>
            </a:r>
            <a:r>
              <a:rPr sz="650" spc="-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and</a:t>
            </a:r>
            <a:r>
              <a:rPr sz="650" spc="-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planned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payment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commitments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into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one</a:t>
            </a:r>
            <a:r>
              <a:rPr sz="650" spc="-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decision</a:t>
            </a:r>
            <a:r>
              <a:rPr sz="6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view.</a:t>
            </a:r>
            <a:endParaRPr sz="650">
              <a:latin typeface="Arial MT"/>
              <a:cs typeface="Arial MT"/>
            </a:endParaRPr>
          </a:p>
          <a:p>
            <a:pPr marL="114300" marR="85725">
              <a:lnSpc>
                <a:spcPct val="113300"/>
              </a:lnSpc>
              <a:spcBef>
                <a:spcPts val="31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Prioritise</a:t>
            </a:r>
            <a:r>
              <a:rPr sz="500" spc="8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supplier</a:t>
            </a:r>
            <a:r>
              <a:rPr sz="500" spc="8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payments</a:t>
            </a:r>
            <a:r>
              <a:rPr sz="500" spc="8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0F2A42"/>
                </a:solidFill>
                <a:latin typeface="Arial MT"/>
                <a:cs typeface="Arial MT"/>
              </a:rPr>
              <a:t>with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visibility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of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expected</a:t>
            </a:r>
            <a:r>
              <a:rPr sz="500" spc="5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collections.</a:t>
            </a:r>
            <a:endParaRPr sz="500">
              <a:latin typeface="Arial MT"/>
              <a:cs typeface="Arial MT"/>
            </a:endParaRPr>
          </a:p>
          <a:p>
            <a:pPr marL="114300" marR="81915">
              <a:lnSpc>
                <a:spcPct val="113300"/>
              </a:lnSpc>
              <a:spcBef>
                <a:spcPts val="440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Spot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upcoming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cash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pressure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before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the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payment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date</a:t>
            </a:r>
            <a:r>
              <a:rPr sz="500" spc="6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arrives.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2409" y="1616709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589" y="0"/>
                </a:moveTo>
                <a:lnTo>
                  <a:pt x="13186" y="1696"/>
                </a:lnTo>
                <a:lnTo>
                  <a:pt x="6323" y="6323"/>
                </a:lnTo>
                <a:lnTo>
                  <a:pt x="1696" y="13186"/>
                </a:lnTo>
                <a:lnTo>
                  <a:pt x="0" y="21589"/>
                </a:lnTo>
                <a:lnTo>
                  <a:pt x="1696" y="29993"/>
                </a:lnTo>
                <a:lnTo>
                  <a:pt x="6323" y="36856"/>
                </a:lnTo>
                <a:lnTo>
                  <a:pt x="13186" y="41483"/>
                </a:lnTo>
                <a:lnTo>
                  <a:pt x="21589" y="43179"/>
                </a:lnTo>
                <a:lnTo>
                  <a:pt x="29993" y="41483"/>
                </a:lnTo>
                <a:lnTo>
                  <a:pt x="36856" y="36856"/>
                </a:lnTo>
                <a:lnTo>
                  <a:pt x="41483" y="29993"/>
                </a:lnTo>
                <a:lnTo>
                  <a:pt x="43179" y="21589"/>
                </a:lnTo>
                <a:lnTo>
                  <a:pt x="41483" y="13186"/>
                </a:lnTo>
                <a:lnTo>
                  <a:pt x="36856" y="6323"/>
                </a:lnTo>
                <a:lnTo>
                  <a:pt x="29993" y="1696"/>
                </a:lnTo>
                <a:lnTo>
                  <a:pt x="21589" y="0"/>
                </a:lnTo>
                <a:close/>
              </a:path>
            </a:pathLst>
          </a:custGeom>
          <a:solidFill>
            <a:srgbClr val="BD8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7500" y="1565148"/>
            <a:ext cx="895350" cy="19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95"/>
              </a:spcBef>
            </a:pP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Bring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commercial</a:t>
            </a:r>
            <a:r>
              <a:rPr sz="500" spc="7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and</a:t>
            </a:r>
            <a:r>
              <a:rPr sz="500" spc="6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finance</a:t>
            </a:r>
            <a:r>
              <a:rPr sz="500" spc="50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teams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into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the</a:t>
            </a:r>
            <a:r>
              <a:rPr sz="500" spc="50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0F2A42"/>
                </a:solidFill>
                <a:latin typeface="Arial MT"/>
                <a:cs typeface="Arial MT"/>
              </a:rPr>
              <a:t>same</a:t>
            </a:r>
            <a:r>
              <a:rPr sz="500" spc="45" dirty="0">
                <a:solidFill>
                  <a:srgbClr val="0F2A42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0F2A42"/>
                </a:solidFill>
                <a:latin typeface="Arial MT"/>
                <a:cs typeface="Arial MT"/>
              </a:rPr>
              <a:t>picture.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8600" y="4781900"/>
            <a:ext cx="2095500" cy="254000"/>
          </a:xfrm>
          <a:custGeom>
            <a:avLst/>
            <a:gdLst/>
            <a:ahLst/>
            <a:cxnLst/>
            <a:rect l="l" t="t" r="r" b="b"/>
            <a:pathLst>
              <a:path w="2095500" h="254000">
                <a:moveTo>
                  <a:pt x="20447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03200"/>
                </a:lnTo>
                <a:lnTo>
                  <a:pt x="3988" y="222984"/>
                </a:lnTo>
                <a:lnTo>
                  <a:pt x="14869" y="239130"/>
                </a:lnTo>
                <a:lnTo>
                  <a:pt x="31015" y="250011"/>
                </a:lnTo>
                <a:lnTo>
                  <a:pt x="50800" y="254000"/>
                </a:lnTo>
                <a:lnTo>
                  <a:pt x="2044700" y="254000"/>
                </a:lnTo>
                <a:lnTo>
                  <a:pt x="2064484" y="250011"/>
                </a:lnTo>
                <a:lnTo>
                  <a:pt x="2080630" y="239130"/>
                </a:lnTo>
                <a:lnTo>
                  <a:pt x="2091511" y="222984"/>
                </a:lnTo>
                <a:lnTo>
                  <a:pt x="2095500" y="203200"/>
                </a:lnTo>
                <a:lnTo>
                  <a:pt x="2095500" y="50800"/>
                </a:lnTo>
                <a:lnTo>
                  <a:pt x="2091511" y="31015"/>
                </a:lnTo>
                <a:lnTo>
                  <a:pt x="2080630" y="14869"/>
                </a:lnTo>
                <a:lnTo>
                  <a:pt x="2064484" y="3988"/>
                </a:lnTo>
                <a:lnTo>
                  <a:pt x="20447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04800" y="4780177"/>
            <a:ext cx="767080" cy="2146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400" b="1" spc="10" dirty="0">
                <a:solidFill>
                  <a:srgbClr val="E4D6C1"/>
                </a:solidFill>
                <a:latin typeface="Arial"/>
                <a:cs typeface="Arial"/>
              </a:rPr>
              <a:t>PRODUCT</a:t>
            </a:r>
            <a:r>
              <a:rPr sz="400" b="1" spc="70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400" b="1" spc="-20" dirty="0">
                <a:solidFill>
                  <a:srgbClr val="E4D6C1"/>
                </a:solidFill>
                <a:latin typeface="Arial"/>
                <a:cs typeface="Arial"/>
              </a:rPr>
              <a:t>VIEW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Illustrative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-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replace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with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dirty="0">
                <a:solidFill>
                  <a:srgbClr val="C8D4DA"/>
                </a:solidFill>
                <a:latin typeface="Arial MT"/>
                <a:cs typeface="Arial MT"/>
              </a:rPr>
              <a:t>live</a:t>
            </a:r>
            <a:r>
              <a:rPr sz="350" spc="40" dirty="0">
                <a:solidFill>
                  <a:srgbClr val="C8D4DA"/>
                </a:solidFill>
                <a:latin typeface="Arial MT"/>
                <a:cs typeface="Arial MT"/>
              </a:rPr>
              <a:t> </a:t>
            </a:r>
            <a:r>
              <a:rPr sz="350" spc="-10" dirty="0">
                <a:solidFill>
                  <a:srgbClr val="C8D4DA"/>
                </a:solidFill>
                <a:latin typeface="Arial MT"/>
                <a:cs typeface="Arial MT"/>
              </a:rPr>
              <a:t>screen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>
                <a:solidFill>
                  <a:srgbClr val="607287"/>
                </a:solidFill>
              </a:rPr>
              <a:t>WHIZUNIK</a:t>
            </a:r>
            <a:r>
              <a:rPr sz="500" spc="10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BUSINESS</a:t>
            </a:r>
            <a:r>
              <a:rPr spc="65" dirty="0">
                <a:solidFill>
                  <a:srgbClr val="607287"/>
                </a:solidFill>
              </a:rPr>
              <a:t> </a:t>
            </a:r>
            <a:r>
              <a:rPr dirty="0">
                <a:solidFill>
                  <a:srgbClr val="607287"/>
                </a:solidFill>
              </a:rPr>
              <a:t>MANAGEMENT</a:t>
            </a:r>
            <a:r>
              <a:rPr spc="70" dirty="0">
                <a:solidFill>
                  <a:srgbClr val="607287"/>
                </a:solidFill>
              </a:rPr>
              <a:t> </a:t>
            </a:r>
            <a:r>
              <a:rPr spc="-10" dirty="0">
                <a:solidFill>
                  <a:srgbClr val="607287"/>
                </a:solidFill>
              </a:rPr>
              <a:t>PLATFORM</a:t>
            </a:r>
            <a:endParaRPr sz="500"/>
          </a:p>
        </p:txBody>
      </p:sp>
      <p:sp>
        <p:nvSpPr>
          <p:cNvPr id="25" name="object 25"/>
          <p:cNvSpPr txBox="1"/>
          <p:nvPr/>
        </p:nvSpPr>
        <p:spPr>
          <a:xfrm>
            <a:off x="7293299" y="5141216"/>
            <a:ext cx="99060" cy="99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b="1" spc="-25" dirty="0">
                <a:solidFill>
                  <a:srgbClr val="BD8944"/>
                </a:solidFill>
                <a:latin typeface="Arial"/>
                <a:cs typeface="Arial"/>
              </a:rPr>
              <a:t>09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B299293-D13D-12BC-7FB7-C08F3B651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50" y="1589816"/>
            <a:ext cx="4872308" cy="3134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60309" cy="5328285"/>
          </a:xfrm>
          <a:custGeom>
            <a:avLst/>
            <a:gdLst/>
            <a:ahLst/>
            <a:cxnLst/>
            <a:rect l="l" t="t" r="r" b="b"/>
            <a:pathLst>
              <a:path w="7560309" h="5328285">
                <a:moveTo>
                  <a:pt x="7560000" y="0"/>
                </a:moveTo>
                <a:lnTo>
                  <a:pt x="0" y="0"/>
                </a:lnTo>
                <a:lnTo>
                  <a:pt x="0" y="5328000"/>
                </a:lnTo>
                <a:lnTo>
                  <a:pt x="7560000" y="5328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5900" y="209550"/>
            <a:ext cx="1102995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110" dirty="0">
                <a:solidFill>
                  <a:srgbClr val="E4D6C1"/>
                </a:solidFill>
                <a:latin typeface="Arial"/>
                <a:cs typeface="Arial"/>
              </a:rPr>
              <a:t>CONNECTED</a:t>
            </a:r>
            <a:r>
              <a:rPr sz="550" b="1" spc="265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550" b="1" spc="100" dirty="0">
                <a:solidFill>
                  <a:srgbClr val="E4D6C1"/>
                </a:solidFill>
                <a:latin typeface="Arial"/>
                <a:cs typeface="Arial"/>
              </a:rPr>
              <a:t>ACTIVITY </a:t>
            </a:r>
            <a:endParaRPr sz="5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</a:rPr>
              <a:t>One</a:t>
            </a:r>
            <a:r>
              <a:rPr sz="1300" spc="-25" dirty="0">
                <a:solidFill>
                  <a:srgbClr val="FFFFFF"/>
                </a:solidFill>
              </a:rPr>
              <a:t> </a:t>
            </a:r>
            <a:r>
              <a:rPr sz="1300" dirty="0">
                <a:solidFill>
                  <a:srgbClr val="FFFFFF"/>
                </a:solidFill>
              </a:rPr>
              <a:t>event.</a:t>
            </a:r>
            <a:r>
              <a:rPr sz="1300" spc="-25" dirty="0">
                <a:solidFill>
                  <a:srgbClr val="FFFFFF"/>
                </a:solidFill>
              </a:rPr>
              <a:t> </a:t>
            </a:r>
            <a:r>
              <a:rPr sz="1300" dirty="0">
                <a:solidFill>
                  <a:srgbClr val="FFFFFF"/>
                </a:solidFill>
              </a:rPr>
              <a:t>A</a:t>
            </a:r>
            <a:r>
              <a:rPr sz="1300" spc="-25" dirty="0">
                <a:solidFill>
                  <a:srgbClr val="FFFFFF"/>
                </a:solidFill>
              </a:rPr>
              <a:t> </a:t>
            </a:r>
            <a:r>
              <a:rPr sz="1300" dirty="0">
                <a:solidFill>
                  <a:srgbClr val="FFFFFF"/>
                </a:solidFill>
              </a:rPr>
              <a:t>smarter</a:t>
            </a:r>
            <a:r>
              <a:rPr sz="1300" spc="-25" dirty="0">
                <a:solidFill>
                  <a:srgbClr val="FFFFFF"/>
                </a:solidFill>
              </a:rPr>
              <a:t> </a:t>
            </a:r>
            <a:r>
              <a:rPr sz="1300" dirty="0">
                <a:solidFill>
                  <a:srgbClr val="FFFFFF"/>
                </a:solidFill>
              </a:rPr>
              <a:t>business</a:t>
            </a:r>
            <a:r>
              <a:rPr sz="1300" spc="-20" dirty="0">
                <a:solidFill>
                  <a:srgbClr val="FFFFFF"/>
                </a:solidFill>
              </a:rPr>
              <a:t> </a:t>
            </a:r>
            <a:r>
              <a:rPr sz="1300" spc="-10" dirty="0">
                <a:solidFill>
                  <a:srgbClr val="FFFFFF"/>
                </a:solidFill>
              </a:rPr>
              <a:t>view.</a:t>
            </a:r>
            <a:endParaRPr sz="1300"/>
          </a:p>
        </p:txBody>
      </p:sp>
      <p:sp>
        <p:nvSpPr>
          <p:cNvPr id="5" name="object 5"/>
          <p:cNvSpPr txBox="1"/>
          <p:nvPr/>
        </p:nvSpPr>
        <p:spPr>
          <a:xfrm>
            <a:off x="215900" y="670559"/>
            <a:ext cx="2181860" cy="24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100"/>
              </a:spcBef>
            </a:pPr>
            <a:r>
              <a:rPr sz="650" dirty="0">
                <a:solidFill>
                  <a:srgbClr val="C4D3DA"/>
                </a:solidFill>
                <a:latin typeface="Arial MT"/>
                <a:cs typeface="Arial MT"/>
              </a:rPr>
              <a:t>Every</a:t>
            </a:r>
            <a:r>
              <a:rPr sz="650" spc="-10" dirty="0">
                <a:solidFill>
                  <a:srgbClr val="C4D3DA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C4D3DA"/>
                </a:solidFill>
                <a:latin typeface="Arial MT"/>
                <a:cs typeface="Arial MT"/>
              </a:rPr>
              <a:t>confirmed</a:t>
            </a:r>
            <a:r>
              <a:rPr sz="650" spc="-5" dirty="0">
                <a:solidFill>
                  <a:srgbClr val="C4D3DA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C4D3DA"/>
                </a:solidFill>
                <a:latin typeface="Arial MT"/>
                <a:cs typeface="Arial MT"/>
              </a:rPr>
              <a:t>sale,</a:t>
            </a:r>
            <a:r>
              <a:rPr sz="650" spc="-10" dirty="0">
                <a:solidFill>
                  <a:srgbClr val="C4D3DA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C4D3DA"/>
                </a:solidFill>
                <a:latin typeface="Arial MT"/>
                <a:cs typeface="Arial MT"/>
              </a:rPr>
              <a:t>dispatch,</a:t>
            </a:r>
            <a:r>
              <a:rPr sz="650" spc="-5" dirty="0">
                <a:solidFill>
                  <a:srgbClr val="C4D3DA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C4D3DA"/>
                </a:solidFill>
                <a:latin typeface="Arial MT"/>
                <a:cs typeface="Arial MT"/>
              </a:rPr>
              <a:t>receipt,</a:t>
            </a:r>
            <a:r>
              <a:rPr sz="650" spc="-10" dirty="0">
                <a:solidFill>
                  <a:srgbClr val="C4D3DA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C4D3DA"/>
                </a:solidFill>
                <a:latin typeface="Arial MT"/>
                <a:cs typeface="Arial MT"/>
              </a:rPr>
              <a:t>invoice</a:t>
            </a:r>
            <a:r>
              <a:rPr sz="650" spc="-5" dirty="0">
                <a:solidFill>
                  <a:srgbClr val="C4D3DA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C4D3DA"/>
                </a:solidFill>
                <a:latin typeface="Arial MT"/>
                <a:cs typeface="Arial MT"/>
              </a:rPr>
              <a:t>or</a:t>
            </a:r>
            <a:r>
              <a:rPr sz="650" spc="-10" dirty="0">
                <a:solidFill>
                  <a:srgbClr val="C4D3DA"/>
                </a:solidFill>
                <a:latin typeface="Arial MT"/>
                <a:cs typeface="Arial MT"/>
              </a:rPr>
              <a:t> payment</a:t>
            </a:r>
            <a:r>
              <a:rPr sz="650" spc="500" dirty="0">
                <a:solidFill>
                  <a:srgbClr val="C4D3DA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C4D3DA"/>
                </a:solidFill>
                <a:latin typeface="Arial MT"/>
                <a:cs typeface="Arial MT"/>
              </a:rPr>
              <a:t>updates the management picture that </a:t>
            </a:r>
            <a:r>
              <a:rPr sz="650" spc="-10" dirty="0">
                <a:solidFill>
                  <a:srgbClr val="C4D3DA"/>
                </a:solidFill>
                <a:latin typeface="Arial MT"/>
                <a:cs typeface="Arial MT"/>
              </a:rPr>
              <a:t>matters.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600" y="4248500"/>
            <a:ext cx="749300" cy="546100"/>
          </a:xfrm>
          <a:custGeom>
            <a:avLst/>
            <a:gdLst/>
            <a:ahLst/>
            <a:cxnLst/>
            <a:rect l="l" t="t" r="r" b="b"/>
            <a:pathLst>
              <a:path w="749300" h="546100">
                <a:moveTo>
                  <a:pt x="6985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495300"/>
                </a:lnTo>
                <a:lnTo>
                  <a:pt x="3988" y="515084"/>
                </a:lnTo>
                <a:lnTo>
                  <a:pt x="14869" y="531230"/>
                </a:lnTo>
                <a:lnTo>
                  <a:pt x="31015" y="542111"/>
                </a:lnTo>
                <a:lnTo>
                  <a:pt x="50800" y="546100"/>
                </a:lnTo>
                <a:lnTo>
                  <a:pt x="698500" y="546100"/>
                </a:lnTo>
                <a:lnTo>
                  <a:pt x="718284" y="542111"/>
                </a:lnTo>
                <a:lnTo>
                  <a:pt x="734430" y="531230"/>
                </a:lnTo>
                <a:lnTo>
                  <a:pt x="745311" y="515084"/>
                </a:lnTo>
                <a:lnTo>
                  <a:pt x="749300" y="495300"/>
                </a:lnTo>
                <a:lnTo>
                  <a:pt x="749300" y="50800"/>
                </a:lnTo>
                <a:lnTo>
                  <a:pt x="745311" y="31015"/>
                </a:lnTo>
                <a:lnTo>
                  <a:pt x="734430" y="14869"/>
                </a:lnTo>
                <a:lnTo>
                  <a:pt x="718284" y="3988"/>
                </a:lnTo>
                <a:lnTo>
                  <a:pt x="698500" y="0"/>
                </a:lnTo>
                <a:close/>
              </a:path>
            </a:pathLst>
          </a:custGeom>
          <a:solidFill>
            <a:srgbClr val="0C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2100" y="4286600"/>
            <a:ext cx="578485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BD8944"/>
                </a:solidFill>
                <a:latin typeface="Arial"/>
                <a:cs typeface="Arial"/>
              </a:rPr>
              <a:t>01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10400"/>
              </a:lnSpc>
              <a:spcBef>
                <a:spcPts val="350"/>
              </a:spcBef>
            </a:pP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A</a:t>
            </a:r>
            <a:r>
              <a:rPr sz="400" spc="1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sale,</a:t>
            </a:r>
            <a:r>
              <a:rPr sz="400" spc="1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receipt,</a:t>
            </a:r>
            <a:r>
              <a:rPr sz="400" spc="1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BFCAD1"/>
                </a:solidFill>
                <a:latin typeface="Arial MT"/>
                <a:cs typeface="Arial MT"/>
              </a:rPr>
              <a:t>dispatch</a:t>
            </a:r>
            <a:r>
              <a:rPr sz="400" spc="50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or</a:t>
            </a:r>
            <a:r>
              <a:rPr sz="400" spc="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payment</a:t>
            </a:r>
            <a:r>
              <a:rPr sz="400" spc="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is</a:t>
            </a:r>
            <a:r>
              <a:rPr sz="400" spc="1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BFCAD1"/>
                </a:solidFill>
                <a:latin typeface="Arial MT"/>
                <a:cs typeface="Arial MT"/>
              </a:rPr>
              <a:t>recorded.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92200" y="4248500"/>
            <a:ext cx="749300" cy="546100"/>
          </a:xfrm>
          <a:custGeom>
            <a:avLst/>
            <a:gdLst/>
            <a:ahLst/>
            <a:cxnLst/>
            <a:rect l="l" t="t" r="r" b="b"/>
            <a:pathLst>
              <a:path w="749300" h="546100">
                <a:moveTo>
                  <a:pt x="6985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495300"/>
                </a:lnTo>
                <a:lnTo>
                  <a:pt x="3988" y="515084"/>
                </a:lnTo>
                <a:lnTo>
                  <a:pt x="14869" y="531230"/>
                </a:lnTo>
                <a:lnTo>
                  <a:pt x="31015" y="542111"/>
                </a:lnTo>
                <a:lnTo>
                  <a:pt x="50800" y="546100"/>
                </a:lnTo>
                <a:lnTo>
                  <a:pt x="698500" y="546100"/>
                </a:lnTo>
                <a:lnTo>
                  <a:pt x="718284" y="542111"/>
                </a:lnTo>
                <a:lnTo>
                  <a:pt x="734430" y="531230"/>
                </a:lnTo>
                <a:lnTo>
                  <a:pt x="745311" y="515084"/>
                </a:lnTo>
                <a:lnTo>
                  <a:pt x="749300" y="495300"/>
                </a:lnTo>
                <a:lnTo>
                  <a:pt x="749300" y="50800"/>
                </a:lnTo>
                <a:lnTo>
                  <a:pt x="745311" y="31015"/>
                </a:lnTo>
                <a:lnTo>
                  <a:pt x="734430" y="14869"/>
                </a:lnTo>
                <a:lnTo>
                  <a:pt x="718284" y="3988"/>
                </a:lnTo>
                <a:lnTo>
                  <a:pt x="698500" y="0"/>
                </a:lnTo>
                <a:close/>
              </a:path>
            </a:pathLst>
          </a:custGeom>
          <a:solidFill>
            <a:srgbClr val="0C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5700" y="4286600"/>
            <a:ext cx="50609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BD8944"/>
                </a:solidFill>
                <a:latin typeface="Arial"/>
                <a:cs typeface="Arial"/>
              </a:rPr>
              <a:t>02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POSITION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10400"/>
              </a:lnSpc>
              <a:spcBef>
                <a:spcPts val="350"/>
              </a:spcBef>
            </a:pP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Stock,</a:t>
            </a:r>
            <a:r>
              <a:rPr sz="400" spc="1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sales,</a:t>
            </a:r>
            <a:r>
              <a:rPr sz="400" spc="1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cash</a:t>
            </a:r>
            <a:r>
              <a:rPr sz="400" spc="2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spc="-25" dirty="0">
                <a:solidFill>
                  <a:srgbClr val="BFCAD1"/>
                </a:solidFill>
                <a:latin typeface="Arial MT"/>
                <a:cs typeface="Arial MT"/>
              </a:rPr>
              <a:t>or</a:t>
            </a:r>
            <a:r>
              <a:rPr sz="400" spc="50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customer</a:t>
            </a:r>
            <a:r>
              <a:rPr sz="400" spc="1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BFCAD1"/>
                </a:solidFill>
                <a:latin typeface="Arial MT"/>
                <a:cs typeface="Arial MT"/>
              </a:rPr>
              <a:t>position</a:t>
            </a:r>
            <a:r>
              <a:rPr sz="400" spc="50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BFCAD1"/>
                </a:solidFill>
                <a:latin typeface="Arial MT"/>
                <a:cs typeface="Arial MT"/>
              </a:rPr>
              <a:t>updates.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55800" y="4248500"/>
            <a:ext cx="749300" cy="546100"/>
          </a:xfrm>
          <a:custGeom>
            <a:avLst/>
            <a:gdLst/>
            <a:ahLst/>
            <a:cxnLst/>
            <a:rect l="l" t="t" r="r" b="b"/>
            <a:pathLst>
              <a:path w="749300" h="546100">
                <a:moveTo>
                  <a:pt x="6985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495300"/>
                </a:lnTo>
                <a:lnTo>
                  <a:pt x="3988" y="515084"/>
                </a:lnTo>
                <a:lnTo>
                  <a:pt x="14869" y="531230"/>
                </a:lnTo>
                <a:lnTo>
                  <a:pt x="31015" y="542111"/>
                </a:lnTo>
                <a:lnTo>
                  <a:pt x="50800" y="546100"/>
                </a:lnTo>
                <a:lnTo>
                  <a:pt x="698500" y="546100"/>
                </a:lnTo>
                <a:lnTo>
                  <a:pt x="718284" y="542111"/>
                </a:lnTo>
                <a:lnTo>
                  <a:pt x="734430" y="531230"/>
                </a:lnTo>
                <a:lnTo>
                  <a:pt x="745311" y="515084"/>
                </a:lnTo>
                <a:lnTo>
                  <a:pt x="749300" y="495300"/>
                </a:lnTo>
                <a:lnTo>
                  <a:pt x="749300" y="50800"/>
                </a:lnTo>
                <a:lnTo>
                  <a:pt x="745311" y="31015"/>
                </a:lnTo>
                <a:lnTo>
                  <a:pt x="734430" y="14869"/>
                </a:lnTo>
                <a:lnTo>
                  <a:pt x="718284" y="3988"/>
                </a:lnTo>
                <a:lnTo>
                  <a:pt x="698500" y="0"/>
                </a:lnTo>
                <a:close/>
              </a:path>
            </a:pathLst>
          </a:custGeom>
          <a:solidFill>
            <a:srgbClr val="0C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19300" y="4286600"/>
            <a:ext cx="552450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BD8944"/>
                </a:solidFill>
                <a:latin typeface="Arial"/>
                <a:cs typeface="Arial"/>
              </a:rPr>
              <a:t>03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PRIORITY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10400"/>
              </a:lnSpc>
              <a:spcBef>
                <a:spcPts val="350"/>
              </a:spcBef>
            </a:pP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The</a:t>
            </a:r>
            <a:r>
              <a:rPr sz="400" spc="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platform</a:t>
            </a:r>
            <a:r>
              <a:rPr sz="400" spc="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BFCAD1"/>
                </a:solidFill>
                <a:latin typeface="Arial MT"/>
                <a:cs typeface="Arial MT"/>
              </a:rPr>
              <a:t>highlights</a:t>
            </a:r>
            <a:r>
              <a:rPr sz="400" spc="50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the</a:t>
            </a:r>
            <a:r>
              <a:rPr sz="400" spc="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risk</a:t>
            </a:r>
            <a:r>
              <a:rPr sz="400" spc="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or</a:t>
            </a:r>
            <a:r>
              <a:rPr sz="400" spc="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BFCAD1"/>
                </a:solidFill>
                <a:latin typeface="Arial MT"/>
                <a:cs typeface="Arial MT"/>
              </a:rPr>
              <a:t>opportunity.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19400" y="4248500"/>
            <a:ext cx="749300" cy="546100"/>
          </a:xfrm>
          <a:custGeom>
            <a:avLst/>
            <a:gdLst/>
            <a:ahLst/>
            <a:cxnLst/>
            <a:rect l="l" t="t" r="r" b="b"/>
            <a:pathLst>
              <a:path w="749300" h="546100">
                <a:moveTo>
                  <a:pt x="6985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495300"/>
                </a:lnTo>
                <a:lnTo>
                  <a:pt x="3988" y="515084"/>
                </a:lnTo>
                <a:lnTo>
                  <a:pt x="14869" y="531230"/>
                </a:lnTo>
                <a:lnTo>
                  <a:pt x="31015" y="542111"/>
                </a:lnTo>
                <a:lnTo>
                  <a:pt x="50800" y="546100"/>
                </a:lnTo>
                <a:lnTo>
                  <a:pt x="698500" y="546100"/>
                </a:lnTo>
                <a:lnTo>
                  <a:pt x="718284" y="542111"/>
                </a:lnTo>
                <a:lnTo>
                  <a:pt x="734430" y="531230"/>
                </a:lnTo>
                <a:lnTo>
                  <a:pt x="745311" y="515084"/>
                </a:lnTo>
                <a:lnTo>
                  <a:pt x="749300" y="495300"/>
                </a:lnTo>
                <a:lnTo>
                  <a:pt x="749300" y="50800"/>
                </a:lnTo>
                <a:lnTo>
                  <a:pt x="745311" y="31015"/>
                </a:lnTo>
                <a:lnTo>
                  <a:pt x="734430" y="14869"/>
                </a:lnTo>
                <a:lnTo>
                  <a:pt x="718284" y="3988"/>
                </a:lnTo>
                <a:lnTo>
                  <a:pt x="698500" y="0"/>
                </a:lnTo>
                <a:close/>
              </a:path>
            </a:pathLst>
          </a:custGeom>
          <a:solidFill>
            <a:srgbClr val="0C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882900" y="4286600"/>
            <a:ext cx="541020" cy="43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BD8944"/>
                </a:solidFill>
                <a:latin typeface="Arial"/>
                <a:cs typeface="Arial"/>
              </a:rPr>
              <a:t>04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ACTION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10400"/>
              </a:lnSpc>
              <a:spcBef>
                <a:spcPts val="350"/>
              </a:spcBef>
            </a:pP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Management</a:t>
            </a:r>
            <a:r>
              <a:rPr sz="400" spc="1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sees</a:t>
            </a:r>
            <a:r>
              <a:rPr sz="400" spc="1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spc="-25" dirty="0">
                <a:solidFill>
                  <a:srgbClr val="BFCAD1"/>
                </a:solidFill>
                <a:latin typeface="Arial MT"/>
                <a:cs typeface="Arial MT"/>
              </a:rPr>
              <a:t>the</a:t>
            </a:r>
            <a:r>
              <a:rPr sz="400" spc="50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right</a:t>
            </a:r>
            <a:r>
              <a:rPr sz="400" spc="5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BFCAD1"/>
                </a:solidFill>
                <a:latin typeface="Arial MT"/>
                <a:cs typeface="Arial MT"/>
              </a:rPr>
              <a:t>next</a:t>
            </a:r>
            <a:r>
              <a:rPr sz="400" spc="10" dirty="0">
                <a:solidFill>
                  <a:srgbClr val="BFCAD1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BFCAD1"/>
                </a:solidFill>
                <a:latin typeface="Arial MT"/>
                <a:cs typeface="Arial MT"/>
              </a:rPr>
              <a:t>move.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60309" cy="5328285"/>
          </a:xfrm>
          <a:custGeom>
            <a:avLst/>
            <a:gdLst/>
            <a:ahLst/>
            <a:cxnLst/>
            <a:rect l="l" t="t" r="r" b="b"/>
            <a:pathLst>
              <a:path w="7560309" h="5328285">
                <a:moveTo>
                  <a:pt x="7560000" y="0"/>
                </a:moveTo>
                <a:lnTo>
                  <a:pt x="0" y="0"/>
                </a:lnTo>
                <a:lnTo>
                  <a:pt x="0" y="5328000"/>
                </a:lnTo>
                <a:lnTo>
                  <a:pt x="7560000" y="5328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F4F0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5900" y="209550"/>
            <a:ext cx="1387475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110" dirty="0">
                <a:solidFill>
                  <a:srgbClr val="BD8944"/>
                </a:solidFill>
                <a:latin typeface="Arial"/>
                <a:cs typeface="Arial"/>
              </a:rPr>
              <a:t>WHIZUNIK</a:t>
            </a:r>
            <a:r>
              <a:rPr sz="550" b="1" spc="250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114" dirty="0">
                <a:solidFill>
                  <a:srgbClr val="BD8944"/>
                </a:solidFill>
                <a:latin typeface="Arial"/>
                <a:cs typeface="Arial"/>
              </a:rPr>
              <a:t>EXECUTIVE</a:t>
            </a:r>
            <a:r>
              <a:rPr sz="550" b="1" spc="254" dirty="0">
                <a:solidFill>
                  <a:srgbClr val="BD8944"/>
                </a:solidFill>
                <a:latin typeface="Arial"/>
                <a:cs typeface="Arial"/>
              </a:rPr>
              <a:t> </a:t>
            </a:r>
            <a:r>
              <a:rPr sz="550" b="1" spc="70" dirty="0">
                <a:solidFill>
                  <a:srgbClr val="BD8944"/>
                </a:solidFill>
                <a:latin typeface="Arial"/>
                <a:cs typeface="Arial"/>
              </a:rPr>
              <a:t>CARE </a:t>
            </a:r>
            <a:endParaRPr sz="5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premium platform.</a:t>
            </a:r>
            <a:r>
              <a:rPr spc="-5" dirty="0"/>
              <a:t> </a:t>
            </a:r>
            <a:r>
              <a:rPr dirty="0"/>
              <a:t>Backed by </a:t>
            </a:r>
            <a:r>
              <a:rPr spc="-10" dirty="0"/>
              <a:t>people.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5900" y="662940"/>
            <a:ext cx="245935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Premium</a:t>
            </a:r>
            <a:r>
              <a:rPr sz="650" spc="55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service</a:t>
            </a:r>
            <a:r>
              <a:rPr sz="65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is</a:t>
            </a:r>
            <a:r>
              <a:rPr sz="65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part</a:t>
            </a:r>
            <a:r>
              <a:rPr sz="65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of</a:t>
            </a:r>
            <a:r>
              <a:rPr sz="65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the</a:t>
            </a:r>
            <a:r>
              <a:rPr sz="65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relationship</a:t>
            </a:r>
            <a:r>
              <a:rPr sz="65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-</a:t>
            </a:r>
            <a:r>
              <a:rPr sz="65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not</a:t>
            </a:r>
            <a:r>
              <a:rPr sz="65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607287"/>
                </a:solidFill>
                <a:latin typeface="Arial MT"/>
                <a:cs typeface="Arial MT"/>
              </a:rPr>
              <a:t>an</a:t>
            </a:r>
            <a:r>
              <a:rPr sz="650" spc="6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607287"/>
                </a:solidFill>
                <a:latin typeface="Arial MT"/>
                <a:cs typeface="Arial MT"/>
              </a:rPr>
              <a:t>afterthought.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5742" y="3039142"/>
            <a:ext cx="1605915" cy="424815"/>
            <a:chOff x="225742" y="3039142"/>
            <a:chExt cx="1605915" cy="424815"/>
          </a:xfrm>
        </p:grpSpPr>
        <p:sp>
          <p:nvSpPr>
            <p:cNvPr id="7" name="object 7"/>
            <p:cNvSpPr/>
            <p:nvPr/>
          </p:nvSpPr>
          <p:spPr>
            <a:xfrm>
              <a:off x="228599" y="3042000"/>
              <a:ext cx="1600200" cy="419100"/>
            </a:xfrm>
            <a:custGeom>
              <a:avLst/>
              <a:gdLst/>
              <a:ahLst/>
              <a:cxnLst/>
              <a:rect l="l" t="t" r="r" b="b"/>
              <a:pathLst>
                <a:path w="1600200" h="419100">
                  <a:moveTo>
                    <a:pt x="1549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368300"/>
                  </a:lnTo>
                  <a:lnTo>
                    <a:pt x="3988" y="388084"/>
                  </a:lnTo>
                  <a:lnTo>
                    <a:pt x="14869" y="404230"/>
                  </a:lnTo>
                  <a:lnTo>
                    <a:pt x="31015" y="415111"/>
                  </a:lnTo>
                  <a:lnTo>
                    <a:pt x="50800" y="419100"/>
                  </a:lnTo>
                  <a:lnTo>
                    <a:pt x="1549400" y="419100"/>
                  </a:lnTo>
                  <a:lnTo>
                    <a:pt x="1569184" y="415111"/>
                  </a:lnTo>
                  <a:lnTo>
                    <a:pt x="1585330" y="404230"/>
                  </a:lnTo>
                  <a:lnTo>
                    <a:pt x="1596211" y="388084"/>
                  </a:lnTo>
                  <a:lnTo>
                    <a:pt x="1600200" y="368300"/>
                  </a:lnTo>
                  <a:lnTo>
                    <a:pt x="1600200" y="50800"/>
                  </a:lnTo>
                  <a:lnTo>
                    <a:pt x="1596211" y="31015"/>
                  </a:lnTo>
                  <a:lnTo>
                    <a:pt x="1585330" y="14869"/>
                  </a:lnTo>
                  <a:lnTo>
                    <a:pt x="1569184" y="3988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599" y="3042000"/>
              <a:ext cx="1600200" cy="419100"/>
            </a:xfrm>
            <a:custGeom>
              <a:avLst/>
              <a:gdLst/>
              <a:ahLst/>
              <a:cxnLst/>
              <a:rect l="l" t="t" r="r" b="b"/>
              <a:pathLst>
                <a:path w="1600200" h="419100">
                  <a:moveTo>
                    <a:pt x="50800" y="419100"/>
                  </a:moveTo>
                  <a:lnTo>
                    <a:pt x="1549400" y="419100"/>
                  </a:lnTo>
                  <a:lnTo>
                    <a:pt x="1569184" y="415111"/>
                  </a:lnTo>
                  <a:lnTo>
                    <a:pt x="1585330" y="404230"/>
                  </a:lnTo>
                  <a:lnTo>
                    <a:pt x="1596211" y="388084"/>
                  </a:lnTo>
                  <a:lnTo>
                    <a:pt x="1600200" y="368300"/>
                  </a:lnTo>
                  <a:lnTo>
                    <a:pt x="1600200" y="50800"/>
                  </a:lnTo>
                  <a:lnTo>
                    <a:pt x="1596211" y="31015"/>
                  </a:lnTo>
                  <a:lnTo>
                    <a:pt x="1585330" y="14869"/>
                  </a:lnTo>
                  <a:lnTo>
                    <a:pt x="1569184" y="3988"/>
                  </a:lnTo>
                  <a:lnTo>
                    <a:pt x="15494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368300"/>
                  </a:lnTo>
                  <a:lnTo>
                    <a:pt x="3988" y="388084"/>
                  </a:lnTo>
                  <a:lnTo>
                    <a:pt x="14869" y="404230"/>
                  </a:lnTo>
                  <a:lnTo>
                    <a:pt x="31015" y="415111"/>
                  </a:lnTo>
                  <a:lnTo>
                    <a:pt x="50800" y="419100"/>
                  </a:lnTo>
                  <a:close/>
                </a:path>
              </a:pathLst>
            </a:custGeom>
            <a:ln w="5715">
              <a:solidFill>
                <a:srgbClr val="D8DF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7500" y="3109310"/>
            <a:ext cx="1296670" cy="2362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dirty="0">
                <a:solidFill>
                  <a:srgbClr val="0F2A42"/>
                </a:solidFill>
                <a:latin typeface="Arial"/>
                <a:cs typeface="Arial"/>
              </a:rPr>
              <a:t>Designated</a:t>
            </a:r>
            <a:r>
              <a:rPr sz="550" b="1" spc="125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550" b="1" dirty="0">
                <a:solidFill>
                  <a:srgbClr val="0F2A42"/>
                </a:solidFill>
                <a:latin typeface="Arial"/>
                <a:cs typeface="Arial"/>
              </a:rPr>
              <a:t>Relationship</a:t>
            </a:r>
            <a:r>
              <a:rPr sz="550" b="1" spc="130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550" b="1" spc="-10" dirty="0">
                <a:solidFill>
                  <a:srgbClr val="0F2A42"/>
                </a:solidFill>
                <a:latin typeface="Arial"/>
                <a:cs typeface="Arial"/>
              </a:rPr>
              <a:t>Manager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450" dirty="0">
                <a:solidFill>
                  <a:srgbClr val="607287"/>
                </a:solidFill>
                <a:latin typeface="Arial MT"/>
                <a:cs typeface="Arial MT"/>
              </a:rPr>
              <a:t>One accountable point of contact for the </a:t>
            </a:r>
            <a:r>
              <a:rPr sz="450" spc="-10" dirty="0">
                <a:solidFill>
                  <a:srgbClr val="607287"/>
                </a:solidFill>
                <a:latin typeface="Arial MT"/>
                <a:cs typeface="Arial MT"/>
              </a:rPr>
              <a:t>business.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03742" y="3039142"/>
            <a:ext cx="1605915" cy="424815"/>
            <a:chOff x="2003742" y="3039142"/>
            <a:chExt cx="1605915" cy="424815"/>
          </a:xfrm>
        </p:grpSpPr>
        <p:sp>
          <p:nvSpPr>
            <p:cNvPr id="11" name="object 11"/>
            <p:cNvSpPr/>
            <p:nvPr/>
          </p:nvSpPr>
          <p:spPr>
            <a:xfrm>
              <a:off x="2006599" y="3042000"/>
              <a:ext cx="1600200" cy="419100"/>
            </a:xfrm>
            <a:custGeom>
              <a:avLst/>
              <a:gdLst/>
              <a:ahLst/>
              <a:cxnLst/>
              <a:rect l="l" t="t" r="r" b="b"/>
              <a:pathLst>
                <a:path w="1600200" h="419100">
                  <a:moveTo>
                    <a:pt x="1549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368300"/>
                  </a:lnTo>
                  <a:lnTo>
                    <a:pt x="3988" y="388084"/>
                  </a:lnTo>
                  <a:lnTo>
                    <a:pt x="14869" y="404230"/>
                  </a:lnTo>
                  <a:lnTo>
                    <a:pt x="31015" y="415111"/>
                  </a:lnTo>
                  <a:lnTo>
                    <a:pt x="50800" y="419100"/>
                  </a:lnTo>
                  <a:lnTo>
                    <a:pt x="1549400" y="419100"/>
                  </a:lnTo>
                  <a:lnTo>
                    <a:pt x="1569184" y="415111"/>
                  </a:lnTo>
                  <a:lnTo>
                    <a:pt x="1585330" y="404230"/>
                  </a:lnTo>
                  <a:lnTo>
                    <a:pt x="1596211" y="388084"/>
                  </a:lnTo>
                  <a:lnTo>
                    <a:pt x="1600200" y="368300"/>
                  </a:lnTo>
                  <a:lnTo>
                    <a:pt x="1600200" y="50800"/>
                  </a:lnTo>
                  <a:lnTo>
                    <a:pt x="1596211" y="31015"/>
                  </a:lnTo>
                  <a:lnTo>
                    <a:pt x="1585330" y="14869"/>
                  </a:lnTo>
                  <a:lnTo>
                    <a:pt x="1569184" y="3988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06599" y="3042000"/>
              <a:ext cx="1600200" cy="419100"/>
            </a:xfrm>
            <a:custGeom>
              <a:avLst/>
              <a:gdLst/>
              <a:ahLst/>
              <a:cxnLst/>
              <a:rect l="l" t="t" r="r" b="b"/>
              <a:pathLst>
                <a:path w="1600200" h="419100">
                  <a:moveTo>
                    <a:pt x="50800" y="419100"/>
                  </a:moveTo>
                  <a:lnTo>
                    <a:pt x="1549400" y="419100"/>
                  </a:lnTo>
                  <a:lnTo>
                    <a:pt x="1569184" y="415111"/>
                  </a:lnTo>
                  <a:lnTo>
                    <a:pt x="1585330" y="404230"/>
                  </a:lnTo>
                  <a:lnTo>
                    <a:pt x="1596211" y="388084"/>
                  </a:lnTo>
                  <a:lnTo>
                    <a:pt x="1600200" y="368300"/>
                  </a:lnTo>
                  <a:lnTo>
                    <a:pt x="1600200" y="50800"/>
                  </a:lnTo>
                  <a:lnTo>
                    <a:pt x="1596211" y="31015"/>
                  </a:lnTo>
                  <a:lnTo>
                    <a:pt x="1585330" y="14869"/>
                  </a:lnTo>
                  <a:lnTo>
                    <a:pt x="1569184" y="3988"/>
                  </a:lnTo>
                  <a:lnTo>
                    <a:pt x="15494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368300"/>
                  </a:lnTo>
                  <a:lnTo>
                    <a:pt x="3988" y="388084"/>
                  </a:lnTo>
                  <a:lnTo>
                    <a:pt x="14869" y="404230"/>
                  </a:lnTo>
                  <a:lnTo>
                    <a:pt x="31015" y="415111"/>
                  </a:lnTo>
                  <a:lnTo>
                    <a:pt x="50800" y="419100"/>
                  </a:lnTo>
                  <a:close/>
                </a:path>
              </a:pathLst>
            </a:custGeom>
            <a:ln w="5715">
              <a:solidFill>
                <a:srgbClr val="D8DF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95500" y="3109310"/>
            <a:ext cx="1347470" cy="2362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dirty="0">
                <a:solidFill>
                  <a:srgbClr val="0F2A42"/>
                </a:solidFill>
                <a:latin typeface="Arial"/>
                <a:cs typeface="Arial"/>
              </a:rPr>
              <a:t>Priority</a:t>
            </a:r>
            <a:r>
              <a:rPr sz="550" b="1" spc="80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550" b="1" spc="-10" dirty="0">
                <a:solidFill>
                  <a:srgbClr val="0F2A42"/>
                </a:solidFill>
                <a:latin typeface="Arial"/>
                <a:cs typeface="Arial"/>
              </a:rPr>
              <a:t>Support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450" dirty="0">
                <a:solidFill>
                  <a:srgbClr val="607287"/>
                </a:solidFill>
                <a:latin typeface="Arial MT"/>
                <a:cs typeface="Arial MT"/>
              </a:rPr>
              <a:t>Real-time troubleshooting and structured </a:t>
            </a:r>
            <a:r>
              <a:rPr sz="450" spc="-10" dirty="0">
                <a:solidFill>
                  <a:srgbClr val="607287"/>
                </a:solidFill>
                <a:latin typeface="Arial MT"/>
                <a:cs typeface="Arial MT"/>
              </a:rPr>
              <a:t>escalation.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5742" y="3572542"/>
            <a:ext cx="1605915" cy="424815"/>
            <a:chOff x="225742" y="3572542"/>
            <a:chExt cx="1605915" cy="424815"/>
          </a:xfrm>
        </p:grpSpPr>
        <p:sp>
          <p:nvSpPr>
            <p:cNvPr id="15" name="object 15"/>
            <p:cNvSpPr/>
            <p:nvPr/>
          </p:nvSpPr>
          <p:spPr>
            <a:xfrm>
              <a:off x="228599" y="3575400"/>
              <a:ext cx="1600200" cy="419100"/>
            </a:xfrm>
            <a:custGeom>
              <a:avLst/>
              <a:gdLst/>
              <a:ahLst/>
              <a:cxnLst/>
              <a:rect l="l" t="t" r="r" b="b"/>
              <a:pathLst>
                <a:path w="1600200" h="419100">
                  <a:moveTo>
                    <a:pt x="1549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368300"/>
                  </a:lnTo>
                  <a:lnTo>
                    <a:pt x="3988" y="388084"/>
                  </a:lnTo>
                  <a:lnTo>
                    <a:pt x="14869" y="404230"/>
                  </a:lnTo>
                  <a:lnTo>
                    <a:pt x="31015" y="415111"/>
                  </a:lnTo>
                  <a:lnTo>
                    <a:pt x="50800" y="419100"/>
                  </a:lnTo>
                  <a:lnTo>
                    <a:pt x="1549400" y="419100"/>
                  </a:lnTo>
                  <a:lnTo>
                    <a:pt x="1569184" y="415111"/>
                  </a:lnTo>
                  <a:lnTo>
                    <a:pt x="1585330" y="404230"/>
                  </a:lnTo>
                  <a:lnTo>
                    <a:pt x="1596211" y="388084"/>
                  </a:lnTo>
                  <a:lnTo>
                    <a:pt x="1600200" y="368300"/>
                  </a:lnTo>
                  <a:lnTo>
                    <a:pt x="1600200" y="50800"/>
                  </a:lnTo>
                  <a:lnTo>
                    <a:pt x="1596211" y="31015"/>
                  </a:lnTo>
                  <a:lnTo>
                    <a:pt x="1585330" y="14869"/>
                  </a:lnTo>
                  <a:lnTo>
                    <a:pt x="1569184" y="3988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8599" y="3575400"/>
              <a:ext cx="1600200" cy="419100"/>
            </a:xfrm>
            <a:custGeom>
              <a:avLst/>
              <a:gdLst/>
              <a:ahLst/>
              <a:cxnLst/>
              <a:rect l="l" t="t" r="r" b="b"/>
              <a:pathLst>
                <a:path w="1600200" h="419100">
                  <a:moveTo>
                    <a:pt x="50800" y="419100"/>
                  </a:moveTo>
                  <a:lnTo>
                    <a:pt x="1549400" y="419100"/>
                  </a:lnTo>
                  <a:lnTo>
                    <a:pt x="1569184" y="415111"/>
                  </a:lnTo>
                  <a:lnTo>
                    <a:pt x="1585330" y="404230"/>
                  </a:lnTo>
                  <a:lnTo>
                    <a:pt x="1596211" y="388084"/>
                  </a:lnTo>
                  <a:lnTo>
                    <a:pt x="1600200" y="368300"/>
                  </a:lnTo>
                  <a:lnTo>
                    <a:pt x="1600200" y="50800"/>
                  </a:lnTo>
                  <a:lnTo>
                    <a:pt x="1596211" y="31015"/>
                  </a:lnTo>
                  <a:lnTo>
                    <a:pt x="1585330" y="14869"/>
                  </a:lnTo>
                  <a:lnTo>
                    <a:pt x="1569184" y="3988"/>
                  </a:lnTo>
                  <a:lnTo>
                    <a:pt x="15494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368300"/>
                  </a:lnTo>
                  <a:lnTo>
                    <a:pt x="3988" y="388084"/>
                  </a:lnTo>
                  <a:lnTo>
                    <a:pt x="14869" y="404230"/>
                  </a:lnTo>
                  <a:lnTo>
                    <a:pt x="31015" y="415111"/>
                  </a:lnTo>
                  <a:lnTo>
                    <a:pt x="50800" y="419100"/>
                  </a:lnTo>
                  <a:close/>
                </a:path>
              </a:pathLst>
            </a:custGeom>
            <a:ln w="5715">
              <a:solidFill>
                <a:srgbClr val="D8DF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7500" y="3642710"/>
            <a:ext cx="1306195" cy="2362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dirty="0">
                <a:solidFill>
                  <a:srgbClr val="0F2A42"/>
                </a:solidFill>
                <a:latin typeface="Arial"/>
                <a:cs typeface="Arial"/>
              </a:rPr>
              <a:t>Executive</a:t>
            </a:r>
            <a:r>
              <a:rPr sz="550" b="1" spc="105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550" b="1" spc="-10" dirty="0">
                <a:solidFill>
                  <a:srgbClr val="0F2A42"/>
                </a:solidFill>
                <a:latin typeface="Arial"/>
                <a:cs typeface="Arial"/>
              </a:rPr>
              <a:t>Reviews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450" dirty="0">
                <a:solidFill>
                  <a:srgbClr val="607287"/>
                </a:solidFill>
                <a:latin typeface="Arial MT"/>
                <a:cs typeface="Arial MT"/>
              </a:rPr>
              <a:t>Regular review of business priorities and </a:t>
            </a:r>
            <a:r>
              <a:rPr sz="450" spc="-10" dirty="0">
                <a:solidFill>
                  <a:srgbClr val="607287"/>
                </a:solidFill>
                <a:latin typeface="Arial MT"/>
                <a:cs typeface="Arial MT"/>
              </a:rPr>
              <a:t>adoption.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03742" y="3572542"/>
            <a:ext cx="1605915" cy="424815"/>
            <a:chOff x="2003742" y="3572542"/>
            <a:chExt cx="1605915" cy="424815"/>
          </a:xfrm>
        </p:grpSpPr>
        <p:sp>
          <p:nvSpPr>
            <p:cNvPr id="19" name="object 19"/>
            <p:cNvSpPr/>
            <p:nvPr/>
          </p:nvSpPr>
          <p:spPr>
            <a:xfrm>
              <a:off x="2006599" y="3575400"/>
              <a:ext cx="1600200" cy="419100"/>
            </a:xfrm>
            <a:custGeom>
              <a:avLst/>
              <a:gdLst/>
              <a:ahLst/>
              <a:cxnLst/>
              <a:rect l="l" t="t" r="r" b="b"/>
              <a:pathLst>
                <a:path w="1600200" h="419100">
                  <a:moveTo>
                    <a:pt x="1549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368300"/>
                  </a:lnTo>
                  <a:lnTo>
                    <a:pt x="3988" y="388084"/>
                  </a:lnTo>
                  <a:lnTo>
                    <a:pt x="14869" y="404230"/>
                  </a:lnTo>
                  <a:lnTo>
                    <a:pt x="31015" y="415111"/>
                  </a:lnTo>
                  <a:lnTo>
                    <a:pt x="50800" y="419100"/>
                  </a:lnTo>
                  <a:lnTo>
                    <a:pt x="1549400" y="419100"/>
                  </a:lnTo>
                  <a:lnTo>
                    <a:pt x="1569184" y="415111"/>
                  </a:lnTo>
                  <a:lnTo>
                    <a:pt x="1585330" y="404230"/>
                  </a:lnTo>
                  <a:lnTo>
                    <a:pt x="1596211" y="388084"/>
                  </a:lnTo>
                  <a:lnTo>
                    <a:pt x="1600200" y="368300"/>
                  </a:lnTo>
                  <a:lnTo>
                    <a:pt x="1600200" y="50800"/>
                  </a:lnTo>
                  <a:lnTo>
                    <a:pt x="1596211" y="31015"/>
                  </a:lnTo>
                  <a:lnTo>
                    <a:pt x="1585330" y="14869"/>
                  </a:lnTo>
                  <a:lnTo>
                    <a:pt x="1569184" y="3988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06599" y="3575400"/>
              <a:ext cx="1600200" cy="419100"/>
            </a:xfrm>
            <a:custGeom>
              <a:avLst/>
              <a:gdLst/>
              <a:ahLst/>
              <a:cxnLst/>
              <a:rect l="l" t="t" r="r" b="b"/>
              <a:pathLst>
                <a:path w="1600200" h="419100">
                  <a:moveTo>
                    <a:pt x="50800" y="419100"/>
                  </a:moveTo>
                  <a:lnTo>
                    <a:pt x="1549400" y="419100"/>
                  </a:lnTo>
                  <a:lnTo>
                    <a:pt x="1569184" y="415111"/>
                  </a:lnTo>
                  <a:lnTo>
                    <a:pt x="1585330" y="404230"/>
                  </a:lnTo>
                  <a:lnTo>
                    <a:pt x="1596211" y="388084"/>
                  </a:lnTo>
                  <a:lnTo>
                    <a:pt x="1600200" y="368300"/>
                  </a:lnTo>
                  <a:lnTo>
                    <a:pt x="1600200" y="50800"/>
                  </a:lnTo>
                  <a:lnTo>
                    <a:pt x="1596211" y="31015"/>
                  </a:lnTo>
                  <a:lnTo>
                    <a:pt x="1585330" y="14869"/>
                  </a:lnTo>
                  <a:lnTo>
                    <a:pt x="1569184" y="3988"/>
                  </a:lnTo>
                  <a:lnTo>
                    <a:pt x="15494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368300"/>
                  </a:lnTo>
                  <a:lnTo>
                    <a:pt x="3988" y="388084"/>
                  </a:lnTo>
                  <a:lnTo>
                    <a:pt x="14869" y="404230"/>
                  </a:lnTo>
                  <a:lnTo>
                    <a:pt x="31015" y="415111"/>
                  </a:lnTo>
                  <a:lnTo>
                    <a:pt x="50800" y="419100"/>
                  </a:lnTo>
                  <a:close/>
                </a:path>
              </a:pathLst>
            </a:custGeom>
            <a:ln w="5715">
              <a:solidFill>
                <a:srgbClr val="D8DF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95500" y="3642710"/>
            <a:ext cx="1306195" cy="3060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dirty="0">
                <a:solidFill>
                  <a:srgbClr val="0F2A42"/>
                </a:solidFill>
                <a:latin typeface="Arial"/>
                <a:cs typeface="Arial"/>
              </a:rPr>
              <a:t>Continuous</a:t>
            </a:r>
            <a:r>
              <a:rPr sz="550" b="1" spc="95" dirty="0">
                <a:solidFill>
                  <a:srgbClr val="0F2A42"/>
                </a:solidFill>
                <a:latin typeface="Arial"/>
                <a:cs typeface="Arial"/>
              </a:rPr>
              <a:t> </a:t>
            </a:r>
            <a:r>
              <a:rPr sz="550" b="1" spc="-10" dirty="0">
                <a:solidFill>
                  <a:srgbClr val="0F2A42"/>
                </a:solidFill>
                <a:latin typeface="Arial"/>
                <a:cs typeface="Arial"/>
              </a:rPr>
              <a:t>Optimisation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39"/>
              </a:spcBef>
            </a:pPr>
            <a:r>
              <a:rPr sz="450" dirty="0">
                <a:solidFill>
                  <a:srgbClr val="607287"/>
                </a:solidFill>
                <a:latin typeface="Arial MT"/>
                <a:cs typeface="Arial MT"/>
              </a:rPr>
              <a:t>Dashboards and workflows evolve as the </a:t>
            </a:r>
            <a:r>
              <a:rPr sz="450" spc="-10" dirty="0">
                <a:solidFill>
                  <a:srgbClr val="607287"/>
                </a:solidFill>
                <a:latin typeface="Arial MT"/>
                <a:cs typeface="Arial MT"/>
              </a:rPr>
              <a:t>business</a:t>
            </a:r>
            <a:r>
              <a:rPr sz="450" spc="500" dirty="0">
                <a:solidFill>
                  <a:srgbClr val="607287"/>
                </a:solidFill>
                <a:latin typeface="Arial MT"/>
                <a:cs typeface="Arial MT"/>
              </a:rPr>
              <a:t> </a:t>
            </a:r>
            <a:r>
              <a:rPr sz="450" spc="-10" dirty="0">
                <a:solidFill>
                  <a:srgbClr val="607287"/>
                </a:solidFill>
                <a:latin typeface="Arial MT"/>
                <a:cs typeface="Arial MT"/>
              </a:rPr>
              <a:t>changes.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8600" y="4350100"/>
            <a:ext cx="7103109" cy="279400"/>
          </a:xfrm>
          <a:custGeom>
            <a:avLst/>
            <a:gdLst/>
            <a:ahLst/>
            <a:cxnLst/>
            <a:rect l="l" t="t" r="r" b="b"/>
            <a:pathLst>
              <a:path w="7103109" h="279400">
                <a:moveTo>
                  <a:pt x="70520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228600"/>
                </a:lnTo>
                <a:lnTo>
                  <a:pt x="3988" y="248384"/>
                </a:lnTo>
                <a:lnTo>
                  <a:pt x="14869" y="264530"/>
                </a:lnTo>
                <a:lnTo>
                  <a:pt x="31015" y="275411"/>
                </a:lnTo>
                <a:lnTo>
                  <a:pt x="50800" y="279400"/>
                </a:lnTo>
                <a:lnTo>
                  <a:pt x="7052000" y="279400"/>
                </a:lnTo>
                <a:lnTo>
                  <a:pt x="7071784" y="275411"/>
                </a:lnTo>
                <a:lnTo>
                  <a:pt x="7087930" y="264530"/>
                </a:lnTo>
                <a:lnTo>
                  <a:pt x="7098811" y="248384"/>
                </a:lnTo>
                <a:lnTo>
                  <a:pt x="7102800" y="228600"/>
                </a:lnTo>
                <a:lnTo>
                  <a:pt x="7102800" y="50800"/>
                </a:lnTo>
                <a:lnTo>
                  <a:pt x="7098811" y="31015"/>
                </a:lnTo>
                <a:lnTo>
                  <a:pt x="7087930" y="14869"/>
                </a:lnTo>
                <a:lnTo>
                  <a:pt x="7071784" y="3988"/>
                </a:lnTo>
                <a:lnTo>
                  <a:pt x="70520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04800" y="4432650"/>
            <a:ext cx="306451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5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b="1" dirty="0">
                <a:solidFill>
                  <a:srgbClr val="FFFFFF"/>
                </a:solidFill>
                <a:latin typeface="Arial"/>
                <a:cs typeface="Arial"/>
              </a:rPr>
              <a:t>accounting system records</a:t>
            </a:r>
            <a:r>
              <a:rPr sz="5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b="1" dirty="0">
                <a:solidFill>
                  <a:srgbClr val="FFFFFF"/>
                </a:solidFill>
                <a:latin typeface="Arial"/>
                <a:cs typeface="Arial"/>
              </a:rPr>
              <a:t>the books. WhizUnik helps</a:t>
            </a:r>
            <a:r>
              <a:rPr sz="5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b="1" dirty="0">
                <a:solidFill>
                  <a:srgbClr val="FFFFFF"/>
                </a:solidFill>
                <a:latin typeface="Arial"/>
                <a:cs typeface="Arial"/>
              </a:rPr>
              <a:t>management run the </a:t>
            </a:r>
            <a:r>
              <a:rPr sz="550" b="1" spc="-10" dirty="0">
                <a:solidFill>
                  <a:srgbClr val="FFFFFF"/>
                </a:solidFill>
                <a:latin typeface="Arial"/>
                <a:cs typeface="Arial"/>
              </a:rPr>
              <a:t>business.</a:t>
            </a:r>
            <a:endParaRPr sz="55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60309" cy="5328285"/>
          </a:xfrm>
          <a:custGeom>
            <a:avLst/>
            <a:gdLst/>
            <a:ahLst/>
            <a:cxnLst/>
            <a:rect l="l" t="t" r="r" b="b"/>
            <a:pathLst>
              <a:path w="7560309" h="5328285">
                <a:moveTo>
                  <a:pt x="7560000" y="0"/>
                </a:moveTo>
                <a:lnTo>
                  <a:pt x="0" y="0"/>
                </a:lnTo>
                <a:lnTo>
                  <a:pt x="0" y="5328000"/>
                </a:lnTo>
                <a:lnTo>
                  <a:pt x="7560000" y="5328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081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5900" y="222250"/>
            <a:ext cx="50673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100" dirty="0">
                <a:solidFill>
                  <a:srgbClr val="E4D6C1"/>
                </a:solidFill>
                <a:latin typeface="Arial"/>
                <a:cs typeface="Arial"/>
              </a:rPr>
              <a:t>WHIZUNIK </a:t>
            </a:r>
            <a:endParaRPr sz="5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5900" y="419100"/>
            <a:ext cx="2986405" cy="5791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dirty="0">
                <a:solidFill>
                  <a:srgbClr val="FFFFFF"/>
                </a:solidFill>
              </a:rPr>
              <a:t>One</a:t>
            </a:r>
            <a:r>
              <a:rPr sz="1800" spc="-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view</a:t>
            </a:r>
            <a:r>
              <a:rPr sz="1800" spc="-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of</a:t>
            </a:r>
            <a:r>
              <a:rPr sz="1800" spc="-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the</a:t>
            </a:r>
            <a:r>
              <a:rPr sz="1800" spc="-5" dirty="0">
                <a:solidFill>
                  <a:srgbClr val="FFFFFF"/>
                </a:solidFill>
              </a:rPr>
              <a:t> </a:t>
            </a:r>
            <a:r>
              <a:rPr sz="1800" spc="-10" dirty="0">
                <a:solidFill>
                  <a:srgbClr val="FFFFFF"/>
                </a:solidFill>
              </a:rPr>
              <a:t>business. </a:t>
            </a:r>
            <a:r>
              <a:rPr sz="1800" dirty="0">
                <a:solidFill>
                  <a:srgbClr val="BD8944"/>
                </a:solidFill>
              </a:rPr>
              <a:t>Better decisions every </a:t>
            </a:r>
            <a:r>
              <a:rPr sz="1800" spc="-20" dirty="0">
                <a:solidFill>
                  <a:srgbClr val="BD8944"/>
                </a:solidFill>
              </a:rPr>
              <a:t>day.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215900" y="1085850"/>
            <a:ext cx="14179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C6D3DA"/>
                </a:solidFill>
                <a:latin typeface="Arial MT"/>
                <a:cs typeface="Arial MT"/>
              </a:rPr>
              <a:t>Discover. Configure. Pilot. </a:t>
            </a:r>
            <a:r>
              <a:rPr sz="750" spc="-10" dirty="0">
                <a:solidFill>
                  <a:srgbClr val="C6D3DA"/>
                </a:solidFill>
                <a:latin typeface="Arial MT"/>
                <a:cs typeface="Arial MT"/>
              </a:rPr>
              <a:t>Scale.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600" y="4502500"/>
            <a:ext cx="1905000" cy="444500"/>
          </a:xfrm>
          <a:custGeom>
            <a:avLst/>
            <a:gdLst/>
            <a:ahLst/>
            <a:cxnLst/>
            <a:rect l="l" t="t" r="r" b="b"/>
            <a:pathLst>
              <a:path w="1905000" h="444500">
                <a:moveTo>
                  <a:pt x="184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81000"/>
                </a:lnTo>
                <a:lnTo>
                  <a:pt x="4985" y="405730"/>
                </a:lnTo>
                <a:lnTo>
                  <a:pt x="18586" y="425913"/>
                </a:lnTo>
                <a:lnTo>
                  <a:pt x="38769" y="439514"/>
                </a:lnTo>
                <a:lnTo>
                  <a:pt x="63500" y="444500"/>
                </a:lnTo>
                <a:lnTo>
                  <a:pt x="1841500" y="444500"/>
                </a:lnTo>
                <a:lnTo>
                  <a:pt x="1866230" y="439514"/>
                </a:lnTo>
                <a:lnTo>
                  <a:pt x="1886413" y="425913"/>
                </a:lnTo>
                <a:lnTo>
                  <a:pt x="1900014" y="405730"/>
                </a:lnTo>
                <a:lnTo>
                  <a:pt x="1905000" y="381000"/>
                </a:lnTo>
                <a:lnTo>
                  <a:pt x="1905000" y="63500"/>
                </a:lnTo>
                <a:lnTo>
                  <a:pt x="1900014" y="38769"/>
                </a:lnTo>
                <a:lnTo>
                  <a:pt x="1886413" y="18586"/>
                </a:lnTo>
                <a:lnTo>
                  <a:pt x="1866230" y="4985"/>
                </a:lnTo>
                <a:lnTo>
                  <a:pt x="1841500" y="0"/>
                </a:lnTo>
                <a:close/>
              </a:path>
            </a:pathLst>
          </a:custGeom>
          <a:solidFill>
            <a:srgbClr val="0C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5900" y="4572350"/>
            <a:ext cx="158051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550" b="1" spc="95" dirty="0">
                <a:solidFill>
                  <a:srgbClr val="E4D6C1"/>
                </a:solidFill>
                <a:latin typeface="Arial"/>
                <a:cs typeface="Arial"/>
              </a:rPr>
              <a:t>NEXT</a:t>
            </a:r>
            <a:r>
              <a:rPr sz="550" b="1" spc="260" dirty="0">
                <a:solidFill>
                  <a:srgbClr val="E4D6C1"/>
                </a:solidFill>
                <a:latin typeface="Arial"/>
                <a:cs typeface="Arial"/>
              </a:rPr>
              <a:t> </a:t>
            </a:r>
            <a:r>
              <a:rPr sz="550" b="1" spc="75" dirty="0">
                <a:solidFill>
                  <a:srgbClr val="E4D6C1"/>
                </a:solidFill>
                <a:latin typeface="Arial"/>
                <a:cs typeface="Arial"/>
              </a:rPr>
              <a:t>STEP </a:t>
            </a:r>
            <a:endParaRPr sz="55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  <a:spcBef>
                <a:spcPts val="59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guided</a:t>
            </a:r>
            <a:r>
              <a:rPr sz="60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WhizUnik</a:t>
            </a:r>
            <a:r>
              <a:rPr sz="60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discovery</a:t>
            </a:r>
            <a:r>
              <a:rPr sz="60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session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550" dirty="0">
                <a:solidFill>
                  <a:srgbClr val="C3D1D8"/>
                </a:solidFill>
                <a:latin typeface="Arial MT"/>
                <a:cs typeface="Arial MT"/>
                <a:hlinkClick r:id="rId2"/>
              </a:rPr>
              <a:t>www.whizunik.com</a:t>
            </a:r>
            <a:r>
              <a:rPr sz="550" spc="160" dirty="0">
                <a:solidFill>
                  <a:srgbClr val="C3D1D8"/>
                </a:solidFill>
                <a:latin typeface="Arial MT"/>
                <a:cs typeface="Arial MT"/>
              </a:rPr>
              <a:t> </a:t>
            </a:r>
            <a:r>
              <a:rPr sz="550" dirty="0">
                <a:solidFill>
                  <a:srgbClr val="C3D1D8"/>
                </a:solidFill>
                <a:latin typeface="Arial MT"/>
                <a:cs typeface="Arial MT"/>
              </a:rPr>
              <a:t>|</a:t>
            </a:r>
            <a:r>
              <a:rPr sz="550" spc="160" dirty="0">
                <a:solidFill>
                  <a:srgbClr val="C3D1D8"/>
                </a:solidFill>
                <a:latin typeface="Arial MT"/>
                <a:cs typeface="Arial MT"/>
              </a:rPr>
              <a:t> </a:t>
            </a:r>
            <a:r>
              <a:rPr sz="550" dirty="0">
                <a:solidFill>
                  <a:srgbClr val="C3D1D8"/>
                </a:solidFill>
                <a:latin typeface="Arial MT"/>
                <a:cs typeface="Arial MT"/>
              </a:rPr>
              <a:t>[add</a:t>
            </a:r>
            <a:r>
              <a:rPr sz="550" spc="5" dirty="0">
                <a:solidFill>
                  <a:srgbClr val="C3D1D8"/>
                </a:solidFill>
                <a:latin typeface="Arial MT"/>
                <a:cs typeface="Arial MT"/>
              </a:rPr>
              <a:t> </a:t>
            </a:r>
            <a:r>
              <a:rPr sz="550" dirty="0">
                <a:solidFill>
                  <a:srgbClr val="C3D1D8"/>
                </a:solidFill>
                <a:latin typeface="Arial MT"/>
                <a:cs typeface="Arial MT"/>
              </a:rPr>
              <a:t>contact</a:t>
            </a:r>
            <a:r>
              <a:rPr sz="550" spc="5" dirty="0">
                <a:solidFill>
                  <a:srgbClr val="C3D1D8"/>
                </a:solidFill>
                <a:latin typeface="Arial MT"/>
                <a:cs typeface="Arial MT"/>
              </a:rPr>
              <a:t> </a:t>
            </a:r>
            <a:r>
              <a:rPr sz="550" spc="-10" dirty="0">
                <a:solidFill>
                  <a:srgbClr val="C3D1D8"/>
                </a:solidFill>
                <a:latin typeface="Arial MT"/>
                <a:cs typeface="Arial MT"/>
              </a:rPr>
              <a:t>details]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/>
              <a:t>WHIZUNIK</a:t>
            </a:r>
            <a:r>
              <a:rPr sz="500" spc="10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dirty="0"/>
              <a:t>MANAGEMENT</a:t>
            </a:r>
            <a:r>
              <a:rPr spc="70" dirty="0"/>
              <a:t> </a:t>
            </a:r>
            <a:r>
              <a:rPr spc="-10" dirty="0"/>
              <a:t>PLATFORM</a:t>
            </a:r>
            <a:endParaRPr sz="5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3D1D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794</Words>
  <Application>Microsoft Office PowerPoint</Application>
  <PresentationFormat>Custom</PresentationFormat>
  <Paragraphs>148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MS Gothic</vt:lpstr>
      <vt:lpstr>Aptos</vt:lpstr>
      <vt:lpstr>Arial</vt:lpstr>
      <vt:lpstr>Arial MT</vt:lpstr>
      <vt:lpstr>Calibri</vt:lpstr>
      <vt:lpstr>Office Theme</vt:lpstr>
      <vt:lpstr>Every moving part. One clear decision.</vt:lpstr>
      <vt:lpstr>The business does not run in departments. Neither should management visibility.</vt:lpstr>
      <vt:lpstr>The whole business, at a glance.</vt:lpstr>
      <vt:lpstr>Forecast and reorder with confidence.</vt:lpstr>
      <vt:lpstr>Protect margin. Release excess stock.</vt:lpstr>
      <vt:lpstr>Every account has an owner and a next move.</vt:lpstr>
      <vt:lpstr>Collections become a management priority.</vt:lpstr>
      <vt:lpstr>Supplier documents and stock movement, connected.</vt:lpstr>
      <vt:lpstr>See incoming and outgoing cash together.</vt:lpstr>
      <vt:lpstr>One event. A smarter business view.</vt:lpstr>
      <vt:lpstr>A premium platform. Backed by people.</vt:lpstr>
      <vt:lpstr>One view of the business. Better decisions every day.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WhizUnik Premium Business Management Booklet</dc:title>
  <dc:subject>unspecified</dc:subject>
  <dc:creator>anonymous</dc:creator>
  <cp:lastModifiedBy>Ram Shrivastava</cp:lastModifiedBy>
  <cp:revision>2</cp:revision>
  <dcterms:created xsi:type="dcterms:W3CDTF">2026-08-14T09:03:38Z</dcterms:created>
  <dcterms:modified xsi:type="dcterms:W3CDTF">2026-08-17T07:26:30Z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2026-08-14T00:00:00Z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2026-08-14T00:00:00Z</vt:filetime>
  </property>
  <property fmtid="{D5CDD505-2E9C-101B-9397-08002B2CF9AE}" pid="6" name="Producer">
    <vt:lpwstr>macOS Version 26.5.2 (Build 25F84) Quartz PDFContext, AppendMode 1.1</vt:lpwstr>
  </property>
</Properties>
</file>