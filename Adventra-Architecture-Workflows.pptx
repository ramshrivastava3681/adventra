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This deck is the technical companion to the product walkthrough: Part A covers the system architecture (frontend, backend, DynamoDB single-table design, auth/security, deployment); Part B covers every goods and inventory workflow — procurement, sales, the confirmed-document stock rules, the forecast engine, maker–checker gates, status machines, advance deduction, and cancellation semantics.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Architecture. Browser loads a client-only React 19 SPA (static files) from Nginx; the SPA calls /api over HTTPS with a same-origin httpOnly session cookie. Nginx reverse-proxies /api to the Express API on :4040 (PM2-managed). Express talks to a single DynamoDB table and S3 for uploads via the AWS SDK. Monorepo: root package.json runs both apps; the forecast engine is a shared file kept in sync between frontend and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Frontend. React 19 + TypeScript on Vite; TanStack Router for typed file-based routing, TanStack Query for server state, Tailwind v4 + shadcn/Radix for UI. The api-client wraps fetch with credentials include and typed errors; AuthProvider manages the session with a sequence guard; client route guards are UX, server requireRole is security; reporting managers impersonate via viewAsUserId. The forecast engine is shared verbatim with the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Backend. The left card lists the stack (Express 4, AWS SDK v3, multer, nodemailer, pdfkit, security libs). The right card shows the exact middleware order: boot guard → Helmet → CORS → cookie parser → bounded body parsers → logger with redaction → sanitizer → snake/camel transform → CSRF origin guard → rate limiter → routes → centralized error handler that never leaks internals. Business logic lives in models/*; routes are thin.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DynamoDB. One table holds all entities, discriminated by entityType. PK/SK identify items; GSI1 gives everything-for-one-client newest-first; GSI2 gives global per-type queries. Concurrency is handled by updateItemIf conditional updates so exactly one concurrent confirm wins. Relations are modeled by snapshotting line items and storing linked IDs — documents are immutable. Trade-off: joins in app code, and scanByType is a documented scaling concern.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Auth. Flow: login → bcrypt verify → JWT (7-day, iss/aud/jti) → httpOnly SameSite=Strict cookie → authMiddleware on each request. CSRF is two-layered (SameSite + Origin allowlist); rate limits count only failed attempts so shared NAT IPs are safe; uploads are validated by magic bytes with userId-scoped keys; RBAC is enforced server-side; all workflow and security events go to an append-only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Deployment. Build: vite for the SPA (static), tsc for the API. Deploy: PM2 fork mode with auto-restart; Nginx serves the SPA with fallback and proxies /api to :4040; certbot handles TLS. Run: DynamoDB + S3; an hourly scheduler sends once-per-day overdue reminders; forecasts recompute on startup and after stock events; the admin user is seeded from env. Everything is env-driven.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for Part B: business workflows. The core rule — a document never touches stock; only a confirmed GRN or dispatch does — is what every subsequent slide builds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rule. Draft/cancelled movements never count; live stock is derived from confirmed movements only. The table maps every document to its stock effect: only confirmed GRNs (stock-in), confirmed dispatches (stock-out), returns and confirmed manual movements touch inventory. Orders, proformas, quotations and invoices are commitments — never stock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Procurement. Supplier proforma (purchase-side quotation) → Purchase Order (the commitment) → Purchase Invoice (payable, links the PO, never touches stock) → GRN (the only stock-in document, on confirm) → confirmed stock-in movements. Note the gates: convert-to-PO needs checker approval; purchase invoices need an approved and sent PO; GRN confirm requires a sent/partially-received PO. Cancelling a GRN reverses stock and revokes PO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Sales. Quotation (offer, dual approval tracks) → Sales Order (confirmed commitment) → Dispatch (the only stock-out document, on confirm) → Sales Invoice (must link a confirmed SO; NOA + reminders + payments) → collections. Same pattern as procurement mirrored: only a confirmed dispatch debits stock; deliveries don't; returns credit stock back in and reopen the SO for re-dispatch.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steps. GRN confirm (stock-in) and dispatch confirm (stock-out) are the only places inventory moves on the goods documents. Both re-validate against the live parent document, flip status atomically via a DynamoDB conditional update, create confirmed movements, and fold quantities into the parent. Delivery has no stock impact; returns credit stock back in. Cancellation reverses the exact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Inventory. Every stock event is one atomic ledger row; live stock is always derived as confirmed in minus confirmed out. System-created movements are immutable (manage from the source document); manual drafts follow a save-draft/confirm flow; cancelling a confirmed movement drops it from the balance rather than creating a reversal. Manual reasons include opening stock, adjustments, damage, samples, and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 engine. Per SKU: bucket 12 months of confirmed stock-outs → availability correction → weighted baseline → OLS trend → seasonality → 6-month horizon with 80% intervals → live pace adjustment → days of cover → reorder recommendation → timeline/urgency → momentum and velocity tags → pricing recommendation (never auto-applied). The engine is shared verbatim between server and client; recomputes fire on every stock-affecting event plus a daily check and startup.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Reorder math. dailyAvg from corrected demand over the last 3 calendar months; requiredStock = dailyAvg × (leadTime + safetyStockDays); recommended = max(0, required − position), capped, raised to MOQ, rounded up to order multiples. Timeline shows next refill, last safe reorder-by, and estimated stockout date with urgency. Velocity is category-relative; momentum from recent 3-month averages; pricing advice (clearance/markdown/hold/protect) is never auto-applied and respects the margin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Maker–checker. Makers create and submit; checkers approve or reject with comments (quotation prices, proforma funding, PO approval, invoice approval/dispute); treasury records payments and funds proformas; sales reps are read-only except quotations; admin can do everything. The critical gates are enforced server-side in the models — UI gating is UX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machines. POs, purchase invoices, sales invoices, GRNs, dispatches and quotations each have a status machine. Some statuses are user actions (draft, approved, sent, confirmed, cancelled); others are derived from underlying movements (partially/fully received and dispatched, delivered). Quotations and proformas additionally carry maker–checker and funding approval tracks rendered as separate pills. Derived statuses recompute; manualStatus is stored for clean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Advance deduction &amp; payments. Sales invoices deduct the larger of advances actually received and the agreed advance % against a linked customer proforma; purchase invoices mirror this on the supplier side. Both are computed server-side from recorded advances; the stored amount is the net figure the funding pipeline reads. Payments accumulate via recordPayment, deriving partially_paid/paid with paidDate and lateDays; a full reversal returns the invoice to approved_for_payment; NOA is emailed with the PDF and a token, and only marks sent after success.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Reversal semantics. GRN cancel reverses with stock-out movements and revokes PO receipt; dispatch cancel reverses with stock-in movements and revokes SO dispatch; returns credit stock back in and reopen the SO. A cancelled manual movement creates no reversal — it just drops out of the derived balance. Payment reversals restore the prior status; email failures never roll back status; conditional updates make duplicate requests harmless. Everything is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The eleven invariants that make the ledger truthful: immutable snapshots, dual-track statuses, derived statuses, atomic conditional updates, self-reversing cancellations, idempotent emails, server-side advance math, duplicate detection, number discipline, an immutable audit trail, and async failure-isolated forecast recomputes. Every diagram in this deck maps directly to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1632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· v2.4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DECK · ARCHITECTURE &amp; WORKFLOWS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1887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Workflow Diagrams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complete system architecture and every goods/inventory workflow, extracted directly from the Adventra implementation — React SPA on Express + DynamoDB, with a race-safe double-entry stock ledger and a shared demand-forecast engine.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224528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1233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3525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A — ARCHITECTURE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46817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system · frontend · backend</a:t>
            </a:r>
            <a:endParaRPr lang="en-US" sz="1000" dirty="0"/>
          </a:p>
          <a:p>
            <a:pPr marL="114300" indent="-1143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DynamoDB single-table design</a:t>
            </a:r>
            <a:endParaRPr lang="en-US" sz="1000" dirty="0"/>
          </a:p>
          <a:p>
            <a:pPr marL="114300" indent="-1143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&amp; security · deployment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4224528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1233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43525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— WORKFLOWS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7960" y="468172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&amp; sales end-to-end</a:t>
            </a:r>
            <a:endParaRPr lang="en-US" sz="1000" dirty="0"/>
          </a:p>
          <a:p>
            <a:pPr marL="114300" indent="-1143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GRN / Dispatch confirm (the money steps)</a:t>
            </a:r>
            <a:endParaRPr lang="en-US" sz="1000" dirty="0"/>
          </a:p>
          <a:p>
            <a:pPr marL="114300" indent="-1143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ledger · forecasting · maker–checker</a:t>
            </a:r>
            <a:endParaRPr lang="en-US" sz="1000" dirty="0"/>
          </a:p>
          <a:p>
            <a:pPr marL="114300" indent="-1143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machines · advances · reversals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A ·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system architecture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two-tier web app: React 19 SPA → Express 4 API → DynamoDB + S3. Nginx serves the SPA and proxies /api in production.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0588"/>
            </a:avLst>
          </a:prstGeom>
          <a:solidFill>
            <a:srgbClr val="E6F0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956816"/>
            <a:ext cx="7717536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— React 19 SPA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" y="2246681"/>
            <a:ext cx="771753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Router · TanStack Query · Tailwind · client-only (static files)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25112" y="2743200"/>
            <a:ext cx="219456" cy="347472"/>
          </a:xfrm>
          <a:prstGeom prst="downArrow">
            <a:avLst/>
          </a:prstGeom>
          <a:solidFill>
            <a:srgbClr val="00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706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· /api · JSON · httpOnly session cookie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3136392"/>
            <a:ext cx="7863840" cy="777240"/>
          </a:xfrm>
          <a:prstGeom prst="roundRect">
            <a:avLst>
              <a:gd name="adj" fmla="val 10588"/>
            </a:avLst>
          </a:prstGeom>
          <a:solidFill>
            <a:srgbClr val="E6F7FE"/>
          </a:solidFill>
          <a:ln w="16510">
            <a:solidFill>
              <a:srgbClr val="00B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172968"/>
            <a:ext cx="7717536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 (production)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3462833"/>
            <a:ext cx="771753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serves built SPA · SPA fallback → index.html · reverse-proxies /api/* → Express :4040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25112" y="3959352"/>
            <a:ext cx="219456" cy="347472"/>
          </a:xfrm>
          <a:prstGeom prst="downArrow">
            <a:avLst/>
          </a:prstGeom>
          <a:solidFill>
            <a:srgbClr val="0066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9227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 (REST/JSON)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4352544"/>
            <a:ext cx="7863840" cy="777240"/>
          </a:xfrm>
          <a:prstGeom prst="roundRect">
            <a:avLst>
              <a:gd name="adj" fmla="val 10588"/>
            </a:avLst>
          </a:prstGeom>
          <a:solidFill>
            <a:srgbClr val="0A2540"/>
          </a:solidFill>
          <a:ln w="16510">
            <a:solidFill>
              <a:srgbClr val="0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4389120"/>
            <a:ext cx="7717536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4 + TypeScript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" y="4678985"/>
            <a:ext cx="771753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PM2-managed Node process · security stack → middleware → routes → model layer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331720" y="5166360"/>
            <a:ext cx="219456" cy="310896"/>
          </a:xfrm>
          <a:prstGeom prst="downArrow">
            <a:avLst/>
          </a:prstGeom>
          <a:solidFill>
            <a:srgbClr val="0066FF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5129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SDK v3 · parameterized queries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309360" y="5166360"/>
            <a:ext cx="219456" cy="310896"/>
          </a:xfrm>
          <a:prstGeom prst="downArrow">
            <a:avLst/>
          </a:prstGeom>
          <a:solidFill>
            <a:srgbClr val="0066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129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presigned uploads / reads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" y="5513832"/>
            <a:ext cx="37490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5550408"/>
            <a:ext cx="36027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DynamoDB — single table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" y="5859475"/>
            <a:ext cx="36027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entity · GSI1 per client, GSI2 per type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17720" y="5513832"/>
            <a:ext cx="37490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5550408"/>
            <a:ext cx="360273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— private bucket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90872" y="5859475"/>
            <a:ext cx="360273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&amp; product images · presigned URLs (120s TTL)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641080" y="1920240"/>
            <a:ext cx="3063240" cy="44348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202082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MONOREPO LAYOUT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78240" y="233172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package.json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both apps with concurrently</a:t>
            </a:r>
            <a:endParaRPr lang="en-US" sz="750" dirty="0"/>
          </a:p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SPA → static files (no Node at runtime)</a:t>
            </a:r>
            <a:endParaRPr lang="en-US" sz="750" dirty="0"/>
          </a:p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backend/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API · middleware · models</a:t>
            </a:r>
            <a:endParaRPr lang="en-US" sz="750" dirty="0"/>
          </a:p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engine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forecast-engine.ts — same file, server &amp; client (KEEP IN SYNC)</a:t>
            </a:r>
            <a:endParaRPr lang="en-US" sz="750" dirty="0"/>
          </a:p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deploy/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 config · ecosystem.config.cjs (PM2)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A ·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architecture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Client-only SPA — typed routing, server-state cache, and a shadcn/Radix component layer.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842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&amp; RENDERING STACK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2295144"/>
            <a:ext cx="5074920" cy="438912"/>
          </a:xfrm>
          <a:prstGeom prst="roundRect">
            <a:avLst>
              <a:gd name="adj" fmla="val 1458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295144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TypeScript 5.8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" y="2514600"/>
            <a:ext cx="4855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components · typed route tree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" y="2798064"/>
            <a:ext cx="5074920" cy="438912"/>
          </a:xfrm>
          <a:prstGeom prst="roundRect">
            <a:avLst>
              <a:gd name="adj" fmla="val 1458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798064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" y="3017520"/>
            <a:ext cx="4855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server · bundling · /api → localhost:4040 proxy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8368" y="3300984"/>
            <a:ext cx="5074920" cy="438912"/>
          </a:xfrm>
          <a:prstGeom prst="roundRect">
            <a:avLst>
              <a:gd name="adj" fmla="val 1458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300984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Router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" y="3520440"/>
            <a:ext cx="4855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file-based routes · typed search params (zod)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" y="3803904"/>
            <a:ext cx="5074920" cy="438912"/>
          </a:xfrm>
          <a:prstGeom prst="roundRect">
            <a:avLst>
              <a:gd name="adj" fmla="val 1458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803904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 v5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" y="4023360"/>
            <a:ext cx="4855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server-state cache · invalidation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58368" y="4306824"/>
            <a:ext cx="5074920" cy="438912"/>
          </a:xfrm>
          <a:prstGeom prst="roundRect">
            <a:avLst>
              <a:gd name="adj" fmla="val 1458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4306824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v4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8096" y="4526280"/>
            <a:ext cx="4855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utility-first styling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8368" y="4809744"/>
            <a:ext cx="5074920" cy="438912"/>
          </a:xfrm>
          <a:prstGeom prst="roundRect">
            <a:avLst>
              <a:gd name="adj" fmla="val 1458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4809744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shadcn/ui + Radix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" y="5029200"/>
            <a:ext cx="4855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dialog · dropdown · tabs · table · select · tooltip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8368" y="5312664"/>
            <a:ext cx="5074920" cy="438912"/>
          </a:xfrm>
          <a:prstGeom prst="roundRect">
            <a:avLst>
              <a:gd name="adj" fmla="val 1458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5312664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lucide · sonner · cmdk · vaul · embla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8096" y="5532120"/>
            <a:ext cx="4855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icons · toasts · command palette · drawers · carousel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5815584"/>
            <a:ext cx="5074920" cy="438912"/>
          </a:xfrm>
          <a:prstGeom prst="roundRect">
            <a:avLst>
              <a:gd name="adj" fmla="val 1458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5815584"/>
            <a:ext cx="4855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 · react-hook-form + zod · date-fns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8096" y="6035040"/>
            <a:ext cx="4855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charts · forms &amp; validation · dates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72200" y="1874520"/>
            <a:ext cx="55321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198424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SPA TALKS TO THE API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27648" y="2295144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api-client.ts</a:t>
            </a:r>
            <a:endParaRPr lang="en-US" sz="850" dirty="0"/>
          </a:p>
          <a:p>
            <a:pPr marL="279400" indent="-279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fetch wrapper · credentials: include · consistent error objects</a:t>
            </a:r>
            <a:endParaRPr lang="en-US" sz="850" dirty="0"/>
          </a:p>
          <a:p>
            <a:pPr marL="114300" indent="-1143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AuthProvider</a:t>
            </a:r>
            <a:endParaRPr lang="en-US" sz="850" dirty="0"/>
          </a:p>
          <a:p>
            <a:pPr marL="279400" indent="-279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context calling /auth/me · sequence guard (stale responses can't overwrite fresh sessions) · derived role flags</a:t>
            </a:r>
            <a:endParaRPr lang="en-US" sz="850" dirty="0"/>
          </a:p>
          <a:p>
            <a:pPr marL="114300" indent="-1143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guards</a:t>
            </a:r>
            <a:endParaRPr lang="en-US" sz="850" dirty="0"/>
          </a:p>
          <a:p>
            <a:pPr marL="279400" indent="-279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gating is UX only — real enforcement is server-side requireRole</a:t>
            </a:r>
            <a:endParaRPr lang="en-US" sz="850" dirty="0"/>
          </a:p>
          <a:p>
            <a:pPr marL="114300" indent="-1143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view-as</a:t>
            </a:r>
            <a:endParaRPr lang="en-US" sz="850" dirty="0"/>
          </a:p>
          <a:p>
            <a:pPr marL="279400" indent="-279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GETs forward viewAsUserId so reporting managers can impersonate read-only</a:t>
            </a:r>
            <a:endParaRPr lang="en-US" sz="850" dirty="0"/>
          </a:p>
          <a:p>
            <a:pPr marL="114300" indent="-1143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forecast engine</a:t>
            </a:r>
            <a:endParaRPr lang="en-US" sz="850" dirty="0"/>
          </a:p>
          <a:p>
            <a:pPr marL="279400" indent="-279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identical file in frontend &amp; backend — identical math, instant display</a:t>
            </a:r>
            <a:endParaRPr lang="en-US" sz="850" dirty="0"/>
          </a:p>
          <a:p>
            <a:pPr marL="114300" indent="-1143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global store</a:t>
            </a:r>
            <a:endParaRPr lang="en-US" sz="850" dirty="0"/>
          </a:p>
          <a:p>
            <a:pPr marL="279400" indent="-279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state → TanStack Query · auth → context · UI state → hooks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2920" y="6464808"/>
            <a:ext cx="1856781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" y="6501384"/>
            <a:ext cx="1710477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event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6072" y="6695237"/>
            <a:ext cx="1710477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· submit · cmd+K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377989" y="6638544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43" name="Shape 41"/>
          <p:cNvSpPr/>
          <p:nvPr/>
        </p:nvSpPr>
        <p:spPr>
          <a:xfrm>
            <a:off x="2835189" y="6464808"/>
            <a:ext cx="1856781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08341" y="6501384"/>
            <a:ext cx="1710477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+ loader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908341" y="6695237"/>
            <a:ext cx="1710477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Router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10257" y="6638544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47" name="Shape 45"/>
          <p:cNvSpPr/>
          <p:nvPr/>
        </p:nvSpPr>
        <p:spPr>
          <a:xfrm>
            <a:off x="5167457" y="6464808"/>
            <a:ext cx="1856781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40609" y="6501384"/>
            <a:ext cx="1710477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hook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240609" y="6695237"/>
            <a:ext cx="1710477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 cache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042526" y="6638544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51" name="Shape 49"/>
          <p:cNvSpPr/>
          <p:nvPr/>
        </p:nvSpPr>
        <p:spPr>
          <a:xfrm>
            <a:off x="7499726" y="6464808"/>
            <a:ext cx="1856781" cy="548640"/>
          </a:xfrm>
          <a:prstGeom prst="roundRect">
            <a:avLst>
              <a:gd name="adj" fmla="val 15000"/>
            </a:avLst>
          </a:prstGeom>
          <a:solidFill>
            <a:srgbClr val="E6F0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2878" y="6501384"/>
            <a:ext cx="1710477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api-client.ts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572878" y="6695237"/>
            <a:ext cx="1710477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· JSON · errors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374795" y="6638544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55" name="Shape 53"/>
          <p:cNvSpPr/>
          <p:nvPr/>
        </p:nvSpPr>
        <p:spPr>
          <a:xfrm>
            <a:off x="9831995" y="6464808"/>
            <a:ext cx="1856781" cy="548640"/>
          </a:xfrm>
          <a:prstGeom prst="roundRect">
            <a:avLst>
              <a:gd name="adj" fmla="val 15000"/>
            </a:avLst>
          </a:prstGeom>
          <a:solidFill>
            <a:srgbClr val="0A2540"/>
          </a:solidFill>
          <a:ln w="16510">
            <a:solidFill>
              <a:srgbClr val="0A25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05147" y="6501384"/>
            <a:ext cx="1710477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905147" y="6695237"/>
            <a:ext cx="1710477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httpOnly cookie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A ·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stack &amp; middleware chain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Express process: a strict middleware pipeline in front of route handlers, with business logic in a model layer.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475488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842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STACK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2295144"/>
            <a:ext cx="4443984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295144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" y="2532888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20+ ESM · Express 4 · TypeScript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" y="2807208"/>
            <a:ext cx="4443984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80720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" y="3044952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jsonwebtoken · bcryptjs (12 rounds) · cookie-parser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8368" y="3319272"/>
            <a:ext cx="4443984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319272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" y="3557016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SDK v3 — DynamoDB + S3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" y="3831336"/>
            <a:ext cx="4443984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831336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" y="4069080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multer (magic-byte validated)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58368" y="4343400"/>
            <a:ext cx="4443984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4343400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/ PDF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8096" y="4581144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nodemailer (SMTP) · pdfkit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8368" y="4855464"/>
            <a:ext cx="4443984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4855464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/ IDs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" y="5093208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zod · uuid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8368" y="5367528"/>
            <a:ext cx="4443984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536752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8096" y="5605272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helmet · cors · express-rate-limit · slow-down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5879592"/>
            <a:ext cx="4443984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" y="5879592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8096" y="6117336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dotenv · PM2 (ecosystem.config.cjs)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32120" y="1874520"/>
            <a:ext cx="617220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198424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 CHAIN — IN ORDER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87568" y="2295144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97296" y="2295144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Boot guard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797296" y="2532888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 refuses to start without JWT_SECRET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687568" y="2807208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97296" y="2807208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Helmet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797296" y="3044952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CSP · HSTS (prod) · Permissions-Policy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687568" y="3319272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97296" y="3319272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CORS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797296" y="3557016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 allowlist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87568" y="3831336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97296" y="3831336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Cookie parser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797296" y="4069080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cookie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687568" y="4343400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97296" y="434340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Body parsers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797296" y="4581144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bounded (5 MB JSON)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687568" y="4855464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97296" y="4855464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· Request logger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797296" y="5093208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redaction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778240" y="2295144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87968" y="2295144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· Sanitizer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887968" y="2532888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prototype-pollution defense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778240" y="2807208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87968" y="2807208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· Transform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887968" y="3044952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snake_case ↔ camelCase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778240" y="3319272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87968" y="3319272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· CSRF guard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887968" y="3557016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 allowlist on non-GET /api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778240" y="3831336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87968" y="3831336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Rate limit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887968" y="4069080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API-wide backstop + no-store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778240" y="4343400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887968" y="434340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Routes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887968" y="4581144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handlers → models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778240" y="4855464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87968" y="4855464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Error handler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8887968" y="5093208"/>
            <a:ext cx="2569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leaks err.message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549640" y="2423160"/>
            <a:ext cx="164592" cy="274320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75" name="Shape 73"/>
          <p:cNvSpPr/>
          <p:nvPr/>
        </p:nvSpPr>
        <p:spPr>
          <a:xfrm>
            <a:off x="8549640" y="4069080"/>
            <a:ext cx="164592" cy="274320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76" name="Shape 74"/>
          <p:cNvSpPr/>
          <p:nvPr/>
        </p:nvSpPr>
        <p:spPr>
          <a:xfrm>
            <a:off x="502920" y="6519672"/>
            <a:ext cx="11201400" cy="658368"/>
          </a:xfrm>
          <a:prstGeom prst="roundRect">
            <a:avLst>
              <a:gd name="adj" fmla="val 13889"/>
            </a:avLst>
          </a:prstGeom>
          <a:solidFill>
            <a:srgbClr val="0A2540"/>
          </a:solidFill>
          <a:ln/>
        </p:spPr>
      </p:sp>
      <p:sp>
        <p:nvSpPr>
          <p:cNvPr id="77" name="Text 75"/>
          <p:cNvSpPr/>
          <p:nvPr/>
        </p:nvSpPr>
        <p:spPr>
          <a:xfrm>
            <a:off x="731520" y="6519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routes/index.ts = thin REST handlers · models/* = DynamoDB CRUD + domain rules (assertSOReceivable, flipToConfirmed, advance deduction) · middleware/* = cross-cutting concerns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A ·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DynamoDB single-table design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table holds every entity. Access is by key convention; concurrency is solved with conditional updates.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92808"/>
            <a:ext cx="11201400" cy="731520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65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table «InsightFactor» — every entity in 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USER# · PRODUCT# · INV# · PO# · GRN# · DSP# · MOV# · FORECAST# · AUDIT# · CLIENT# · …   (entityType attribute discriminates the shapes)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986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KEYS &amp; ACCESS PATTERNS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3191256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/ SK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— SK mirrors PK for simple gets</a:t>
            </a:r>
            <a:endParaRPr lang="en-US" sz="750" dirty="0"/>
          </a:p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GSI1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PK=CLIENT#&lt;id&gt; · SK=&lt;Type&gt;#&lt;createdAt&gt; → everything for one client, newest first</a:t>
            </a:r>
            <a:endParaRPr lang="en-US" sz="750" dirty="0"/>
          </a:p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GSI2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PK=&lt;entityType&gt; → global per-type queries</a:t>
            </a:r>
            <a:endParaRPr lang="en-US" sz="750" dirty="0"/>
          </a:p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helpers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getItem · putItem · updateItem · updateItemIf · queryByGSI1 · scanByType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297680" y="278892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28986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 CONTROL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53128" y="3191256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updateItemIf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 ConditionExpression — e.g. SET status=:new WHERE status='draft'</a:t>
            </a:r>
            <a:endParaRPr lang="en-US" sz="7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Exactly one winner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condition → null = “already confirmed” → credit nothing</a:t>
            </a:r>
            <a:endParaRPr lang="en-US" sz="7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Double-clicks harmless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confirms, retries and races become no-ops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092440" y="278892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28986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RELATIONS WITHOUT JOINS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47888" y="3191256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Snapshotting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items copy sku · name · unit · price at creation</a:t>
            </a:r>
            <a:endParaRPr lang="en-US" sz="7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IDs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goodsSalesOrderId · poNumber … + app-level aggregation</a:t>
            </a:r>
            <a:endParaRPr lang="en-US" sz="7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7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documents</a:t>
            </a:r>
            <a:endParaRPr lang="en-US" sz="75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deleting a product never corrupts old documents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02920" y="5678424"/>
            <a:ext cx="11201400" cy="685800"/>
          </a:xfrm>
          <a:prstGeom prst="roundRect">
            <a:avLst>
              <a:gd name="adj" fmla="val 13333"/>
            </a:avLst>
          </a:prstGeom>
          <a:solidFill>
            <a:srgbClr val="E6F0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67842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 trade-off: per-client queries hit one GSI1 partition (cheap single-key reads, no connection pooling, no migrations) — cross-entity joins happen in application code; a few places use scanByType (fine at current scale, flagged to move to paginated GSIs).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A ·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&amp; security flows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Stateless JWT in an httpOnly cookie, with CSRF, rate-limit, upload and RBAC defenses layered on top.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4846320" cy="621792"/>
          </a:xfrm>
          <a:prstGeom prst="roundRect">
            <a:avLst>
              <a:gd name="adj" fmla="val 13235"/>
            </a:avLst>
          </a:prstGeom>
          <a:solidFill>
            <a:srgbClr val="F7F9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956816"/>
            <a:ext cx="470001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Login / signup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" y="2181393"/>
            <a:ext cx="470001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+ password · bcrypt 12 rounds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816352" y="2587752"/>
            <a:ext cx="219456" cy="274320"/>
          </a:xfrm>
          <a:prstGeom prst="downArrow">
            <a:avLst/>
          </a:prstGeom>
          <a:solidFill>
            <a:srgbClr val="006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907792"/>
            <a:ext cx="4846320" cy="621792"/>
          </a:xfrm>
          <a:prstGeom prst="roundRect">
            <a:avLst>
              <a:gd name="adj" fmla="val 13235"/>
            </a:avLst>
          </a:prstGeom>
          <a:solidFill>
            <a:srgbClr val="F7F9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944368"/>
            <a:ext cx="470001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Verify credentials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" y="3168945"/>
            <a:ext cx="470001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· failed attempts counted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816352" y="3575304"/>
            <a:ext cx="219456" cy="274320"/>
          </a:xfrm>
          <a:prstGeom prst="downArrow">
            <a:avLst/>
          </a:prstGeom>
          <a:solidFill>
            <a:srgbClr val="006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895344"/>
            <a:ext cx="4846320" cy="621792"/>
          </a:xfrm>
          <a:prstGeom prst="roundRect">
            <a:avLst>
              <a:gd name="adj" fmla="val 13235"/>
            </a:avLst>
          </a:prstGeom>
          <a:solidFill>
            <a:srgbClr val="F7F9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931920"/>
            <a:ext cx="470001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Sign JWT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" y="4156497"/>
            <a:ext cx="470001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7-day expiry · iss / aud / jti claims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16352" y="4562856"/>
            <a:ext cx="219456" cy="274320"/>
          </a:xfrm>
          <a:prstGeom prst="downArrow">
            <a:avLst/>
          </a:prstGeom>
          <a:solidFill>
            <a:srgbClr val="006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4882896"/>
            <a:ext cx="4846320" cy="621792"/>
          </a:xfrm>
          <a:prstGeom prst="roundRect">
            <a:avLst>
              <a:gd name="adj" fmla="val 13235"/>
            </a:avLst>
          </a:prstGeom>
          <a:solidFill>
            <a:srgbClr val="E6F0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919472"/>
            <a:ext cx="470001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Set session cookie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" y="5144049"/>
            <a:ext cx="470001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httpOnly · SameSite=Strict · Secure in prod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16352" y="5550408"/>
            <a:ext cx="219456" cy="274320"/>
          </a:xfrm>
          <a:prstGeom prst="downArrow">
            <a:avLst/>
          </a:prstGeom>
          <a:solidFill>
            <a:srgbClr val="0066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5870448"/>
            <a:ext cx="4846320" cy="621792"/>
          </a:xfrm>
          <a:prstGeom prst="roundRect">
            <a:avLst>
              <a:gd name="adj" fmla="val 13235"/>
            </a:avLst>
          </a:prstGeom>
          <a:solidFill>
            <a:srgbClr val="0A2540"/>
          </a:solidFill>
          <a:ln w="16510">
            <a:solidFill>
              <a:srgbClr val="0A25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5907024"/>
            <a:ext cx="4700016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Every request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" y="6131601"/>
            <a:ext cx="4700016" cy="33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authMiddleware verifies signature · expiry · issuer → req.user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6583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Logout clears the cookie · Authorization: Bearer kept as a script fallback · client JS never sees the token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06440" y="1874520"/>
            <a:ext cx="589788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61888" y="198424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CONTROLS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61888" y="2295144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CSRF — two layers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SameSite=Strict cookie + server-side Origin allowlist on every non-GET /api (evil origins get 403)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 — failed-only limits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30/15min per IP · 10/15min per account+IP · signup 10/hr · token endpoints 60/15min · API backstop 1000/15min · slow-down throttles repeats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Uploads — magic bytes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rejects HTML/SVG/executables by content, not Content-Type · S3 keys scoped userId/ · presigned URLs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— requireRole server-side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· checker · treasury · sales_rep · operations · reporting_manager · factor_admin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append-only log of workflow + security events (actor · action · target · IP · UA)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 guard + error handling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start without JWT_SECRET · centralized handler never leaks err.message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A ·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&amp; operations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both apps, ship static files + one Node process, run under PM2 behind Nginx with Let's Encrypt TLS.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842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BUILD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295144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build → dist/ (hashed static assets)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tsc build → dist/server.js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 split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VITE_* baked into the JS bundle at build time · backend .env read at runtime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97680" y="187452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19842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DEPLOY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53128" y="2295144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PM2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fork mode · auto-restart · max-memory 500 MB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serves SPA · SPA fallback → index.html · /api → localhost:4040 · /assets cached 1 yr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TLS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8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Encrypt via certbot, auto-renewing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92440" y="187452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9842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RUN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47888" y="2295144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DynamoDB table + S3 bucket (private)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Scheduler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reminder cron — once/day per invoice (lastOverdueReminderDate)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recompute on startup + after every stock event (async)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/ promote admin from env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5111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ENVIRONMENT-DRIVEN 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31720" y="505663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2331720" y="5056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73552" y="505663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73552" y="5056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NODE_ENV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15384" y="505663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4215384" y="5056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JWT_SECRET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57216" y="505663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5157216" y="5056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AWS_*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99048" y="505663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29" name="Text 27"/>
          <p:cNvSpPr/>
          <p:nvPr/>
        </p:nvSpPr>
        <p:spPr>
          <a:xfrm>
            <a:off x="6099048" y="5056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DYNAMODB_TABLE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040880" y="505663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5056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S3_BUCKET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982712" y="505663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33" name="Text 31"/>
          <p:cNvSpPr/>
          <p:nvPr/>
        </p:nvSpPr>
        <p:spPr>
          <a:xfrm>
            <a:off x="7982712" y="5056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CORS_ORIGIN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924544" y="505663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35" name="Text 33"/>
          <p:cNvSpPr/>
          <p:nvPr/>
        </p:nvSpPr>
        <p:spPr>
          <a:xfrm>
            <a:off x="8924544" y="5056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SMTP_*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866376" y="505663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37" name="Text 35"/>
          <p:cNvSpPr/>
          <p:nvPr/>
        </p:nvSpPr>
        <p:spPr>
          <a:xfrm>
            <a:off x="9866376" y="5056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APP_URL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808208" y="505663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39" name="Text 37"/>
          <p:cNvSpPr/>
          <p:nvPr/>
        </p:nvSpPr>
        <p:spPr>
          <a:xfrm>
            <a:off x="10808208" y="5056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RL_*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55138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prod refuses to start with a missing/weak JWT_SECRET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1632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· v2.4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5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BUSINESS WORKFLOWS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procurement to payment — every flow, mapped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rule that ties everything together: a document never touches stock — only a confirmed goods document does.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· The ONE rule — documents never touch stock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21208" y="351129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40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Procurement: proforma → PO → invoice → GRN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21208" y="396849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97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Sales: quotation → SO → dispatch → invoice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1208" y="442569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754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GRN &amp; dispatch confirm — the money steps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1208" y="488289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12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· Inventory ledger &amp; live stock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21208" y="534009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383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· Demand-forecasting engine pipeline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61888" y="351129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840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· Reorder recommendation &amp; timelines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61888" y="396849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297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· Maker–checker approval &amp; RBAC roles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61888" y="442569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4754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· Dual-track status machines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61888" y="488289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5212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· Advance deduction &amp; payments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61888" y="534009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5669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· Cancellation &amp; reversal semantics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61888" y="579729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6126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· The invariants that keep the ledger truthful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961888" y="6254496"/>
            <a:ext cx="109728" cy="109728"/>
          </a:xfrm>
          <a:prstGeom prst="ellipse">
            <a:avLst/>
          </a:prstGeom>
          <a:solidFill>
            <a:srgbClr val="00B8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WORKFLOWS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rule: documents never touch stock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a confirmed goods document moves inventory. This rule is repeated in the UI so users always know why an order doesn't change stock.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92808"/>
            <a:ext cx="11201400" cy="548640"/>
          </a:xfrm>
          <a:prstGeom prst="roundRect">
            <a:avLst>
              <a:gd name="adj" fmla="val 16667"/>
            </a:avLst>
          </a:prstGeom>
          <a:solidFill>
            <a:srgbClr val="0A254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92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 document never touches stock — only a CONFIRMED goods document does.”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587752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6090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SIDE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2935224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F7F9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71800"/>
            <a:ext cx="200253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 · Proforma · PI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3300070"/>
            <a:ext cx="200253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stock effect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852928" y="3300984"/>
            <a:ext cx="502920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401568" y="2935224"/>
            <a:ext cx="2450592" cy="868680"/>
          </a:xfrm>
          <a:prstGeom prst="roundRect">
            <a:avLst>
              <a:gd name="adj" fmla="val 9474"/>
            </a:avLst>
          </a:prstGeom>
          <a:solidFill>
            <a:srgbClr val="E7F8F1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971800"/>
            <a:ext cx="230428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GRN confirmed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3300070"/>
            <a:ext cx="2304288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 — accepted qty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99632" y="2587752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66090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SIDE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55080" y="2935224"/>
            <a:ext cx="2148840" cy="868680"/>
          </a:xfrm>
          <a:prstGeom prst="roundRect">
            <a:avLst>
              <a:gd name="adj" fmla="val 9474"/>
            </a:avLst>
          </a:prstGeom>
          <a:solidFill>
            <a:srgbClr val="F7F9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2971800"/>
            <a:ext cx="200253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 · SO · Invoice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28232" y="3300070"/>
            <a:ext cx="200253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stock effect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549640" y="3300984"/>
            <a:ext cx="502920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098280" y="2935224"/>
            <a:ext cx="2450592" cy="868680"/>
          </a:xfrm>
          <a:prstGeom prst="roundRect">
            <a:avLst>
              <a:gd name="adj" fmla="val 9474"/>
            </a:avLst>
          </a:prstGeom>
          <a:solidFill>
            <a:srgbClr val="FEF3E2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1432" y="2971800"/>
            <a:ext cx="230428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confirmed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71432" y="3300070"/>
            <a:ext cx="2304288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OUT — dispatched qty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105656"/>
          <a:ext cx="112014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572000"/>
                <a:gridCol w="3520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effect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Purchase Order (PO)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Supplier proforma (purchase)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Purchase Invoice (PI)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IN (accepted qty)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Confirm only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Quotation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Order (SO)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Dispatch 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OUT (dispatched qty)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Confirm only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 (customer)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IN (returned qty)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Record Return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movement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IN / OUT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Confirm only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WORKFLOWS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workflow — end to end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proforma → Purchase Order → Purchase Invoice → GRN → Stock IN. The GRN is the only purchase-side stock event.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1856781" cy="658368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984248"/>
            <a:ext cx="1710477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proforma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6072" y="2224187"/>
            <a:ext cx="1710477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 · side=purchase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989" y="2176272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835189" y="1947672"/>
            <a:ext cx="1856781" cy="658368"/>
          </a:xfrm>
          <a:prstGeom prst="roundRect">
            <a:avLst>
              <a:gd name="adj" fmla="val 12500"/>
            </a:avLst>
          </a:prstGeom>
          <a:solidFill>
            <a:srgbClr val="E6F0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8341" y="1984248"/>
            <a:ext cx="1710477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Order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08341" y="2224187"/>
            <a:ext cx="1710477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commitment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10257" y="2176272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167457" y="1947672"/>
            <a:ext cx="1856781" cy="658368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0609" y="1984248"/>
            <a:ext cx="1710477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Invoice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40609" y="2224187"/>
            <a:ext cx="1710477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payable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042526" y="2176272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9726" y="1947672"/>
            <a:ext cx="1856781" cy="658368"/>
          </a:xfrm>
          <a:prstGeom prst="roundRect">
            <a:avLst>
              <a:gd name="adj" fmla="val 12500"/>
            </a:avLst>
          </a:prstGeom>
          <a:solidFill>
            <a:srgbClr val="E7F8F1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2878" y="1984248"/>
            <a:ext cx="1710477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72878" y="2224187"/>
            <a:ext cx="1710477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receipt · stock 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374795" y="2176272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831995" y="1947672"/>
            <a:ext cx="1856781" cy="658368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 w="16510">
            <a:solidFill>
              <a:srgbClr val="0A25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05147" y="1984248"/>
            <a:ext cx="1710477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905147" y="2224187"/>
            <a:ext cx="1710477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movements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2734056"/>
            <a:ext cx="1856781" cy="3657600"/>
          </a:xfrm>
          <a:prstGeom prst="roundRect">
            <a:avLst>
              <a:gd name="adj" fmla="val 3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788920"/>
            <a:ext cx="16739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 + FUNDING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76072" y="3026664"/>
            <a:ext cx="171047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 → reviewed → converted_to_po | expired | cancelled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funding: pending_review → approved → funded | rejected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to PO gated on checker approval — enforced server-side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advancePct feeds the funding pipeline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35189" y="2734056"/>
            <a:ext cx="1856781" cy="3657600"/>
          </a:xfrm>
          <a:prstGeom prst="roundRect">
            <a:avLst>
              <a:gd name="adj" fmla="val 3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629" y="2788920"/>
            <a:ext cx="16739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COMMITMENT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08341" y="3026664"/>
            <a:ext cx="171047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→ approved → sent → partially_received → fully_received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(admin/checker) · mark sent · cancel — explicit actions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editable only while draft/approved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with receivedQty can't be reduced below received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 statuses from GRNs; manualStatus stored separately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167457" y="2734056"/>
            <a:ext cx="1856781" cy="3657600"/>
          </a:xfrm>
          <a:prstGeom prst="roundRect">
            <a:avLst>
              <a:gd name="adj" fmla="val 3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8897" y="2788920"/>
            <a:ext cx="16739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TOUCHES STOCK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40609" y="3026664"/>
            <a:ext cx="171047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an approved &amp; sent PO (goodsPurchaseOrderId mandatory)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billed qty/price editable from supplier's invoice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 checks: qty ≠ GRN · price ≠ PO (warn-only)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→ verified → approved_for_payment → partially_paid → paid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NET payable after advance deduction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99726" y="2734056"/>
            <a:ext cx="1856781" cy="3657600"/>
          </a:xfrm>
          <a:prstGeom prst="roundRect">
            <a:avLst>
              <a:gd name="adj" fmla="val 3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91166" y="2788920"/>
            <a:ext cx="16739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STOCK-IN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72878" y="3026664"/>
            <a:ext cx="171047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against a PO when goods arrive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lines: orderedQty · receivedQty · acceptedQty · rejectedQty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→ confirmed → cancelled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= atomic, race-safe, idempotent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cancelling creates stock-OUT reversals + PO revoke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831995" y="2734056"/>
            <a:ext cx="1856781" cy="3657600"/>
          </a:xfrm>
          <a:prstGeom prst="roundRect">
            <a:avLst>
              <a:gd name="adj" fmla="val 3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23435" y="2788920"/>
            <a:ext cx="16739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LEDGER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905147" y="3026664"/>
            <a:ext cx="171047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movements linked to the GRN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reason: “Goods receipt”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acceptedQty folded into PO receivedQty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PI back-filled (grnReceivedQty)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forecasts recompute async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WORKFLOWS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workflow — end to end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 → Sales Order → Dispatch → Sales Invoice → NOA / reminders / payment. Dispatch is the only sales-side stock event.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1856781" cy="658368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984248"/>
            <a:ext cx="1710477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6072" y="2224187"/>
            <a:ext cx="1710477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offer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989" y="2176272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835189" y="1947672"/>
            <a:ext cx="1856781" cy="658368"/>
          </a:xfrm>
          <a:prstGeom prst="roundRect">
            <a:avLst>
              <a:gd name="adj" fmla="val 12500"/>
            </a:avLst>
          </a:prstGeom>
          <a:solidFill>
            <a:srgbClr val="E6F0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8341" y="1984248"/>
            <a:ext cx="1710477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Order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08341" y="2224187"/>
            <a:ext cx="1710477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confirmed order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10257" y="2176272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167457" y="1947672"/>
            <a:ext cx="1856781" cy="658368"/>
          </a:xfrm>
          <a:prstGeom prst="roundRect">
            <a:avLst>
              <a:gd name="adj" fmla="val 12500"/>
            </a:avLst>
          </a:prstGeom>
          <a:solidFill>
            <a:srgbClr val="FEF3E2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0609" y="1984248"/>
            <a:ext cx="1710477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40609" y="2224187"/>
            <a:ext cx="1710477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OUT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042526" y="2176272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9726" y="1947672"/>
            <a:ext cx="1856781" cy="658368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2878" y="1984248"/>
            <a:ext cx="1710477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Invoice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72878" y="2224187"/>
            <a:ext cx="1710477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after dispatch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374795" y="2176272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831995" y="1947672"/>
            <a:ext cx="1856781" cy="658368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 w="16510">
            <a:solidFill>
              <a:srgbClr val="0A25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05147" y="1984248"/>
            <a:ext cx="1710477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NOA · Reminders · Payment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905147" y="2224187"/>
            <a:ext cx="1710477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2734056"/>
            <a:ext cx="1856781" cy="3657600"/>
          </a:xfrm>
          <a:prstGeom prst="roundRect">
            <a:avLst>
              <a:gd name="adj" fmla="val 3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788920"/>
            <a:ext cx="16739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OFFER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76072" y="3026664"/>
            <a:ext cx="171047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touches inventory or accounting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lifecycle: draft → sent → accepted | rejected | expired → converted_to_so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maker–checker price approval: pending_review → approved | rejected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debtor approval via emailed token link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→ SO only when price approved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35189" y="2734056"/>
            <a:ext cx="1856781" cy="3657600"/>
          </a:xfrm>
          <a:prstGeom prst="roundRect">
            <a:avLst>
              <a:gd name="adj" fmla="val 3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629" y="2788920"/>
            <a:ext cx="16739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CONFIRMED ORDER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08341" y="3026664"/>
            <a:ext cx="171047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→ confirmed → partially_dispatched → fully_dispatched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debtor approval (secure token email)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editable only while draft/confirmed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with dispatchedQty protected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recordDispatch guards draft/cancelled/fully-dispatched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167457" y="2734056"/>
            <a:ext cx="1856781" cy="3657600"/>
          </a:xfrm>
          <a:prstGeom prst="roundRect">
            <a:avLst>
              <a:gd name="adj" fmla="val 3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8897" y="2788920"/>
            <a:ext cx="16739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STOCK-OUT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40609" y="3026664"/>
            <a:ext cx="171047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against a confirmed SO, with live available-stock check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→ confirmed → partially_delivered → delivered → returned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= atomic, race-safe, idempotent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 stock check: warn, don't block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deliver: no stock impact · return: stock back IN + SO re-opened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99726" y="2734056"/>
            <a:ext cx="1856781" cy="3657600"/>
          </a:xfrm>
          <a:prstGeom prst="roundRect">
            <a:avLst>
              <a:gd name="adj" fmla="val 3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91166" y="2788920"/>
            <a:ext cx="16739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AFTER DISPATCH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72878" y="3026664"/>
            <a:ext cx="171047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link a confirmed SO — customer &amp; lines validated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→ pending (Issued) → approved → funded → advanced → paid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NOA email with PDF + token · reminders once/day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NET receivable after advance deduction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/ cancelled invoices frozen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831995" y="2734056"/>
            <a:ext cx="1856781" cy="3657600"/>
          </a:xfrm>
          <a:prstGeom prst="roundRect">
            <a:avLst>
              <a:gd name="adj" fmla="val 39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23435" y="2788920"/>
            <a:ext cx="16739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905147" y="3026664"/>
            <a:ext cx="1710477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NOA public page: token → accept | reject | comment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 reminders: daily cron, once per day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recordPayment accumulates amountReceived → partially_paid | paid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paidDate + lateDays recorded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250"/>
              </a:spcAft>
              <a:buSzPct val="100000"/>
              <a:buChar char="•"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can send reminders manually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WORKFLOWS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GRN &amp; dispatch confirm — the money steps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Idempotent + race-safe: a conditional status flip guarantees exactly one concurrent confirm wins.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96596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GRN CONFIRM → STOCK 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" y="2295144"/>
            <a:ext cx="523036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Aft>
                <a:spcPts val="350"/>
              </a:spcAft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Re-validate against the live PO (assertPOReceivable) — not draft/cancelled/fully received; over-receipt needs admin/checker + explicit flag</a:t>
            </a:r>
            <a:endParaRPr lang="en-US" sz="950" dirty="0"/>
          </a:p>
          <a:p>
            <a:pPr indent="0" marL="0">
              <a:lnSpc>
                <a:spcPct val="98000"/>
              </a:lnSpc>
              <a:spcAft>
                <a:spcPts val="350"/>
              </a:spcAft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Atomic flipToConfirmed — conditional update `status='draft'`; exactly one concurrent confirm wins</a:t>
            </a:r>
            <a:endParaRPr lang="en-US" sz="950" dirty="0"/>
          </a:p>
          <a:p>
            <a:pPr indent="0" marL="0">
              <a:lnSpc>
                <a:spcPct val="98000"/>
              </a:lnSpc>
              <a:spcAft>
                <a:spcPts val="350"/>
              </a:spcAft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Create confirmed stock-IN movements for acceptedQty, linked to the GRN (reason “Goods receipt”)</a:t>
            </a:r>
            <a:endParaRPr lang="en-US" sz="950" dirty="0"/>
          </a:p>
          <a:p>
            <a:pPr indent="0" marL="0">
              <a:lnSpc>
                <a:spcPct val="98000"/>
              </a:lnSpc>
              <a:spcAft>
                <a:spcPts val="350"/>
              </a:spcAft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Fold acceptedQty into PO receivedQty; recompute PO status</a:t>
            </a:r>
            <a:endParaRPr lang="en-US" sz="950" dirty="0"/>
          </a:p>
          <a:p>
            <a:pPr indent="0" marL="0">
              <a:lnSpc>
                <a:spcPct val="98000"/>
              </a:lnSpc>
              <a:spcAft>
                <a:spcPts val="350"/>
              </a:spcAft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Back-fill the linked purchase invoice (grnReceivedQty)</a:t>
            </a:r>
            <a:endParaRPr lang="en-US" sz="950" dirty="0"/>
          </a:p>
          <a:p>
            <a:pPr indent="0" marL="0">
              <a:lnSpc>
                <a:spcPct val="98000"/>
              </a:lnSpc>
              <a:spcAft>
                <a:spcPts val="350"/>
              </a:spcAft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Recompute forecasts (async)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99632" y="18745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96596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CONFIRM → STOCK OUT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7648" y="2295144"/>
            <a:ext cx="523036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Aft>
                <a:spcPts val="350"/>
              </a:spcAft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Re-validate against the live SO (assertSODispatchable) — qty vs pending</a:t>
            </a:r>
            <a:endParaRPr lang="en-US" sz="950" dirty="0"/>
          </a:p>
          <a:p>
            <a:pPr indent="0" marL="0">
              <a:lnSpc>
                <a:spcPct val="98000"/>
              </a:lnSpc>
              <a:spcAft>
                <a:spcPts val="350"/>
              </a:spcAft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Soft stock check — warn when dispatched qty exceeds live available stock (doesn't block)</a:t>
            </a:r>
            <a:endParaRPr lang="en-US" sz="950" dirty="0"/>
          </a:p>
          <a:p>
            <a:pPr indent="0" marL="0">
              <a:lnSpc>
                <a:spcPct val="98000"/>
              </a:lnSpc>
              <a:spcAft>
                <a:spcPts val="350"/>
              </a:spcAft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Atomic flip → create confirmed stock-OUT movements, linked to the dispatch (reason “Dispatch”)</a:t>
            </a:r>
            <a:endParaRPr lang="en-US" sz="950" dirty="0"/>
          </a:p>
          <a:p>
            <a:pPr indent="0" marL="0">
              <a:lnSpc>
                <a:spcPct val="98000"/>
              </a:lnSpc>
              <a:spcAft>
                <a:spcPts val="350"/>
              </a:spcAft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Fold dispatchedQty into the SO; recompute status</a:t>
            </a:r>
            <a:endParaRPr lang="en-US" sz="950" dirty="0"/>
          </a:p>
          <a:p>
            <a:pPr indent="0" marL="0">
              <a:lnSpc>
                <a:spcPct val="98000"/>
              </a:lnSpc>
              <a:spcAft>
                <a:spcPts val="350"/>
              </a:spcAft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Mark delivered: deliveryDate + derived partially_delivered/delivered — no stock impact (already debited)</a:t>
            </a:r>
            <a:endParaRPr lang="en-US" sz="950" dirty="0"/>
          </a:p>
          <a:p>
            <a:pPr indent="0" marL="0">
              <a:lnSpc>
                <a:spcPct val="98000"/>
              </a:lnSpc>
              <a:spcAft>
                <a:spcPts val="350"/>
              </a:spcAft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Record return: stock back IN (reason “Customer return”) + SO re-openable for re-dispatch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6245352"/>
            <a:ext cx="11201400" cy="658368"/>
          </a:xfrm>
          <a:prstGeom prst="roundRect">
            <a:avLst>
              <a:gd name="adj" fmla="val 13889"/>
            </a:avLst>
          </a:prstGeom>
          <a:solidFill>
            <a:srgbClr val="0A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624535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Double-clicks and duplicate requests are harmless: a failed condition returns null = “already confirmed” → credit nothing. Cancelling reverses the effect (stock-OUT reversals + PO revoke for GRN; stock-IN reversals + SO revoke for dispatch).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WORKFLOWS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— the stock ledger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Atomic, append-only movement records. Live stock is derived, never stored.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92808"/>
            <a:ext cx="11201400" cy="658368"/>
          </a:xfrm>
          <a:prstGeom prst="roundRect">
            <a:avLst>
              <a:gd name="adj" fmla="val 13889"/>
            </a:avLst>
          </a:prstGeom>
          <a:solidFill>
            <a:srgbClr val="0A254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928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liveStock = Σ confirmed(IN) − Σ confirmed(OUT)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drafts &amp; cancelled entries never count · live stock is recomputed from the ledger, never stored as a number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734056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437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MOVEMENT LIFECYCLE &amp; EDIT RULES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3136392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65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→ confirmed → cancelled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5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confirmed entries affect the balance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65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System-created (GRN / dispatch / return)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5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— UI hides edit/confirm/cancel (“manage it from the GRN, invoice or dispatch instead”)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65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drafts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5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editable · confirmable · cancellable · deletable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65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manual entries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5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editable / cancellable but not deletable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65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 ≠ reversal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5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cancelling a confirmed +100 leaves the balance at 0, not −100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45352" y="2734056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8437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MOVEMENT RECORD (ONE ROW = ONE EVENT)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3136392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65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movementNumber MOV-XXXXXXXX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5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productId · direction (in = Credit / out = Debit)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65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Snapshots from the catalogue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5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itemName · sku · unit — never typed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65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Valuation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5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· unitCost · warehouse · reason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65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Provenance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5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linkedDocumentType + Number · movementDate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65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65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createdBy · confirmedBy · cancelledBy · timestamps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6016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MOVEMENT REASONS 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14600" y="59436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21" name="Text 19"/>
          <p:cNvSpPr/>
          <p:nvPr/>
        </p:nvSpPr>
        <p:spPr>
          <a:xfrm>
            <a:off x="2514600" y="59436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Opening stock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87368" y="59436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23" name="Text 21"/>
          <p:cNvSpPr/>
          <p:nvPr/>
        </p:nvSpPr>
        <p:spPr>
          <a:xfrm>
            <a:off x="4087368" y="59436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adjustment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0136" y="59436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25" name="Text 23"/>
          <p:cNvSpPr/>
          <p:nvPr/>
        </p:nvSpPr>
        <p:spPr>
          <a:xfrm>
            <a:off x="5660136" y="59436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Damage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32904" y="59436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27" name="Text 25"/>
          <p:cNvSpPr/>
          <p:nvPr/>
        </p:nvSpPr>
        <p:spPr>
          <a:xfrm>
            <a:off x="7232904" y="59436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Samples / internal use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805672" y="59436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29" name="Text 27"/>
          <p:cNvSpPr/>
          <p:nvPr/>
        </p:nvSpPr>
        <p:spPr>
          <a:xfrm>
            <a:off x="8805672" y="59436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return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378440" y="59436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31" name="Text 29"/>
          <p:cNvSpPr/>
          <p:nvPr/>
        </p:nvSpPr>
        <p:spPr>
          <a:xfrm>
            <a:off x="10378440" y="59436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return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entries start as drafts and only affect stock once confirmed (Save-draft / Save-&amp;-confirm).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WORKFLOWS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Demand-forecasting engine — 13-step pipeline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seasonal weighted-trend model over 12 months of confirmed stock-outs, recomputed live on both server and client.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193304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956816"/>
            <a:ext cx="178673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Bucket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6072" y="2235159"/>
            <a:ext cx="1786738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movements by calendar month (12 trailing)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54250" y="2249424"/>
            <a:ext cx="347472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2820010" y="1920240"/>
            <a:ext cx="193304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93162" y="1956816"/>
            <a:ext cx="178673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Availability correction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93162" y="2235159"/>
            <a:ext cx="1786738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÷ max(availabilityRate, 0.7) · cap 1.4×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71339" y="2249424"/>
            <a:ext cx="347472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5137099" y="1920240"/>
            <a:ext cx="193304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0251" y="1956816"/>
            <a:ext cx="178673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Weighted baseline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0251" y="2235159"/>
            <a:ext cx="1786738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newest 3 mo ×3 · next 3 ×2 · oldest 6 ×1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088429" y="2249424"/>
            <a:ext cx="347472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7454189" y="1920240"/>
            <a:ext cx="193304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7341" y="1956816"/>
            <a:ext cx="178673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OLS trend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27341" y="2235159"/>
            <a:ext cx="1786738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slope + R² → up / down / stable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405518" y="2249424"/>
            <a:ext cx="347472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9771278" y="1920240"/>
            <a:ext cx="193304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44430" y="1956816"/>
            <a:ext cx="178673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Seasonality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44430" y="2235159"/>
            <a:ext cx="1786738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monthAvg ÷ overallAvg · clamp 0.5–2.0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231575" y="2706624"/>
            <a:ext cx="182880" cy="91440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2743200"/>
            <a:ext cx="193304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2779776"/>
            <a:ext cx="178673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· Forecast horizon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6072" y="3058119"/>
            <a:ext cx="1786738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6-mo: baseline × trend × season × factors · clamp 0.7–1.5× · 80% prediction intervals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454250" y="3072384"/>
            <a:ext cx="347472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4" name="Shape 32"/>
          <p:cNvSpPr/>
          <p:nvPr/>
        </p:nvSpPr>
        <p:spPr>
          <a:xfrm>
            <a:off x="2820010" y="2743200"/>
            <a:ext cx="193304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93162" y="2779776"/>
            <a:ext cx="178673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· Live pace adjustment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893162" y="3058119"/>
            <a:ext cx="1786738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vs expected-to-date · clamp 0.8–1.2 · next month only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71339" y="3072384"/>
            <a:ext cx="347472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8" name="Shape 36"/>
          <p:cNvSpPr/>
          <p:nvPr/>
        </p:nvSpPr>
        <p:spPr>
          <a:xfrm>
            <a:off x="5137099" y="2743200"/>
            <a:ext cx="193304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0251" y="2779776"/>
            <a:ext cx="178673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· Days of cover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10251" y="3058119"/>
            <a:ext cx="1786738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÷ (last-3-mo demand ÷ their calendar days)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088429" y="3072384"/>
            <a:ext cx="347472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2" name="Shape 40"/>
          <p:cNvSpPr/>
          <p:nvPr/>
        </p:nvSpPr>
        <p:spPr>
          <a:xfrm>
            <a:off x="7454189" y="2743200"/>
            <a:ext cx="193304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27341" y="2779776"/>
            <a:ext cx="178673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· Reorder recommendation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527341" y="3058119"/>
            <a:ext cx="1786738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lead-time + safety-stock math (next slide)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405518" y="3072384"/>
            <a:ext cx="347472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6" name="Shape 44"/>
          <p:cNvSpPr/>
          <p:nvPr/>
        </p:nvSpPr>
        <p:spPr>
          <a:xfrm>
            <a:off x="9771278" y="2743200"/>
            <a:ext cx="193304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44430" y="2779776"/>
            <a:ext cx="1786738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Timeline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844430" y="3058119"/>
            <a:ext cx="1786738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stockout date · reorder-by · next refill · urgency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1231575" y="3529584"/>
            <a:ext cx="182880" cy="91440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50" name="Shape 48"/>
          <p:cNvSpPr/>
          <p:nvPr/>
        </p:nvSpPr>
        <p:spPr>
          <a:xfrm>
            <a:off x="502920" y="3566160"/>
            <a:ext cx="2189074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" y="3602736"/>
            <a:ext cx="204277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Momentum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76072" y="3881079"/>
            <a:ext cx="204277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accelerating | stable | declining | inactive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454250" y="3895344"/>
            <a:ext cx="347472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54" name="Shape 52"/>
          <p:cNvSpPr/>
          <p:nvPr/>
        </p:nvSpPr>
        <p:spPr>
          <a:xfrm>
            <a:off x="2820010" y="3566160"/>
            <a:ext cx="2189074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93162" y="3602736"/>
            <a:ext cx="204277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Velocity (category-relative)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893162" y="3881079"/>
            <a:ext cx="204277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 | fast_mover | medium_mover | slow_mover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771339" y="3895344"/>
            <a:ext cx="347472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58" name="Shape 56"/>
          <p:cNvSpPr/>
          <p:nvPr/>
        </p:nvSpPr>
        <p:spPr>
          <a:xfrm>
            <a:off x="5137099" y="3566160"/>
            <a:ext cx="2189074" cy="749808"/>
          </a:xfrm>
          <a:prstGeom prst="roundRect">
            <a:avLst>
              <a:gd name="adj" fmla="val 10976"/>
            </a:avLst>
          </a:prstGeom>
          <a:solidFill>
            <a:srgbClr val="0A2540"/>
          </a:solidFill>
          <a:ln w="16510">
            <a:solidFill>
              <a:srgbClr val="0A25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10251" y="3602736"/>
            <a:ext cx="2042770" cy="329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· Pricing strategy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210251" y="3881079"/>
            <a:ext cx="204277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 only — clearance / markdown / hold / protect margin · floor = unitCost ÷ (1 − minMargin)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02920" y="4480560"/>
            <a:ext cx="11201400" cy="868680"/>
          </a:xfrm>
          <a:prstGeom prst="roundRect">
            <a:avLst>
              <a:gd name="adj" fmla="val 10526"/>
            </a:avLst>
          </a:prstGeom>
          <a:solidFill>
            <a:srgbClr val="E6F0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" y="4526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engine — the same file runs on server and client (KEEP IN SYNC): the server persists authoritative snapshots, the client runs identical math for instant display.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31520" y="483717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Recompute triggers: any stock-affecting event (movement create/update/confirm/cancel/delete · GRN confirm · dispatch confirm/return · product delete) + daily freshness check + server startup. Snapshot per SKU (ForecastVariable) with last-writer-wins de-dup; non-finite numbers persisted as null so one quiet SKU can't crash the batch.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WORKFLOWS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Reorder recommendation &amp; timelines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Lead-time demand + safety stock, minus inventory position — rounded to MOQ and order multiples.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5852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842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MATH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2331720"/>
            <a:ext cx="1874520" cy="530352"/>
          </a:xfrm>
          <a:prstGeom prst="roundRect">
            <a:avLst>
              <a:gd name="adj" fmla="val 13793"/>
            </a:avLst>
          </a:prstGeom>
          <a:solidFill>
            <a:srgbClr val="E6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33172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dailyAvg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35000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corrected demand (last 3 calendar months) ÷ their actual calendar days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2953512"/>
            <a:ext cx="1874520" cy="530352"/>
          </a:xfrm>
          <a:prstGeom prst="roundRect">
            <a:avLst>
              <a:gd name="adj" fmla="val 13793"/>
            </a:avLst>
          </a:prstGeom>
          <a:solidFill>
            <a:srgbClr val="E6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95351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requiredStock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97180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dailyAvg × (leadTimeDays + safetyStockDays)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3575304"/>
            <a:ext cx="1874520" cy="530352"/>
          </a:xfrm>
          <a:prstGeom prst="roundRect">
            <a:avLst>
              <a:gd name="adj" fmla="val 13793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57530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359359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max(0, requiredStock − inventoryPosition) → cap by maxCoverDays → raise to minimumOrderQty → round up to orderMultiple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4197096"/>
            <a:ext cx="1874520" cy="530352"/>
          </a:xfrm>
          <a:prstGeom prst="roundRect">
            <a:avLst>
              <a:gd name="adj" fmla="val 13793"/>
            </a:avLst>
          </a:prstGeom>
          <a:solidFill>
            <a:srgbClr val="E6F0F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19709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floor price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421538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unitCost ÷ (1 − minimumGrossMargin)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29400" y="187452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19842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PER-SKU TIMELINE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3410712"/>
            <a:ext cx="4526280" cy="411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6839712" y="3337560"/>
            <a:ext cx="164592" cy="164592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35935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26480" y="3831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074152" y="3337560"/>
            <a:ext cx="164592" cy="164592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60920" y="35935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nextRefillDate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60920" y="3831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+ lead time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308592" y="3337560"/>
            <a:ext cx="164592" cy="164592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0" y="35935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reorderByDate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595360" y="3831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stockout − lead time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543032" y="333756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9829800" y="35935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stockoutDate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829800" y="38313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+ days of cover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784848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“Reorder window”: between reorderByDate and stockoutDate — order before you run out.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5074920"/>
            <a:ext cx="5852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184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 TAGS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" y="5532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Velocity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03120" y="55321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44" name="Text 42"/>
          <p:cNvSpPr/>
          <p:nvPr/>
        </p:nvSpPr>
        <p:spPr>
          <a:xfrm>
            <a:off x="2103120" y="5532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108960" y="55321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46" name="Text 44"/>
          <p:cNvSpPr/>
          <p:nvPr/>
        </p:nvSpPr>
        <p:spPr>
          <a:xfrm>
            <a:off x="3108960" y="5532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0" y="55321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48" name="Text 46"/>
          <p:cNvSpPr/>
          <p:nvPr/>
        </p:nvSpPr>
        <p:spPr>
          <a:xfrm>
            <a:off x="4114800" y="5532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120640" y="55321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/>
        </p:spPr>
      </p:sp>
      <p:sp>
        <p:nvSpPr>
          <p:cNvPr id="50" name="Text 48"/>
          <p:cNvSpPr/>
          <p:nvPr/>
        </p:nvSpPr>
        <p:spPr>
          <a:xfrm>
            <a:off x="5120640" y="5532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8368" y="5532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Momentum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03120" y="55321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53" name="Text 51"/>
          <p:cNvSpPr/>
          <p:nvPr/>
        </p:nvSpPr>
        <p:spPr>
          <a:xfrm>
            <a:off x="2103120" y="5532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accelerating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108960" y="55321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55" name="Text 53"/>
          <p:cNvSpPr/>
          <p:nvPr/>
        </p:nvSpPr>
        <p:spPr>
          <a:xfrm>
            <a:off x="3108960" y="5532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114800" y="55321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57" name="Text 55"/>
          <p:cNvSpPr/>
          <p:nvPr/>
        </p:nvSpPr>
        <p:spPr>
          <a:xfrm>
            <a:off x="4114800" y="5532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declining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120640" y="55321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/>
        </p:spPr>
      </p:sp>
      <p:sp>
        <p:nvSpPr>
          <p:cNvPr id="59" name="Text 57"/>
          <p:cNvSpPr/>
          <p:nvPr/>
        </p:nvSpPr>
        <p:spPr>
          <a:xfrm>
            <a:off x="5120640" y="5532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inactive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58368" y="5989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Velocity is ranked within each category (top 20% = fast, next 30% = medium, rest = slow, 3-mo no sales = dead).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58368" y="6492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flags: stockout risk · overstock risk · urgency critical / warning / safe.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629400" y="507492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84848" y="51846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STRATEGY (RECOMMENDATION ONLY)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784848" y="5495544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table over velocity × momentum × stock position</a:t>
            </a:r>
            <a:endParaRPr lang="en-US" sz="9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dead + high stock → −25% clearance · fast + accelerating + low → +5% protect margin</a:t>
            </a:r>
            <a:endParaRPr lang="en-US" sz="95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auto-applied — surfaced as advice with a minimum floor price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WORKFLOWS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Maker–checker approval &amp; RBAC roles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Separation of duties — makers submit, checkers approve, treasury funds. Gates are enforced server-side.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92808"/>
            <a:ext cx="3411626" cy="685800"/>
          </a:xfrm>
          <a:prstGeom prst="roundRect">
            <a:avLst>
              <a:gd name="adj" fmla="val 12000"/>
            </a:avLst>
          </a:prstGeom>
          <a:solidFill>
            <a:srgbClr val="E6F0FF"/>
          </a:solidFill>
          <a:ln w="1651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929384"/>
            <a:ext cx="326532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MAKER (client)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" y="2180844"/>
            <a:ext cx="326532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· submits · records drafts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32834" y="2135124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390034" y="1892808"/>
            <a:ext cx="3411626" cy="685800"/>
          </a:xfrm>
          <a:prstGeom prst="roundRect">
            <a:avLst>
              <a:gd name="adj" fmla="val 12000"/>
            </a:avLst>
          </a:prstGeom>
          <a:solidFill>
            <a:srgbClr val="FEF3E2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3186" y="1929384"/>
            <a:ext cx="326532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63186" y="2180844"/>
            <a:ext cx="326532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approves / rejects with comments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819949" y="2135124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7149" y="1892808"/>
            <a:ext cx="3411626" cy="685800"/>
          </a:xfrm>
          <a:prstGeom prst="roundRect">
            <a:avLst>
              <a:gd name="adj" fmla="val 12000"/>
            </a:avLst>
          </a:prstGeom>
          <a:solidFill>
            <a:srgbClr val="E7F8F1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0301" y="1929384"/>
            <a:ext cx="326532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TREASURY / ADMIN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50301" y="2180844"/>
            <a:ext cx="326532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funds · records payments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88920"/>
          <a:ext cx="11201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239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Write access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(maker)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Create/edit drafts · submit for review · mark PO sent · record receipt/dispatch drafts · convert after approval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Approve/reject: quotation prices · proforma funding · POs · invoices (approve/reject/dispute) · allow over-receipt / over-dispatch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Treasury / Admin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Record payments on sales + purchase invoices · fund proformas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rep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Read-only on POs / SOs / dispatches — can write quotations only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Everything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02920" y="516636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GATES (enforced in models, not just UI)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" y="5458968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502920" y="54589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 → SO: needs price approved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374136" y="5458968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3374136" y="54589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Proforma → PO/SO: needs funding approved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245352" y="5458968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6245352" y="54589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issue: needs a confirmed SO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9116568" y="5458968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9116568" y="54589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invoice: needs approved &amp; sent PO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02920" y="5934456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2" name="Text 29"/>
          <p:cNvSpPr/>
          <p:nvPr/>
        </p:nvSpPr>
        <p:spPr>
          <a:xfrm>
            <a:off x="502920" y="59344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GRN confirm: sent / partially-received PO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374136" y="5934456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4" name="Text 31"/>
          <p:cNvSpPr/>
          <p:nvPr/>
        </p:nvSpPr>
        <p:spPr>
          <a:xfrm>
            <a:off x="3374136" y="59344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confirm: confirmed / partially-dispatched SO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245352" y="5934456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6245352" y="59344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Over-quantity: admin/checker + explicit flag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WORKFLOWS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Dual-track status machines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statuses (user actions) run alongside derived statuses (recomputed from movements). Quotations and proformas carry two approval tracks at once.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Order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1920240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920240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46805" y="2020824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3825697" y="1920240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825697" y="1920240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77942" y="2020824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5456834" y="1920240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56834" y="1920240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09080" y="2020824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7972" y="1920240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7087972" y="1920240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partially_received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40217" y="2020824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8719109" y="1920240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24" name="Text 22"/>
          <p:cNvSpPr/>
          <p:nvPr/>
        </p:nvSpPr>
        <p:spPr>
          <a:xfrm>
            <a:off x="8719109" y="1920240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fully_received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071354" y="2020824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50246" y="1920240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/>
        </p:spPr>
      </p:sp>
      <p:sp>
        <p:nvSpPr>
          <p:cNvPr id="27" name="Text 25"/>
          <p:cNvSpPr/>
          <p:nvPr/>
        </p:nvSpPr>
        <p:spPr>
          <a:xfrm>
            <a:off x="10350246" y="1920240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25054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Invoice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94560" y="2487168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194560" y="2487168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546805" y="2587752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2" name="Shape 30"/>
          <p:cNvSpPr/>
          <p:nvPr/>
        </p:nvSpPr>
        <p:spPr>
          <a:xfrm>
            <a:off x="3825697" y="2487168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825697" y="2487168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77942" y="2587752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5" name="Shape 33"/>
          <p:cNvSpPr/>
          <p:nvPr/>
        </p:nvSpPr>
        <p:spPr>
          <a:xfrm>
            <a:off x="5456834" y="2487168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56834" y="2487168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approved_for_payment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09080" y="2587752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8" name="Shape 36"/>
          <p:cNvSpPr/>
          <p:nvPr/>
        </p:nvSpPr>
        <p:spPr>
          <a:xfrm>
            <a:off x="7087972" y="2487168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39" name="Text 37"/>
          <p:cNvSpPr/>
          <p:nvPr/>
        </p:nvSpPr>
        <p:spPr>
          <a:xfrm>
            <a:off x="7087972" y="2487168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partially_paid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440217" y="2587752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1" name="Shape 39"/>
          <p:cNvSpPr/>
          <p:nvPr/>
        </p:nvSpPr>
        <p:spPr>
          <a:xfrm>
            <a:off x="8719109" y="2487168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42" name="Text 40"/>
          <p:cNvSpPr/>
          <p:nvPr/>
        </p:nvSpPr>
        <p:spPr>
          <a:xfrm>
            <a:off x="8719109" y="2487168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071354" y="2587752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44" name="Shape 42"/>
          <p:cNvSpPr/>
          <p:nvPr/>
        </p:nvSpPr>
        <p:spPr>
          <a:xfrm>
            <a:off x="10350246" y="2487168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/>
        </p:spPr>
      </p:sp>
      <p:sp>
        <p:nvSpPr>
          <p:cNvPr id="45" name="Text 43"/>
          <p:cNvSpPr/>
          <p:nvPr/>
        </p:nvSpPr>
        <p:spPr>
          <a:xfrm>
            <a:off x="10350246" y="2487168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2920" y="30723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Invoice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94560" y="3054096"/>
            <a:ext cx="110551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194560" y="3054096"/>
            <a:ext cx="1105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313786" y="3154680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50" name="Shape 48"/>
          <p:cNvSpPr/>
          <p:nvPr/>
        </p:nvSpPr>
        <p:spPr>
          <a:xfrm>
            <a:off x="3592678" y="3054096"/>
            <a:ext cx="110551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592678" y="3054096"/>
            <a:ext cx="1105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(issued)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11903" y="3154680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53" name="Shape 51"/>
          <p:cNvSpPr/>
          <p:nvPr/>
        </p:nvSpPr>
        <p:spPr>
          <a:xfrm>
            <a:off x="4990795" y="3054096"/>
            <a:ext cx="110551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990795" y="3054096"/>
            <a:ext cx="1105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10021" y="3154680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56" name="Shape 54"/>
          <p:cNvSpPr/>
          <p:nvPr/>
        </p:nvSpPr>
        <p:spPr>
          <a:xfrm>
            <a:off x="6388913" y="3054096"/>
            <a:ext cx="110551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6388913" y="3054096"/>
            <a:ext cx="1105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508138" y="3154680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59" name="Shape 57"/>
          <p:cNvSpPr/>
          <p:nvPr/>
        </p:nvSpPr>
        <p:spPr>
          <a:xfrm>
            <a:off x="7787030" y="3054096"/>
            <a:ext cx="110551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7787030" y="3054096"/>
            <a:ext cx="1105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906256" y="3154680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62" name="Shape 60"/>
          <p:cNvSpPr/>
          <p:nvPr/>
        </p:nvSpPr>
        <p:spPr>
          <a:xfrm>
            <a:off x="9185148" y="3054096"/>
            <a:ext cx="1105510" cy="365760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63" name="Text 61"/>
          <p:cNvSpPr/>
          <p:nvPr/>
        </p:nvSpPr>
        <p:spPr>
          <a:xfrm>
            <a:off x="9185148" y="3054096"/>
            <a:ext cx="1105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| partially_paid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0304374" y="3154680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65" name="Shape 63"/>
          <p:cNvSpPr/>
          <p:nvPr/>
        </p:nvSpPr>
        <p:spPr>
          <a:xfrm>
            <a:off x="10583266" y="3054096"/>
            <a:ext cx="1105510" cy="36576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/>
        </p:spPr>
      </p:sp>
      <p:sp>
        <p:nvSpPr>
          <p:cNvPr id="66" name="Text 64"/>
          <p:cNvSpPr/>
          <p:nvPr/>
        </p:nvSpPr>
        <p:spPr>
          <a:xfrm>
            <a:off x="10583266" y="3054096"/>
            <a:ext cx="11055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cancelled | rejected | disputed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02920" y="36393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194560" y="3621024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2194560" y="36210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671316" y="3721608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71" name="Shape 69"/>
          <p:cNvSpPr/>
          <p:nvPr/>
        </p:nvSpPr>
        <p:spPr>
          <a:xfrm>
            <a:off x="3950208" y="3621024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72" name="Text 70"/>
          <p:cNvSpPr/>
          <p:nvPr/>
        </p:nvSpPr>
        <p:spPr>
          <a:xfrm>
            <a:off x="3950208" y="36210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426964" y="3721608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74" name="Shape 72"/>
          <p:cNvSpPr/>
          <p:nvPr/>
        </p:nvSpPr>
        <p:spPr>
          <a:xfrm>
            <a:off x="5705856" y="3621024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/>
        </p:spPr>
      </p:sp>
      <p:sp>
        <p:nvSpPr>
          <p:cNvPr id="75" name="Text 73"/>
          <p:cNvSpPr/>
          <p:nvPr/>
        </p:nvSpPr>
        <p:spPr>
          <a:xfrm>
            <a:off x="5705856" y="36210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cancelled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02920" y="4206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194560" y="4187952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2194560" y="4187952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546805" y="4288536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80" name="Shape 78"/>
          <p:cNvSpPr/>
          <p:nvPr/>
        </p:nvSpPr>
        <p:spPr>
          <a:xfrm>
            <a:off x="3825697" y="4187952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3825697" y="4187952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177942" y="4288536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83" name="Shape 81"/>
          <p:cNvSpPr/>
          <p:nvPr/>
        </p:nvSpPr>
        <p:spPr>
          <a:xfrm>
            <a:off x="5456834" y="4187952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E6F0FF"/>
          </a:solidFill>
          <a:ln/>
        </p:spPr>
      </p:sp>
      <p:sp>
        <p:nvSpPr>
          <p:cNvPr id="84" name="Text 82"/>
          <p:cNvSpPr/>
          <p:nvPr/>
        </p:nvSpPr>
        <p:spPr>
          <a:xfrm>
            <a:off x="5456834" y="4187952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partially_delivered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809080" y="4288536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86" name="Shape 84"/>
          <p:cNvSpPr/>
          <p:nvPr/>
        </p:nvSpPr>
        <p:spPr>
          <a:xfrm>
            <a:off x="7087972" y="4187952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87" name="Text 85"/>
          <p:cNvSpPr/>
          <p:nvPr/>
        </p:nvSpPr>
        <p:spPr>
          <a:xfrm>
            <a:off x="7087972" y="4187952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440217" y="4288536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89" name="Shape 87"/>
          <p:cNvSpPr/>
          <p:nvPr/>
        </p:nvSpPr>
        <p:spPr>
          <a:xfrm>
            <a:off x="8719109" y="4187952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90" name="Text 88"/>
          <p:cNvSpPr/>
          <p:nvPr/>
        </p:nvSpPr>
        <p:spPr>
          <a:xfrm>
            <a:off x="8719109" y="4187952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returned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0071354" y="4288536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92" name="Shape 90"/>
          <p:cNvSpPr/>
          <p:nvPr/>
        </p:nvSpPr>
        <p:spPr>
          <a:xfrm>
            <a:off x="10350246" y="4187952"/>
            <a:ext cx="1338529" cy="36576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/>
        </p:spPr>
      </p:sp>
      <p:sp>
        <p:nvSpPr>
          <p:cNvPr id="93" name="Text 91"/>
          <p:cNvSpPr/>
          <p:nvPr/>
        </p:nvSpPr>
        <p:spPr>
          <a:xfrm>
            <a:off x="10350246" y="4187952"/>
            <a:ext cx="1338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cancelled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02920" y="47731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194560" y="47548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219456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71316" y="4855464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98" name="Shape 96"/>
          <p:cNvSpPr/>
          <p:nvPr/>
        </p:nvSpPr>
        <p:spPr>
          <a:xfrm>
            <a:off x="3950208" y="47548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9" name="Text 97"/>
          <p:cNvSpPr/>
          <p:nvPr/>
        </p:nvSpPr>
        <p:spPr>
          <a:xfrm>
            <a:off x="3950208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5426964" y="4855464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01" name="Shape 99"/>
          <p:cNvSpPr/>
          <p:nvPr/>
        </p:nvSpPr>
        <p:spPr>
          <a:xfrm>
            <a:off x="5705856" y="47548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5705856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 | rejected | expired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7182612" y="4855464"/>
            <a:ext cx="265176" cy="164592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7461504" y="47548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7F8F1"/>
          </a:solidFill>
          <a:ln/>
        </p:spPr>
      </p:sp>
      <p:sp>
        <p:nvSpPr>
          <p:cNvPr id="105" name="Text 103"/>
          <p:cNvSpPr/>
          <p:nvPr/>
        </p:nvSpPr>
        <p:spPr>
          <a:xfrm>
            <a:off x="7461504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converted_to_so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502920" y="5431536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E6F0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31520" y="55229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 vs manual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731520" y="58155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partially/fully_received, partially/fully_dispatched and delivered are DERIVED from GRNs / dispatches / delivery events — never set by hand. The manual status is stored separately (manualStatus) so revoking all receipts falls back cleanly.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731520" y="607161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 also carries: price approval (pending_review → approved | rejected) and optional debtor approval (pending → approved | rejected). Proforma carries funding (pending_review → approved → funded | rejected).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WORKFLOWS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deduction &amp; payment lifecycle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sales and purchase invoices net off advances — computed server-side, never trusted from the client.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842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SIDE — CUSTOMER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295144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customer proforma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formal id or matching PO number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Deduction = max(advances received, advancePct × proformaTotal)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netReceivable = grandTotal − advanceDeducted (never negative)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amount = net receivable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customer owes · what funding reads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99632" y="187452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9842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6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SIDE — SUPPLIER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2295144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 supplier proforma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formal id or matching PO/proforma number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rule: max(advances paid, advancePct × proformaTotal)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netPayable = grandTotal − advanceDeducted (never negative)</a:t>
            </a:r>
            <a:endParaRPr lang="en-US" sz="800" dirty="0"/>
          </a:p>
          <a:p>
            <a:pPr marL="114300" indent="-1143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amount = net payable</a:t>
            </a:r>
            <a:endParaRPr lang="en-US" sz="800" dirty="0"/>
          </a:p>
          <a:p>
            <a:pPr marL="279400" indent="-279400">
              <a:lnSpc>
                <a:spcPct val="104000"/>
              </a:lnSpc>
              <a:spcAft>
                <a:spcPts val="700"/>
              </a:spcAft>
              <a:buSzPct val="100000"/>
              <a:buChar char="–"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funding pipeline reads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4654296"/>
            <a:ext cx="11201400" cy="566928"/>
          </a:xfrm>
          <a:prstGeom prst="roundRect">
            <a:avLst>
              <a:gd name="adj" fmla="val 16129"/>
            </a:avLst>
          </a:prstGeom>
          <a:solidFill>
            <a:srgbClr val="0A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6542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Computed server-side from recorded advance records — never trusted from the client payload. UI shows “Less advance”, advance history by PO number, and live balance.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40410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&amp; NOA LIFECYCLE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5715000"/>
            <a:ext cx="1856781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5751576"/>
            <a:ext cx="1710477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recordPayment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6072" y="6014557"/>
            <a:ext cx="1710477" cy="3851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accumulates amountReceived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77989" y="5971032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835189" y="5715000"/>
            <a:ext cx="1856781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8341" y="5751576"/>
            <a:ext cx="1710477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partially_paid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08341" y="6014557"/>
            <a:ext cx="1710477" cy="3851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10257" y="5971032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167457" y="5715000"/>
            <a:ext cx="1856781" cy="713232"/>
          </a:xfrm>
          <a:prstGeom prst="roundRect">
            <a:avLst>
              <a:gd name="adj" fmla="val 11538"/>
            </a:avLst>
          </a:prstGeom>
          <a:solidFill>
            <a:srgbClr val="E7F8F1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40609" y="5751576"/>
            <a:ext cx="1710477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40609" y="6014557"/>
            <a:ext cx="1710477" cy="3851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paidDate · lateDays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042526" y="5971032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499726" y="5715000"/>
            <a:ext cx="1856781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2878" y="5751576"/>
            <a:ext cx="1710477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reversal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72878" y="6014557"/>
            <a:ext cx="1710477" cy="3851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 to approved_for_payment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374795" y="5971032"/>
            <a:ext cx="438912" cy="201168"/>
          </a:xfrm>
          <a:prstGeom prst="rightArrow">
            <a:avLst/>
          </a:prstGeom>
          <a:solidFill>
            <a:srgbClr val="0066FF"/>
          </a:solidFill>
          <a:ln/>
        </p:spPr>
      </p:sp>
      <p:sp>
        <p:nvSpPr>
          <p:cNvPr id="35" name="Shape 33"/>
          <p:cNvSpPr/>
          <p:nvPr/>
        </p:nvSpPr>
        <p:spPr>
          <a:xfrm>
            <a:off x="9831995" y="5715000"/>
            <a:ext cx="1856781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05147" y="5751576"/>
            <a:ext cx="1710477" cy="313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905147" y="6014557"/>
            <a:ext cx="1710477" cy="3851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not_sent → sent → accepted | rejected | commented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" y="65379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NOA email carries the invoice PDF + secure token; status only marks sent after a successful send. Paid / cancelled invoices are frozen for content edits.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E6F7FE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— Architecture &amp; Workflow Diagrams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728655" y="64739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WORKFLOWS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7665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Cancellation &amp; reversal semantics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298448"/>
            <a:ext cx="1737360" cy="45720"/>
          </a:xfrm>
          <a:prstGeom prst="rect">
            <a:avLst/>
          </a:prstGeom>
          <a:solidFill>
            <a:srgbClr val="00B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cancellation reverses exactly its own effect — or drops out of the balance entirely.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201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095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happened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gets reversed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GRN cancelled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Stock-OUT reversal movements · PO receivedQty revoked · linked purchase invoice detached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Dispatch cancelled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Stock-IN reversal movements · SO dispatchedQty revoked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 recorded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credited back IN · SO re-openable for re-dispatch · dispatch closes as returned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movement cancelled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reversal entry — the movement drops out of the balance (cancelled +100 leaves 0, not −100)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 fully reversed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Invoice returns to approved_for_payment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Email fails mid-workflow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 is NOT rolled back — warning shown, send can be retried (no duplicate emails from double-clicks)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66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Double-click / duplicate request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Atomic conditional update — exactly one wins; the second is a no-op (null = already confirmed)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NaN" marR="NaN" marT="NaN" marB="NaN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5303520"/>
            <a:ext cx="11201400" cy="777240"/>
          </a:xfrm>
          <a:prstGeom prst="roundRect">
            <a:avLst>
              <a:gd name="adj" fmla="val 11765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3035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B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matters: the ledger stays truthful. A cancelled +100 credit means the balance returns to where it was before — never to −100 — and every reversal is itself an auditable movement. Legacy “received” GRNs are treated as already-credited (confirmed).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291840" cy="3291840"/>
          </a:xfrm>
          <a:prstGeom prst="ellipse">
            <a:avLst/>
          </a:prstGeom>
          <a:solidFill>
            <a:srgbClr val="1632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11535" y="457200"/>
            <a:ext cx="1005840" cy="100584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Adventra · v2.4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B · RECAP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822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rules that keep the ledger truthful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1746504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0992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61288" y="16916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are snapshots, not live links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61288" y="19659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items copy SKU/name/unit/price — later catalogue edits never alter old documents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2496312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597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1288" y="24414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Dual-track statuses where two approvals exist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61288" y="2715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quotation: lifecycle + price approval + debtor approval · proforma: lifecycle + funding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3246120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095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31912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 statuses are recomputed, never set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1288" y="34655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partially/fully received &amp; dispatched, delivered — manualStatus kept for clean fallback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7240" y="3995928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95935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61288" y="394106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 via atomic conditional updates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" y="421538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status='draft' guard — double-clicks can't double-credit or double-debit stock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7240" y="4745736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7091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61288" y="46908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Cancellation reverses exactly its own effect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61288" y="49651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GRN → stock-out + PO revoke · dispatch → stock-in + SO revoke · return → stock-in + reopen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7240" y="5495544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45896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" y="54406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Idempotent emails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61288" y="57150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“sent” marks status AND emails; email failure never rolls back the status; retry allowed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17920" y="1746504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70992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01968" y="16916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deduction is server-side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01968" y="19659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max(paid, agreedPct) from recorded advances — never trusted from the client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0" y="2496312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24597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01968" y="24414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detection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601968" y="2715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purchase-invoice numbers unique per supplier (cancelled excluded)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3246120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32095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01968" y="31912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&amp; numbers discipline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601968" y="34655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2dp money · 3dp quantities · GST 0–100 (0/5/12/18/28 presets) · discount 0–100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217920" y="3995928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0" y="395935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01968" y="394106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audit trail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601968" y="421538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workflow action written fire-and-forget with actor, action, target, detail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17920" y="4745736"/>
            <a:ext cx="274320" cy="27432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0" y="47091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01968" y="46908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 recompute is async &amp; failure-isolated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601968" y="49651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every stock-affecting event + daily check + startup — one bad SKU can't crash the batch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77240" y="6144768"/>
            <a:ext cx="10607040" cy="502920"/>
          </a:xfrm>
          <a:prstGeom prst="roundRect">
            <a:avLst>
              <a:gd name="adj" fmla="val 18182"/>
            </a:avLst>
          </a:prstGeom>
          <a:solidFill>
            <a:srgbClr val="1233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0120" y="61447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C6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+ workflows — extracted from the working Adventra implementation. Every diagram maps 1:1 to code in backend/src and frontend/src.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Adventra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Adventra — Architecture &amp; Workflow Diagrams</dc:title>
  <dc:subject>System architecture and goods/inventory workflow diagrams</dc:subject>
  <dc:creator>Adventra</dc:creator>
  <cp:lastModifiedBy>Adventra</cp:lastModifiedBy>
  <cp:revision>1</cp:revision>
  <dcterms:created xsi:type="dcterms:W3CDTF">2026-08-17T05:04:40Z</dcterms:created>
  <dcterms:modified xsi:type="dcterms:W3CDTF">2026-08-17T05:04:40Z</dcterms:modified>
</cp:coreProperties>
</file>